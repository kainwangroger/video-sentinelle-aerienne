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e900496-d984-e810-8c7b-d6fa84e6721d}">
          <p14:sldIdLst>
            <p14:sldId id="256"/>
          </p14:sldIdLst>
        </p14:section>
        <p14:section name="Besoin et conception" id="{d5b4137c-b1e9-2264-c6c0-6feef07eac61}">
          <p14:sldIdLst>
            <p14:sldId id="257"/>
            <p14:sldId id="258"/>
          </p14:sldIdLst>
        </p14:section>
        <p14:section name="Technologies" id="{d781da35-abe8-96d8-5123-52315890140b}">
          <p14:sldIdLst>
            <p14:sldId id="259"/>
            <p14:sldId id="260"/>
            <p14:sldId id="261"/>
          </p14:sldIdLst>
        </p14:section>
        <p14:section name="Valeur ajoutée" id="{dc714575-4629-7b1e-7871-222f1530d257}">
          <p14:sldIdLst>
            <p14:sldId id="262"/>
            <p14:sldId id="263"/>
          </p14:sldIdLst>
        </p14:section>
        <p14:section name="Conclusion" id="{8c6f9f98-54f7-ba6a-bfc7-95dc12488c2d}">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Israel AWADE (environ 60 s)
Bonjour Mesdames et Messieurs les membres du jury. Je m'appelle AWADE Constantin Israel, je suis le chef de l'équipe SkyVision Togo et je m'occupe de la mécanique, de l'électronique et de la conception 3D.
Notre projet s'appelle Sentinelle Aérienne. C'est un drone qui décolle à la verticale, vole ensuite comme un avion, et analyse lui-même les images de sa caméra pour repérer ce qui ne va pas, en particulier sur une piste d'aéroport.
Nous sommes cinq. Angelo s'occupe du logiciel embarqué et de la station sol, Cédric du back-end, du programme de vol et de la documentation, Makafui des réseaux, de la télémétrie et de la sécurité, et Roger de l'intelligence artificielle.
Chacun va vous présenter sa partie. Cédric commence par le besoin.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Cédric KODJOVI (environ 60 s)
Merci Israel. Bonjour, je m'appelle KODJOVI Eli Cédric Ankou, je m'occupe du back-end, du programme de vol et de la documentation.
Sur une piste, un petit objet peut avoir de grosses conséquences : un boulon ou un morceau de pneu peut être aspiré par un réacteur ou faire éclater un pneu au décollage. On parle de FOD, pour Foreign Object Debris. Il faut aussi surveiller les abords, les clôtures, et repérer les personnes ou les véhicules qui n'ont rien à faire là.
Aujourd'hui, ce contrôle se fait surtout à la main : une équipe parcourt la piste en véhicule. Ça prend du temps, la piste est bloquée pendant ce temps, et le résultat dépend de l'attention des agents, surtout la nuit.
C'est de là qu'est parti notre projet : inspecter depuis les airs, plus vite, et signaler immédiatement ce qui est anormal. Israel va vous présenter le drone.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Israel AWADE (environ 65 s)
Merci Cédric. Voici notre drone, tel que nous l'avons conçu sous SolidWorks.
C'est un VTOL à rotors basculants. Les deux moteurs avant sont montés en nacelle sur l'aile, avec un servomoteur qui les fait pivoter. Au décollage, ils sont tournés vers le haut et, avec le moteur arrière, ils soulèvent le drone comme un tricoptère.
Une fois en l'air, les deux moteurs avant basculent progressivement vers l'avant. Le drone prend de la vitesse, l'aile commence à porter, et le moteur arrière s'arrête. En croisière, ce sont les deux moteurs avant qui tirent l'appareil, et l'aile qui le porte. C'est ce qui nous permet de viser 30 à 45 minutes de vol.
Nous avons choisi un empennage en V : deux surfaces au lieu de trois, et il laisse de la place au moteur arrière. Le mât sur le dos porte le GPS, loin des perturbations, et le tube de Pitot dans le nez mesure la vitesse air.
Makafui va vous expliquer comment l'électronique est organisée.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Makafui de MEDEIROS (environ 70 s)
Merci Israel. Bonjour, je m'appelle de MEDEIROS Makafui Komlan Léopoldo, je m'occupe des réseaux, de la télémétrie et de la sécurité.
Pour nous, la règle de base, c'est que le vol passe avant tout. Nous avons donc mis deux calculateurs dans le drone.
Le premier, c'est le contrôleur de vol, sur une carte STM32H743, un Cortex-M7 à 480 mégahertz. Il stabilise le drone, commande les moteurs et le basculement, et gère les sécurités : fail-safe et retour automatique au point de départ.
Le second, c'est le module d'intelligence artificielle, sur un Raspberry Pi 5.
Les deux communiquent en MAVLink : le module IA reçoit la position du drone et renvoie ses alertes. Mais il ne peut pas commander les moteurs. Si l'IA plante ou surchauffe, le drone continue de voler normalement, et il peut toujours rentrer seul.
Nous gardons aussi un contrôleur du commerce compatible en secours. Roger va vous présenter le module 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Roger KAINWANG (environ 75 s)
Merci Makafui. Bonjour, je m'appelle KAINWANG Roger, je m'occupe de l'intelligence artificielle et des données.
Le module IA, c'est un Raspberry Pi 5 avec une carte AI HAT+ qui porte une puce Hailo-8 de 26 TOPS. Tout le calcul se fait à bord : aucune image n'est envoyée sur internet.
Le traitement suit une chaîne simple. La caméra fournit les images. Le détecteur, un YOLOv8s, repère trois familles d'objets : les personnes, les véhicules et les débris au sol. On ne garde que ce qui se trouve dans la zone qui nous intéresse, la piste et ses abords. Ensuite, un suivi relie les détections d'une image à l'autre, pour qu'un même objet ne déclenche qu'une seule alerte. Enfin, l'alerte part vers la station sol avec une image de preuve.
Pour le modèle, nous partons d'un YOLOv8s pré-entraîné, que nous adaptons avec FOD-A, une base publique de plus de 30 000 débris de piste annotés, et avec des images prises par notre propre caméra, pour coller à l'angle de vue du drone.
Si l'IA voit quelque chose qu'elle ne sait pas classer, elle ne devine pas : elle le signale comme « à vérifier », avec l'image, et c'est l'opérateur qui décide. Et si la liaison radio est coupée, les alertes sont gardées à bord et envoyées dès qu'elle revient.
Angelo va vous montrer ce que voit l'opérateur au sol.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Angelo LOGO ADANTO puis Makafui de MEDEIROS (environ 75 s)
Merci Roger. Bonjour, je m'appelle LOGO ADANTO Angelo, je m'occupe du logiciel embarqué et de la station sol.
Dans le drone, nous utilisons ArduPilot, que nous adaptons à notre configuration à rotors basculants. Nous y avons ajouté une délimitation de zone : si le drone sort de l'espace autorisé, il fait demi-tour automatiquement.
Au sol, nous développons la station en Flutter, ce qui nous donne une version mobile et une version web avec le même code. L'opérateur y prépare sa mission, suit la télémétrie en direct, voit arriver les alertes de l'IA avec leur image, et la vidéo est enregistrée. Tout l'historique des vols est stocké par le back-end de Cédric, avec une API REST et une base MySQL.
[Makafui] Pour transporter tout ça, nous avons trois liaisons indépendantes : un lien vidéo HD, une radio longue portée chiffrée pour la télémétrie et les ordres, et un canal d'urgence séparé. Les données passent par une liaison chiffrée. Chaque message MAVLink est signé : si quelqu'un envoie un ordre sans la bonne clé, le drone l'ignore. On surveille la qualité des liaisons pour repérer un brouillage, et on vérifie la cohérence du GPS avec les autres capteurs pour détecter un leurrage. En dernier recours, un canal d'urgence indépendant permet toujours de faire revenir le drone ou de couper les moteurs. Nous essayons aussi une liaison satellite en secours.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Israel AWADE (environ 65 s)
Si on résume ce qui fait la différence de notre projet, il y a quatre points.
D'abord, les deux calculateurs séparés. Le vol et la vision ne tournent pas sur la même carte. C'est un choix de sécurité : une panne de l'IA ne fait pas tomber le drone.
Ensuite, la configuration à rotors basculants. Les mêmes moteurs servent au décollage et à la croisière, donc on transporte moins de moteurs inutiles en vol, et on gagne en autonomie.
Troisième point, l'IA est à bord. On n'a pas besoin de réseau ni de cloud : l'alerte arrive pendant le vol, au moment où l'objet est vu.
Enfin, la sécurité des communications est pensée dès le départ, avec plusieurs niveaux de protection.
Et le drone ne sert pas qu'aux aéroports. Cédric va vous montrer les autres usages possibles.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Cédric KODJOVI (environ 65 s)
Notre premier cas d'usage, c'est l'aéroport : inspection de piste, recherche de débris et surveillance des clôtures.
Mais la même plateforme peut servir ailleurs. En agriculture et pour l'environnement, avec une caméra thermique ou multispectrale, on peut suivre les cultures ou repérer des départs de feux de brousse. Pour les infrastructures, on peut inspecter des lignes électriques, des pylônes, des ponts, ou les installations du port de Lomé.
Pour l'aide humanitaire, comme le drone n'a pas besoin de piste, une version adaptée peut livrer de petits colis, par exemple des médicaments, dans des zones difficiles d'accès. Et en cartographie, il peut faire des relevés photo à basse altitude.
À chaque fois, le drone, la station et le back-end restent les mêmes. On change la charge utile et on entraîne le modèle d'IA pour la nouvelle tâche. Israel va conclure.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Israel AWADE (environ 50 s)
Pour finir, où en sommes-nous ? La conception est faite et le dossier a été déposé. Nous sommes maintenant dans la phase de prototypage et d'intégration. En novembre viendront les essais au sol, puis en vol, et les tests de sécurité, pour être prêts pour la finale en décembre.
Nous remercions l'ANAC et les organisateurs du CECFD pour ce concours, qui nous permet de travailler sur un vrai problème de sécurité aérienne, ici au Togo.
Merci pour votre attention. Nous sommes prêts à répondre à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UVERTURE">
    <p:bg>
      <p:bgPr>
        <a:solidFill>
          <a:schemeClr val="bg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68580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Shape 0"/>
          <p:cNvSpPr/>
          <p:nvPr/>
        </p:nvSpPr>
        <p:spPr>
          <a:xfrm>
            <a:off x="594360" y="6291072"/>
            <a:ext cx="11002975" cy="0"/>
          </a:xfrm>
          <a:prstGeom prst="line">
            <a:avLst/>
          </a:prstGeom>
          <a:noFill/>
          <a:ln w="9525">
            <a:solidFill>
              <a:schemeClr val="accent5"/>
            </a:solidFill>
            <a:prstDash val="solid"/>
          </a:ln>
        </p:spPr>
      </p:sp>
      <p:sp>
        <p:nvSpPr>
          <p:cNvPr id="4" name="Text 1"/>
          <p:cNvSpPr/>
          <p:nvPr/>
        </p:nvSpPr>
        <p:spPr>
          <a:xfrm>
            <a:off x="594360" y="6382512"/>
            <a:ext cx="5486400" cy="274320"/>
          </a:xfrm>
          <a:prstGeom prst="rect">
            <a:avLst/>
          </a:prstGeom>
          <a:noFill/>
          <a:ln/>
        </p:spPr>
        <p:txBody>
          <a:bodyPr wrap="square" lIns="0" tIns="0" rIns="0" bIns="0" rtlCol="0" anchor="ctr"/>
          <a:lstStyle/>
          <a:p>
            <a:pPr indent="0" marL="0">
              <a:buNone/>
            </a:pPr>
            <a:r>
              <a:rPr lang="en-US" sz="1000" dirty="0">
                <a:solidFill>
                  <a:schemeClr val="tx2"/>
                </a:solidFill>
              </a:rPr>
              <a:t>SkyVision Togo · Sentinelle Aérienne · CECFD 2026</a:t>
            </a:r>
            <a:endParaRPr lang="en-US" sz="1000" dirty="0"/>
          </a:p>
        </p:txBody>
      </p:sp>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94360" y="640080"/>
            <a:ext cx="6400800" cy="320040"/>
          </a:xfrm>
          <a:prstGeom prst="rect">
            <a:avLst/>
          </a:prstGeom>
          <a:noFill/>
          <a:ln/>
        </p:spPr>
        <p:txBody>
          <a:bodyPr wrap="square" lIns="0" tIns="0" rIns="0" bIns="0" rtlCol="0" anchor="ctr"/>
          <a:lstStyle/>
          <a:p>
            <a:pPr indent="0" marL="0">
              <a:buNone/>
            </a:pPr>
            <a:r>
              <a:rPr lang="en-US" sz="1400" b="1" dirty="0">
                <a:solidFill>
                  <a:schemeClr val="accent1"/>
                </a:solidFill>
              </a:rPr>
              <a:t>SkyVision Togo · CECFD 2026 · ANAC</a:t>
            </a:r>
            <a:endParaRPr lang="en-US" sz="1400" dirty="0"/>
          </a:p>
        </p:txBody>
      </p:sp>
      <p:sp>
        <p:nvSpPr>
          <p:cNvPr id="3" name="Text 1"/>
          <p:cNvSpPr txBox="1"/>
          <p:nvPr/>
        </p:nvSpPr>
        <p:spPr>
          <a:xfrm>
            <a:off x="594360" y="1051560"/>
            <a:ext cx="6400800" cy="914400"/>
          </a:xfrm>
          <a:prstGeom prst="rect">
            <a:avLst/>
          </a:prstGeom>
          <a:noFill/>
          <a:ln/>
        </p:spPr>
        <p:txBody>
          <a:bodyPr wrap="square" lIns="0" tIns="0" rIns="0" bIns="0" rtlCol="0" anchor="ctr"/>
          <a:lstStyle/>
          <a:p>
            <a:pPr indent="0" marL="0">
              <a:buNone/>
            </a:pPr>
            <a:r>
              <a:rPr lang="en-US" sz="4800" b="1" dirty="0">
                <a:solidFill>
                  <a:schemeClr val="tx1"/>
                </a:solidFill>
              </a:rPr>
              <a:t>Sentinelle Aérienne</a:t>
            </a:r>
            <a:endParaRPr lang="en-US" sz="4800" dirty="0"/>
          </a:p>
        </p:txBody>
      </p:sp>
      <p:sp>
        <p:nvSpPr>
          <p:cNvPr id="4" name="Text 2"/>
          <p:cNvSpPr txBox="1"/>
          <p:nvPr/>
        </p:nvSpPr>
        <p:spPr>
          <a:xfrm>
            <a:off x="594360" y="2011680"/>
            <a:ext cx="5669280" cy="822960"/>
          </a:xfrm>
          <a:prstGeom prst="rect">
            <a:avLst/>
          </a:prstGeom>
          <a:noFill/>
          <a:ln/>
        </p:spPr>
        <p:txBody>
          <a:bodyPr wrap="square" lIns="0" tIns="0" rIns="0" bIns="0" rtlCol="0" anchor="t"/>
          <a:lstStyle/>
          <a:p>
            <a:pPr indent="0" marL="0">
              <a:buNone/>
            </a:pPr>
            <a:r>
              <a:rPr lang="en-US" sz="2000" dirty="0">
                <a:solidFill>
                  <a:schemeClr val="tx2"/>
                </a:solidFill>
              </a:rPr>
              <a:t>Drone VTOL de surveillance avec intelligence artificielle embarquée</a:t>
            </a:r>
            <a:endParaRPr lang="en-US" sz="2000" dirty="0"/>
          </a:p>
        </p:txBody>
      </p:sp>
      <p:pic>
        <p:nvPicPr>
          <p:cNvPr id="5" name="Image 0" descr="Vue CAO du drone">    </p:cNvPr>
          <p:cNvPicPr>
            <a:picLocks noChangeAspect="1"/>
          </p:cNvPicPr>
          <p:nvPr/>
        </p:nvPicPr>
        <p:blipFill>
          <a:blip r:embed="rId1"/>
          <a:stretch>
            <a:fillRect/>
          </a:stretch>
        </p:blipFill>
        <p:spPr>
          <a:xfrm>
            <a:off x="6400800" y="590279"/>
            <a:ext cx="5196535" cy="2659921"/>
          </a:xfrm>
          <a:prstGeom prst="rect">
            <a:avLst/>
          </a:prstGeom>
        </p:spPr>
      </p:pic>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594360" y="3520440"/>
          <a:ext cx="11002975" cy="914400"/>
        </p:xfrm>
        <a:graphic>
          <a:graphicData uri="http://schemas.openxmlformats.org/drawingml/2006/table">
            <a:tbl>
              <a:tblPr/>
              <a:tblGrid>
                <a:gridCol w="4206240"/>
                <a:gridCol w="6796735"/>
              </a:tblGrid>
              <a:tr h="438912">
                <a:tc>
                  <a:txBody>
                    <a:bodyPr/>
                    <a:lstStyle/>
                    <a:p>
                      <a:pPr indent="0" marL="0">
                        <a:buNone/>
                      </a:pPr>
                      <a:r>
                        <a:rPr lang="en-US" sz="1400" b="1" dirty="0">
                          <a:solidFill>
                            <a:schemeClr val="accent1"/>
                          </a:solidFill>
                        </a:rPr>
                        <a:t>Équipe</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1"/>
                          </a:solidFill>
                        </a:rPr>
                        <a:t>Pôle</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r>
              <a:tr h="438912">
                <a:tc>
                  <a:txBody>
                    <a:bodyPr/>
                    <a:lstStyle/>
                    <a:p>
                      <a:pPr indent="0" marL="0">
                        <a:buNone/>
                      </a:pPr>
                      <a:r>
                        <a:rPr lang="en-US" sz="1400" b="1" dirty="0">
                          <a:solidFill>
                            <a:schemeClr val="tx1"/>
                          </a:solidFill>
                        </a:rPr>
                        <a:t>AWADE Constantin Israel</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400" dirty="0">
                          <a:solidFill>
                            <a:schemeClr val="tx1"/>
                          </a:solidFill>
                        </a:rPr>
                        <a:t>Chef d'équipe, mécanique, électronique et conception 3D</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38912">
                <a:tc>
                  <a:txBody>
                    <a:bodyPr/>
                    <a:lstStyle/>
                    <a:p>
                      <a:pPr indent="0" marL="0">
                        <a:buNone/>
                      </a:pPr>
                      <a:r>
                        <a:rPr lang="en-US" sz="1400" b="1" dirty="0">
                          <a:solidFill>
                            <a:schemeClr val="tx1"/>
                          </a:solidFill>
                        </a:rPr>
                        <a:t>LOGO ADANTO Angelo</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400" dirty="0">
                          <a:solidFill>
                            <a:schemeClr val="tx1"/>
                          </a:solidFill>
                        </a:rPr>
                        <a:t>Logiciel embarqué et station sol</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38912">
                <a:tc>
                  <a:txBody>
                    <a:bodyPr/>
                    <a:lstStyle/>
                    <a:p>
                      <a:pPr indent="0" marL="0">
                        <a:buNone/>
                      </a:pPr>
                      <a:r>
                        <a:rPr lang="en-US" sz="1400" b="1" dirty="0">
                          <a:solidFill>
                            <a:schemeClr val="tx1"/>
                          </a:solidFill>
                        </a:rPr>
                        <a:t>KODJOVI Eli Cédric Ankou</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400" dirty="0">
                          <a:solidFill>
                            <a:schemeClr val="tx1"/>
                          </a:solidFill>
                        </a:rPr>
                        <a:t>Back-end, programme de vol et documentation</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38912">
                <a:tc>
                  <a:txBody>
                    <a:bodyPr/>
                    <a:lstStyle/>
                    <a:p>
                      <a:pPr indent="0" marL="0">
                        <a:buNone/>
                      </a:pPr>
                      <a:r>
                        <a:rPr lang="en-US" sz="1400" b="1" dirty="0">
                          <a:solidFill>
                            <a:schemeClr val="tx1"/>
                          </a:solidFill>
                        </a:rPr>
                        <a:t>de MEDEIROS Makafui Komlan Léopoldo</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400" dirty="0">
                          <a:solidFill>
                            <a:schemeClr val="tx1"/>
                          </a:solidFill>
                        </a:rPr>
                        <a:t>Réseaux, télémétrie et sécurité</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38912">
                <a:tc>
                  <a:txBody>
                    <a:bodyPr/>
                    <a:lstStyle/>
                    <a:p>
                      <a:pPr indent="0" marL="0">
                        <a:buNone/>
                      </a:pPr>
                      <a:r>
                        <a:rPr lang="en-US" sz="1400" b="1" dirty="0">
                          <a:solidFill>
                            <a:schemeClr val="tx1"/>
                          </a:solidFill>
                        </a:rPr>
                        <a:t>KAINWANG Roger</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400" dirty="0">
                          <a:solidFill>
                            <a:schemeClr val="tx1"/>
                          </a:solidFill>
                        </a:rPr>
                        <a:t>Intelligence artificielle et données</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685800"/>
          </a:xfrm>
          <a:prstGeom prst="rect">
            <a:avLst/>
          </a:prstGeom>
          <a:noFill/>
          <a:ln/>
        </p:spPr>
        <p:txBody>
          <a:bodyPr wrap="square" lIns="0" tIns="0" rIns="0" bIns="0" rtlCol="0" anchor="ctr"/>
          <a:lstStyle/>
          <a:p>
            <a:pPr algn="l" indent="0" marL="0">
              <a:buNone/>
            </a:pPr>
            <a:r>
              <a:rPr lang="en-US" sz="3000" b="1" dirty="0">
                <a:solidFill>
                  <a:schemeClr val="tx1"/>
                </a:solidFill>
              </a:rPr>
              <a:t>Le besoin : la sécurité des pistes</a:t>
            </a:r>
            <a:endParaRPr lang="en-US" sz="3000" dirty="0"/>
          </a:p>
        </p:txBody>
      </p:sp>
      <p:sp>
        <p:nvSpPr>
          <p:cNvPr id="3" name="Text 1"/>
          <p:cNvSpPr txBox="1"/>
          <p:nvPr/>
        </p:nvSpPr>
        <p:spPr>
          <a:xfrm>
            <a:off x="7025335" y="6382512"/>
            <a:ext cx="4069080" cy="274320"/>
          </a:xfrm>
          <a:prstGeom prst="rect">
            <a:avLst/>
          </a:prstGeom>
          <a:noFill/>
          <a:ln/>
        </p:spPr>
        <p:txBody>
          <a:bodyPr wrap="square" lIns="0" tIns="0" rIns="0" bIns="0" rtlCol="0" anchor="ctr"/>
          <a:lstStyle/>
          <a:p>
            <a:pPr algn="r" indent="0" marL="0">
              <a:buNone/>
            </a:pPr>
            <a:r>
              <a:rPr lang="en-US" sz="1000" dirty="0">
                <a:solidFill>
                  <a:schemeClr val="tx2"/>
                </a:solidFill>
              </a:rPr>
              <a:t>Cédric KODJOVI</a:t>
            </a:r>
            <a:endParaRPr lang="en-US" sz="1000" dirty="0"/>
          </a:p>
        </p:txBody>
      </p:sp>
      <p:sp>
        <p:nvSpPr>
          <p:cNvPr id="4" name="Text 2"/>
          <p:cNvSpPr txBox="1"/>
          <p:nvPr/>
        </p:nvSpPr>
        <p:spPr>
          <a:xfrm>
            <a:off x="594360" y="1417320"/>
            <a:ext cx="5227168" cy="365760"/>
          </a:xfrm>
          <a:prstGeom prst="rect">
            <a:avLst/>
          </a:prstGeom>
          <a:noFill/>
          <a:ln/>
        </p:spPr>
        <p:txBody>
          <a:bodyPr wrap="square" lIns="0" tIns="0" rIns="0" bIns="0" rtlCol="0" anchor="ctr"/>
          <a:lstStyle/>
          <a:p>
            <a:pPr indent="0" marL="0">
              <a:buNone/>
            </a:pPr>
            <a:r>
              <a:rPr lang="en-US" sz="1800" b="1" dirty="0">
                <a:solidFill>
                  <a:schemeClr val="accent1"/>
                </a:solidFill>
              </a:rPr>
              <a:t>Ce qui menace une piste</a:t>
            </a:r>
            <a:endParaRPr lang="en-US" sz="1800" dirty="0"/>
          </a:p>
        </p:txBody>
      </p:sp>
      <p:sp>
        <p:nvSpPr>
          <p:cNvPr id="5" name="Text 3"/>
          <p:cNvSpPr txBox="1"/>
          <p:nvPr/>
        </p:nvSpPr>
        <p:spPr>
          <a:xfrm>
            <a:off x="594360" y="1874520"/>
            <a:ext cx="5227168" cy="2834640"/>
          </a:xfrm>
          <a:prstGeom prst="rect">
            <a:avLst/>
          </a:prstGeom>
          <a:noFill/>
          <a:ln/>
        </p:spPr>
        <p:txBody>
          <a:bodyPr wrap="square" lIns="0" tIns="0" rIns="0" bIns="0" rtlCol="0" anchor="t"/>
          <a:lstStyle/>
          <a:p>
            <a:pPr indent="0" marL="0">
              <a:spcAft>
                <a:spcPts val="800"/>
              </a:spcAft>
              <a:buNone/>
            </a:pPr>
            <a:r>
              <a:rPr lang="en-US" sz="1700" b="1" dirty="0">
                <a:solidFill>
                  <a:schemeClr val="tx1"/>
                </a:solidFill>
              </a:rPr>
              <a:t>Débris (FOD)</a:t>
            </a:r>
            <a:pPr indent="0" marL="0">
              <a:spcAft>
                <a:spcPts val="800"/>
              </a:spcAft>
              <a:buNone/>
            </a:pPr>
            <a:r>
              <a:rPr lang="en-US" sz="1700" dirty="0">
                <a:solidFill>
                  <a:schemeClr val="tx1"/>
                </a:solidFill>
              </a:rPr>
              <a:t> : boulons, morceaux de pneu, outils oubliés, qui peuvent être aspirés par un réacteur ou faire éclater un pneu</a:t>
            </a:r>
            <a:endParaRPr lang="en-US" sz="1700" dirty="0"/>
          </a:p>
          <a:p>
            <a:pPr indent="0" marL="0">
              <a:spcAft>
                <a:spcPts val="800"/>
              </a:spcAft>
              <a:buNone/>
            </a:pPr>
            <a:r>
              <a:rPr lang="en-US" sz="1700" b="1" dirty="0">
                <a:solidFill>
                  <a:schemeClr val="tx1"/>
                </a:solidFill>
              </a:rPr>
              <a:t>Abords et clôtures</a:t>
            </a:r>
            <a:pPr indent="0" marL="0">
              <a:spcAft>
                <a:spcPts val="800"/>
              </a:spcAft>
              <a:buNone/>
            </a:pPr>
            <a:r>
              <a:rPr lang="en-US" sz="1700" dirty="0">
                <a:solidFill>
                  <a:schemeClr val="tx1"/>
                </a:solidFill>
              </a:rPr>
              <a:t> : de grandes surfaces à contrôler régulièrement</a:t>
            </a:r>
            <a:endParaRPr lang="en-US" sz="1700" dirty="0"/>
          </a:p>
          <a:p>
            <a:pPr indent="0" marL="0">
              <a:spcAft>
                <a:spcPts val="800"/>
              </a:spcAft>
              <a:buNone/>
            </a:pPr>
            <a:r>
              <a:rPr lang="en-US" sz="1700" b="1" dirty="0">
                <a:solidFill>
                  <a:schemeClr val="tx1"/>
                </a:solidFill>
              </a:rPr>
              <a:t>Intrusions</a:t>
            </a:r>
            <a:pPr indent="0" marL="0">
              <a:spcAft>
                <a:spcPts val="800"/>
              </a:spcAft>
              <a:buNone/>
            </a:pPr>
            <a:r>
              <a:rPr lang="en-US" sz="1700" dirty="0">
                <a:solidFill>
                  <a:schemeClr val="tx1"/>
                </a:solidFill>
              </a:rPr>
              <a:t> : personnes ou véhicules non autorisés près des pistes</a:t>
            </a:r>
            <a:endParaRPr lang="en-US" sz="1700" dirty="0"/>
          </a:p>
        </p:txBody>
      </p:sp>
      <p:sp>
        <p:nvSpPr>
          <p:cNvPr id="6" name="Text 4"/>
          <p:cNvSpPr txBox="1"/>
          <p:nvPr/>
        </p:nvSpPr>
        <p:spPr>
          <a:xfrm>
            <a:off x="6370168" y="1417320"/>
            <a:ext cx="5227168" cy="365760"/>
          </a:xfrm>
          <a:prstGeom prst="rect">
            <a:avLst/>
          </a:prstGeom>
          <a:noFill/>
          <a:ln/>
        </p:spPr>
        <p:txBody>
          <a:bodyPr wrap="square" lIns="0" tIns="0" rIns="0" bIns="0" rtlCol="0" anchor="ctr"/>
          <a:lstStyle/>
          <a:p>
            <a:pPr indent="0" marL="0">
              <a:buNone/>
            </a:pPr>
            <a:r>
              <a:rPr lang="en-US" sz="1800" b="1" dirty="0">
                <a:solidFill>
                  <a:schemeClr val="accent1"/>
                </a:solidFill>
              </a:rPr>
              <a:t>Les limites de l'inspection manuelle</a:t>
            </a:r>
            <a:endParaRPr lang="en-US" sz="1800" dirty="0"/>
          </a:p>
        </p:txBody>
      </p:sp>
      <p:sp>
        <p:nvSpPr>
          <p:cNvPr id="7" name="Text 5"/>
          <p:cNvSpPr txBox="1"/>
          <p:nvPr/>
        </p:nvSpPr>
        <p:spPr>
          <a:xfrm>
            <a:off x="6370168" y="1874520"/>
            <a:ext cx="5227168" cy="28346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Elle se fait en véhicule et prend du temps</a:t>
            </a:r>
            <a:endParaRPr lang="en-US" sz="1700" dirty="0"/>
          </a:p>
          <a:p>
            <a:pPr marL="228600" indent="-228600">
              <a:spcAft>
                <a:spcPts val="800"/>
              </a:spcAft>
              <a:buSzPct val="100000"/>
              <a:buChar char="•"/>
            </a:pPr>
            <a:r>
              <a:rPr lang="en-US" sz="1700" dirty="0">
                <a:solidFill>
                  <a:schemeClr val="tx1"/>
                </a:solidFill>
              </a:rPr>
              <a:t>La piste n'est pas disponible pendant le contrôle</a:t>
            </a:r>
            <a:endParaRPr lang="en-US" sz="1700" dirty="0"/>
          </a:p>
          <a:p>
            <a:pPr marL="228600" indent="-228600">
              <a:spcAft>
                <a:spcPts val="800"/>
              </a:spcAft>
              <a:buSzPct val="100000"/>
              <a:buChar char="•"/>
            </a:pPr>
            <a:r>
              <a:rPr lang="en-US" sz="1700" dirty="0">
                <a:solidFill>
                  <a:schemeClr val="tx1"/>
                </a:solidFill>
              </a:rPr>
              <a:t>Le résultat dépend de l'attention de l'agent</a:t>
            </a:r>
            <a:endParaRPr lang="en-US" sz="1700" dirty="0"/>
          </a:p>
          <a:p>
            <a:pPr marL="228600" indent="-228600">
              <a:spcAft>
                <a:spcPts val="800"/>
              </a:spcAft>
              <a:buSzPct val="100000"/>
              <a:buChar char="•"/>
            </a:pPr>
            <a:r>
              <a:rPr lang="en-US" sz="1700" dirty="0">
                <a:solidFill>
                  <a:schemeClr val="tx1"/>
                </a:solidFill>
              </a:rPr>
              <a:t>Elle est difficile la nuit et sur de grandes surfaces</a:t>
            </a:r>
            <a:endParaRPr lang="en-US" sz="1700" dirty="0"/>
          </a:p>
        </p:txBody>
      </p:sp>
      <p:sp>
        <p:nvSpPr>
          <p:cNvPr id="8" name="Encadré"/>
          <p:cNvSpPr/>
          <p:nvPr/>
        </p:nvSpPr>
        <p:spPr>
          <a:xfrm>
            <a:off x="594360" y="4892040"/>
            <a:ext cx="11002975" cy="685800"/>
          </a:xfrm>
          <a:prstGeom prst="rect">
            <a:avLst/>
          </a:prstGeom>
          <a:solidFill>
            <a:schemeClr val="bg2"/>
          </a:solidFill>
          <a:ln w="9525">
            <a:solidFill>
              <a:schemeClr val="accent5"/>
            </a:solidFill>
            <a:prstDash val="solid"/>
          </a:ln>
        </p:spPr>
      </p:sp>
      <p:sp>
        <p:nvSpPr>
          <p:cNvPr id="9" name="Text 7"/>
          <p:cNvSpPr txBox="1"/>
          <p:nvPr/>
        </p:nvSpPr>
        <p:spPr>
          <a:xfrm>
            <a:off x="822960" y="4892040"/>
            <a:ext cx="10545775" cy="685800"/>
          </a:xfrm>
          <a:prstGeom prst="rect">
            <a:avLst/>
          </a:prstGeom>
          <a:noFill/>
          <a:ln/>
        </p:spPr>
        <p:txBody>
          <a:bodyPr wrap="square" lIns="0" tIns="0" rIns="0" bIns="0" rtlCol="0" anchor="ctr"/>
          <a:lstStyle/>
          <a:p>
            <a:pPr indent="0" marL="0">
              <a:buNone/>
            </a:pPr>
            <a:r>
              <a:rPr lang="en-US" sz="1700" dirty="0">
                <a:solidFill>
                  <a:schemeClr val="tx1"/>
                </a:solidFill>
              </a:rPr>
              <a:t>Notre objectif : inspecter depuis les airs, rapidement, et signaler tout de suite ce qui est anormal.</a:t>
            </a:r>
            <a:endParaRPr lang="en-US" sz="1700" dirty="0"/>
          </a:p>
        </p:txBody>
      </p:sp>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685800"/>
          </a:xfrm>
          <a:prstGeom prst="rect">
            <a:avLst/>
          </a:prstGeom>
          <a:noFill/>
          <a:ln/>
        </p:spPr>
        <p:txBody>
          <a:bodyPr wrap="square" lIns="0" tIns="0" rIns="0" bIns="0" rtlCol="0" anchor="ctr"/>
          <a:lstStyle/>
          <a:p>
            <a:pPr algn="l" indent="0" marL="0">
              <a:buNone/>
            </a:pPr>
            <a:r>
              <a:rPr lang="en-US" sz="3000" b="1" dirty="0">
                <a:solidFill>
                  <a:schemeClr val="tx1"/>
                </a:solidFill>
              </a:rPr>
              <a:t>Conception du drone</a:t>
            </a:r>
            <a:endParaRPr lang="en-US" sz="3000" dirty="0"/>
          </a:p>
        </p:txBody>
      </p:sp>
      <p:sp>
        <p:nvSpPr>
          <p:cNvPr id="3" name="Text 1"/>
          <p:cNvSpPr txBox="1"/>
          <p:nvPr/>
        </p:nvSpPr>
        <p:spPr>
          <a:xfrm>
            <a:off x="7025335" y="6382512"/>
            <a:ext cx="4069080" cy="274320"/>
          </a:xfrm>
          <a:prstGeom prst="rect">
            <a:avLst/>
          </a:prstGeom>
          <a:noFill/>
          <a:ln/>
        </p:spPr>
        <p:txBody>
          <a:bodyPr wrap="square" lIns="0" tIns="0" rIns="0" bIns="0" rtlCol="0" anchor="ctr"/>
          <a:lstStyle/>
          <a:p>
            <a:pPr algn="r" indent="0" marL="0">
              <a:buNone/>
            </a:pPr>
            <a:r>
              <a:rPr lang="en-US" sz="1000" dirty="0">
                <a:solidFill>
                  <a:schemeClr val="tx2"/>
                </a:solidFill>
              </a:rPr>
              <a:t>Israel AWADE</a:t>
            </a:r>
            <a:endParaRPr lang="en-US" sz="1000" dirty="0"/>
          </a:p>
        </p:txBody>
      </p:sp>
      <p:sp>
        <p:nvSpPr>
          <p:cNvPr id="4" name="Text 2"/>
          <p:cNvSpPr txBox="1"/>
          <p:nvPr/>
        </p:nvSpPr>
        <p:spPr>
          <a:xfrm>
            <a:off x="594360" y="1417320"/>
            <a:ext cx="5120640" cy="365760"/>
          </a:xfrm>
          <a:prstGeom prst="rect">
            <a:avLst/>
          </a:prstGeom>
          <a:noFill/>
          <a:ln/>
        </p:spPr>
        <p:txBody>
          <a:bodyPr wrap="square" lIns="0" tIns="0" rIns="0" bIns="0" rtlCol="0" anchor="ctr"/>
          <a:lstStyle/>
          <a:p>
            <a:pPr indent="0" marL="0">
              <a:buNone/>
            </a:pPr>
            <a:r>
              <a:rPr lang="en-US" sz="1800" b="1" dirty="0">
                <a:solidFill>
                  <a:schemeClr val="accent1"/>
                </a:solidFill>
              </a:rPr>
              <a:t>Configuration</a:t>
            </a:r>
            <a:endParaRPr lang="en-US" sz="1800" dirty="0"/>
          </a:p>
        </p:txBody>
      </p:sp>
      <p:sp>
        <p:nvSpPr>
          <p:cNvPr id="5" name="Text 3"/>
          <p:cNvSpPr txBox="1"/>
          <p:nvPr/>
        </p:nvSpPr>
        <p:spPr>
          <a:xfrm>
            <a:off x="594360" y="1874520"/>
            <a:ext cx="5120640" cy="21488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Conçu entièrement sous SolidWorks</a:t>
            </a:r>
            <a:endParaRPr lang="en-US" sz="1700" dirty="0"/>
          </a:p>
          <a:p>
            <a:pPr marL="228600" indent="-228600">
              <a:spcAft>
                <a:spcPts val="800"/>
              </a:spcAft>
              <a:buSzPct val="100000"/>
              <a:buChar char="•"/>
            </a:pPr>
            <a:r>
              <a:rPr lang="en-US" sz="1700" dirty="0">
                <a:solidFill>
                  <a:schemeClr val="tx1"/>
                </a:solidFill>
              </a:rPr>
              <a:t>Voilure fixe et empennage en V</a:t>
            </a:r>
            <a:endParaRPr lang="en-US" sz="1700" dirty="0"/>
          </a:p>
          <a:p>
            <a:pPr marL="228600" indent="-228600">
              <a:spcAft>
                <a:spcPts val="800"/>
              </a:spcAft>
              <a:buSzPct val="100000"/>
              <a:buChar char="•"/>
            </a:pPr>
            <a:r>
              <a:rPr lang="en-US" sz="1700" dirty="0">
                <a:solidFill>
                  <a:schemeClr val="tx1"/>
                </a:solidFill>
              </a:rPr>
              <a:t>Deux moteurs avant basculants, montés en nacelle sur l'aile</a:t>
            </a:r>
            <a:endParaRPr lang="en-US" sz="1700" dirty="0"/>
          </a:p>
          <a:p>
            <a:pPr marL="228600" indent="-228600">
              <a:spcAft>
                <a:spcPts val="800"/>
              </a:spcAft>
              <a:buSzPct val="100000"/>
              <a:buChar char="•"/>
            </a:pPr>
            <a:r>
              <a:rPr lang="en-US" sz="1700" dirty="0">
                <a:solidFill>
                  <a:schemeClr val="tx1"/>
                </a:solidFill>
              </a:rPr>
              <a:t>Un moteur arrière pour le vol vertical, arrêté en croisière</a:t>
            </a:r>
            <a:endParaRPr lang="en-US" sz="1700" dirty="0"/>
          </a:p>
        </p:txBody>
      </p:sp>
      <p:sp>
        <p:nvSpPr>
          <p:cNvPr id="6" name="Text 4"/>
          <p:cNvSpPr txBox="1"/>
          <p:nvPr/>
        </p:nvSpPr>
        <p:spPr>
          <a:xfrm>
            <a:off x="594360" y="4160520"/>
            <a:ext cx="5120640" cy="365760"/>
          </a:xfrm>
          <a:prstGeom prst="rect">
            <a:avLst/>
          </a:prstGeom>
          <a:noFill/>
          <a:ln/>
        </p:spPr>
        <p:txBody>
          <a:bodyPr wrap="square" lIns="0" tIns="0" rIns="0" bIns="0" rtlCol="0" anchor="ctr"/>
          <a:lstStyle/>
          <a:p>
            <a:pPr indent="0" marL="0">
              <a:buNone/>
            </a:pPr>
            <a:r>
              <a:rPr lang="en-US" sz="1800" b="1" dirty="0">
                <a:solidFill>
                  <a:schemeClr val="accent1"/>
                </a:solidFill>
              </a:rPr>
              <a:t>Ce que ça apporte</a:t>
            </a:r>
            <a:endParaRPr lang="en-US" sz="1800" dirty="0"/>
          </a:p>
        </p:txBody>
      </p:sp>
      <p:sp>
        <p:nvSpPr>
          <p:cNvPr id="7" name="Text 5"/>
          <p:cNvSpPr txBox="1"/>
          <p:nvPr/>
        </p:nvSpPr>
        <p:spPr>
          <a:xfrm>
            <a:off x="594360" y="4617720"/>
            <a:ext cx="5120640" cy="118872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Décollage et atterrissage verticaux, sans piste</a:t>
            </a:r>
            <a:endParaRPr lang="en-US" sz="1700" dirty="0"/>
          </a:p>
          <a:p>
            <a:pPr marL="228600" indent="-228600">
              <a:spcAft>
                <a:spcPts val="800"/>
              </a:spcAft>
              <a:buSzPct val="100000"/>
              <a:buChar char="•"/>
            </a:pPr>
            <a:r>
              <a:rPr lang="en-US" sz="1700" dirty="0">
                <a:solidFill>
                  <a:schemeClr val="tx1"/>
                </a:solidFill>
              </a:rPr>
              <a:t>En croisière, c'est l'aile qui porte : 30 à 45 min visées</a:t>
            </a:r>
            <a:endParaRPr lang="en-US" sz="1700" dirty="0"/>
          </a:p>
        </p:txBody>
      </p:sp>
      <p:pic>
        <p:nvPicPr>
          <p:cNvPr id="8" name="Image 0" descr="Vue de dessus (SolidWorks)">    </p:cNvPr>
          <p:cNvPicPr>
            <a:picLocks noChangeAspect="1"/>
          </p:cNvPicPr>
          <p:nvPr/>
        </p:nvPicPr>
        <p:blipFill>
          <a:blip r:embed="rId1"/>
          <a:stretch>
            <a:fillRect/>
          </a:stretch>
        </p:blipFill>
        <p:spPr>
          <a:xfrm>
            <a:off x="7250500" y="1417320"/>
            <a:ext cx="3222816" cy="1783080"/>
          </a:xfrm>
          <a:prstGeom prst="rect">
            <a:avLst/>
          </a:prstGeom>
        </p:spPr>
      </p:pic>
      <p:sp>
        <p:nvSpPr>
          <p:cNvPr id="9" name="Cadre cao_dessus"/>
          <p:cNvSpPr/>
          <p:nvPr/>
        </p:nvSpPr>
        <p:spPr>
          <a:xfrm>
            <a:off x="7250500" y="1417320"/>
            <a:ext cx="3222816" cy="1783080"/>
          </a:xfrm>
          <a:prstGeom prst="rect">
            <a:avLst/>
          </a:prstGeom>
          <a:ln w="9525">
            <a:solidFill>
              <a:schemeClr val="accent5"/>
            </a:solidFill>
            <a:prstDash val="solid"/>
          </a:ln>
        </p:spPr>
      </p:sp>
      <p:sp>
        <p:nvSpPr>
          <p:cNvPr id="10" name="Text 7"/>
          <p:cNvSpPr txBox="1"/>
          <p:nvPr/>
        </p:nvSpPr>
        <p:spPr>
          <a:xfrm>
            <a:off x="7250500" y="3255264"/>
            <a:ext cx="3222816" cy="256032"/>
          </a:xfrm>
          <a:prstGeom prst="rect">
            <a:avLst/>
          </a:prstGeom>
          <a:noFill/>
          <a:ln/>
        </p:spPr>
        <p:txBody>
          <a:bodyPr wrap="square" lIns="0" tIns="0" rIns="0" bIns="0" rtlCol="0" anchor="ctr"/>
          <a:lstStyle/>
          <a:p>
            <a:pPr indent="0" marL="0">
              <a:buNone/>
            </a:pPr>
            <a:r>
              <a:rPr lang="en-US" sz="1100" i="1" dirty="0">
                <a:solidFill>
                  <a:schemeClr val="tx2"/>
                </a:solidFill>
              </a:rPr>
              <a:t>Vue de dessus (SolidWorks)</a:t>
            </a:r>
            <a:endParaRPr lang="en-US" sz="1100" dirty="0"/>
          </a:p>
        </p:txBody>
      </p:sp>
      <p:pic>
        <p:nvPicPr>
          <p:cNvPr id="11" name="Image 1" descr="Vue de profil (SolidWorks)">    </p:cNvPr>
          <p:cNvPicPr>
            <a:picLocks noChangeAspect="1"/>
          </p:cNvPicPr>
          <p:nvPr/>
        </p:nvPicPr>
        <p:blipFill>
          <a:blip r:embed="rId2"/>
          <a:stretch>
            <a:fillRect/>
          </a:stretch>
        </p:blipFill>
        <p:spPr>
          <a:xfrm>
            <a:off x="6126480" y="3895683"/>
            <a:ext cx="5470855" cy="1764115"/>
          </a:xfrm>
          <a:prstGeom prst="rect">
            <a:avLst/>
          </a:prstGeom>
        </p:spPr>
      </p:pic>
      <p:sp>
        <p:nvSpPr>
          <p:cNvPr id="12" name="Cadre cao_profil"/>
          <p:cNvSpPr/>
          <p:nvPr/>
        </p:nvSpPr>
        <p:spPr>
          <a:xfrm>
            <a:off x="6126480" y="3895683"/>
            <a:ext cx="5470855" cy="1764115"/>
          </a:xfrm>
          <a:prstGeom prst="rect">
            <a:avLst/>
          </a:prstGeom>
          <a:ln w="9525">
            <a:solidFill>
              <a:schemeClr val="accent5"/>
            </a:solidFill>
            <a:prstDash val="solid"/>
          </a:ln>
        </p:spPr>
      </p:sp>
      <p:sp>
        <p:nvSpPr>
          <p:cNvPr id="13" name="Text 9"/>
          <p:cNvSpPr txBox="1"/>
          <p:nvPr/>
        </p:nvSpPr>
        <p:spPr>
          <a:xfrm>
            <a:off x="6126480" y="5714661"/>
            <a:ext cx="5470855" cy="256032"/>
          </a:xfrm>
          <a:prstGeom prst="rect">
            <a:avLst/>
          </a:prstGeom>
          <a:noFill/>
          <a:ln/>
        </p:spPr>
        <p:txBody>
          <a:bodyPr wrap="square" lIns="0" tIns="0" rIns="0" bIns="0" rtlCol="0" anchor="ctr"/>
          <a:lstStyle/>
          <a:p>
            <a:pPr indent="0" marL="0">
              <a:buNone/>
            </a:pPr>
            <a:r>
              <a:rPr lang="en-US" sz="1100" i="1" dirty="0">
                <a:solidFill>
                  <a:schemeClr val="tx2"/>
                </a:solidFill>
              </a:rPr>
              <a:t>Vue de profil (SolidWorks)</a:t>
            </a:r>
            <a:endParaRPr lang="en-US" sz="1100" dirty="0"/>
          </a:p>
        </p:txBody>
      </p:sp>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685800"/>
          </a:xfrm>
          <a:prstGeom prst="rect">
            <a:avLst/>
          </a:prstGeom>
          <a:noFill/>
          <a:ln/>
        </p:spPr>
        <p:txBody>
          <a:bodyPr wrap="square" lIns="0" tIns="0" rIns="0" bIns="0" rtlCol="0" anchor="ctr"/>
          <a:lstStyle/>
          <a:p>
            <a:pPr algn="l" indent="0" marL="0">
              <a:buNone/>
            </a:pPr>
            <a:r>
              <a:rPr lang="en-US" sz="3000" b="1" dirty="0">
                <a:solidFill>
                  <a:schemeClr val="tx1"/>
                </a:solidFill>
              </a:rPr>
              <a:t>Architecture électronique : la sécurité d'abord</a:t>
            </a:r>
            <a:endParaRPr lang="en-US" sz="3000" dirty="0"/>
          </a:p>
        </p:txBody>
      </p:sp>
      <p:sp>
        <p:nvSpPr>
          <p:cNvPr id="3" name="Text 1"/>
          <p:cNvSpPr txBox="1"/>
          <p:nvPr/>
        </p:nvSpPr>
        <p:spPr>
          <a:xfrm>
            <a:off x="7025335" y="6382512"/>
            <a:ext cx="4069080" cy="274320"/>
          </a:xfrm>
          <a:prstGeom prst="rect">
            <a:avLst/>
          </a:prstGeom>
          <a:noFill/>
          <a:ln/>
        </p:spPr>
        <p:txBody>
          <a:bodyPr wrap="square" lIns="0" tIns="0" rIns="0" bIns="0" rtlCol="0" anchor="ctr"/>
          <a:lstStyle/>
          <a:p>
            <a:pPr algn="r" indent="0" marL="0">
              <a:buNone/>
            </a:pPr>
            <a:r>
              <a:rPr lang="en-US" sz="1000" dirty="0">
                <a:solidFill>
                  <a:schemeClr val="tx2"/>
                </a:solidFill>
              </a:rPr>
              <a:t>Makafui de MEDEIROS</a:t>
            </a:r>
            <a:endParaRPr lang="en-US" sz="1000" dirty="0"/>
          </a:p>
        </p:txBody>
      </p:sp>
      <p:sp>
        <p:nvSpPr>
          <p:cNvPr id="4" name="Contrôleur de vol"/>
          <p:cNvSpPr/>
          <p:nvPr/>
        </p:nvSpPr>
        <p:spPr>
          <a:xfrm>
            <a:off x="594360" y="1417320"/>
            <a:ext cx="4572000" cy="2651760"/>
          </a:xfrm>
          <a:prstGeom prst="rect">
            <a:avLst/>
          </a:prstGeom>
          <a:solidFill>
            <a:schemeClr val="bg2"/>
          </a:solidFill>
          <a:ln w="9525">
            <a:solidFill>
              <a:schemeClr val="accent5"/>
            </a:solidFill>
            <a:prstDash val="solid"/>
          </a:ln>
        </p:spPr>
      </p:sp>
      <p:sp>
        <p:nvSpPr>
          <p:cNvPr id="5" name="Text 3"/>
          <p:cNvSpPr txBox="1"/>
          <p:nvPr/>
        </p:nvSpPr>
        <p:spPr>
          <a:xfrm>
            <a:off x="822960" y="1554480"/>
            <a:ext cx="4114800" cy="731520"/>
          </a:xfrm>
          <a:prstGeom prst="rect">
            <a:avLst/>
          </a:prstGeom>
          <a:noFill/>
          <a:ln/>
        </p:spPr>
        <p:txBody>
          <a:bodyPr wrap="square" lIns="0" tIns="0" rIns="0" bIns="0" rtlCol="0" anchor="ctr"/>
          <a:lstStyle/>
          <a:p>
            <a:pPr indent="0" marL="0">
              <a:buNone/>
            </a:pPr>
            <a:r>
              <a:rPr lang="en-US" sz="1900" b="1" dirty="0">
                <a:solidFill>
                  <a:schemeClr val="accent1"/>
                </a:solidFill>
              </a:rPr>
              <a:t>Contrôleur de vol</a:t>
            </a:r>
            <a:endParaRPr lang="en-US" sz="1900" dirty="0"/>
          </a:p>
          <a:p>
            <a:pPr indent="0" marL="0">
              <a:buNone/>
            </a:pPr>
            <a:r>
              <a:rPr lang="en-US" sz="1400" dirty="0">
                <a:solidFill>
                  <a:schemeClr val="tx2"/>
                </a:solidFill>
              </a:rPr>
              <a:t>STM32H743, Cortex-M7 à 480 MHz</a:t>
            </a:r>
            <a:endParaRPr lang="en-US" sz="1900" dirty="0"/>
          </a:p>
        </p:txBody>
      </p:sp>
      <p:sp>
        <p:nvSpPr>
          <p:cNvPr id="6" name="Text 4"/>
          <p:cNvSpPr txBox="1"/>
          <p:nvPr/>
        </p:nvSpPr>
        <p:spPr>
          <a:xfrm>
            <a:off x="822960" y="2377440"/>
            <a:ext cx="4114800" cy="1600200"/>
          </a:xfrm>
          <a:prstGeom prst="rect">
            <a:avLst/>
          </a:prstGeom>
          <a:noFill/>
          <a:ln/>
        </p:spPr>
        <p:txBody>
          <a:bodyPr wrap="square" lIns="0" tIns="0" rIns="0" bIns="0" rtlCol="0" anchor="t"/>
          <a:lstStyle/>
          <a:p>
            <a:pPr marL="228600" indent="-228600">
              <a:spcAft>
                <a:spcPts val="400"/>
              </a:spcAft>
              <a:buSzPct val="100000"/>
              <a:buChar char="•"/>
            </a:pPr>
            <a:r>
              <a:rPr lang="en-US" sz="1500" dirty="0">
                <a:solidFill>
                  <a:schemeClr val="tx1"/>
                </a:solidFill>
              </a:rPr>
              <a:t>Stabilisation, moteurs et basculement</a:t>
            </a:r>
            <a:endParaRPr lang="en-US" sz="1500" dirty="0"/>
          </a:p>
          <a:p>
            <a:pPr marL="228600" indent="-228600">
              <a:spcAft>
                <a:spcPts val="400"/>
              </a:spcAft>
              <a:buSzPct val="100000"/>
              <a:buChar char="•"/>
            </a:pPr>
            <a:r>
              <a:rPr lang="en-US" sz="1500" dirty="0">
                <a:solidFill>
                  <a:schemeClr val="tx1"/>
                </a:solidFill>
              </a:rPr>
              <a:t>Fail-safe matériel</a:t>
            </a:r>
            <a:endParaRPr lang="en-US" sz="1500" dirty="0"/>
          </a:p>
          <a:p>
            <a:pPr marL="228600" indent="-228600">
              <a:spcAft>
                <a:spcPts val="400"/>
              </a:spcAft>
              <a:buSzPct val="100000"/>
              <a:buChar char="•"/>
            </a:pPr>
            <a:r>
              <a:rPr lang="en-US" sz="1500" dirty="0">
                <a:solidFill>
                  <a:schemeClr val="tx1"/>
                </a:solidFill>
              </a:rPr>
              <a:t>Retour automatique au point de départ (RTH)</a:t>
            </a:r>
            <a:endParaRPr lang="en-US" sz="1500" dirty="0"/>
          </a:p>
          <a:p>
            <a:pPr marL="228600" indent="-228600">
              <a:spcAft>
                <a:spcPts val="400"/>
              </a:spcAft>
              <a:buSzPct val="100000"/>
              <a:buChar char="•"/>
            </a:pPr>
            <a:r>
              <a:rPr lang="en-US" sz="1500" dirty="0">
                <a:solidFill>
                  <a:schemeClr val="tx1"/>
                </a:solidFill>
              </a:rPr>
              <a:t>Fonctionne sans le module IA</a:t>
            </a:r>
            <a:endParaRPr lang="en-US" sz="1500" dirty="0"/>
          </a:p>
        </p:txBody>
      </p:sp>
      <p:sp>
        <p:nvSpPr>
          <p:cNvPr id="7" name="Module IA"/>
          <p:cNvSpPr/>
          <p:nvPr/>
        </p:nvSpPr>
        <p:spPr>
          <a:xfrm>
            <a:off x="7025335" y="1417320"/>
            <a:ext cx="4572000" cy="2651760"/>
          </a:xfrm>
          <a:prstGeom prst="rect">
            <a:avLst/>
          </a:prstGeom>
          <a:solidFill>
            <a:schemeClr val="bg2"/>
          </a:solidFill>
          <a:ln w="9525">
            <a:solidFill>
              <a:schemeClr val="accent5"/>
            </a:solidFill>
            <a:prstDash val="solid"/>
          </a:ln>
        </p:spPr>
      </p:sp>
      <p:sp>
        <p:nvSpPr>
          <p:cNvPr id="8" name="Text 6"/>
          <p:cNvSpPr txBox="1"/>
          <p:nvPr/>
        </p:nvSpPr>
        <p:spPr>
          <a:xfrm>
            <a:off x="7253935" y="1554480"/>
            <a:ext cx="4114800" cy="731520"/>
          </a:xfrm>
          <a:prstGeom prst="rect">
            <a:avLst/>
          </a:prstGeom>
          <a:noFill/>
          <a:ln/>
        </p:spPr>
        <p:txBody>
          <a:bodyPr wrap="square" lIns="0" tIns="0" rIns="0" bIns="0" rtlCol="0" anchor="ctr"/>
          <a:lstStyle/>
          <a:p>
            <a:pPr indent="0" marL="0">
              <a:buNone/>
            </a:pPr>
            <a:r>
              <a:rPr lang="en-US" sz="1900" b="1" dirty="0">
                <a:solidFill>
                  <a:schemeClr val="accent1"/>
                </a:solidFill>
              </a:rPr>
              <a:t>Module IA</a:t>
            </a:r>
            <a:endParaRPr lang="en-US" sz="1900" dirty="0"/>
          </a:p>
          <a:p>
            <a:pPr indent="0" marL="0">
              <a:buNone/>
            </a:pPr>
            <a:r>
              <a:rPr lang="en-US" sz="1400" dirty="0">
                <a:solidFill>
                  <a:schemeClr val="tx2"/>
                </a:solidFill>
              </a:rPr>
              <a:t>Raspberry Pi 5 + AI HAT+ (Hailo-8, 26 TOPS)</a:t>
            </a:r>
            <a:endParaRPr lang="en-US" sz="1900" dirty="0"/>
          </a:p>
        </p:txBody>
      </p:sp>
      <p:sp>
        <p:nvSpPr>
          <p:cNvPr id="9" name="Text 7"/>
          <p:cNvSpPr txBox="1"/>
          <p:nvPr/>
        </p:nvSpPr>
        <p:spPr>
          <a:xfrm>
            <a:off x="7253935" y="2377440"/>
            <a:ext cx="4114800" cy="1600200"/>
          </a:xfrm>
          <a:prstGeom prst="rect">
            <a:avLst/>
          </a:prstGeom>
          <a:noFill/>
          <a:ln/>
        </p:spPr>
        <p:txBody>
          <a:bodyPr wrap="square" lIns="0" tIns="0" rIns="0" bIns="0" rtlCol="0" anchor="t"/>
          <a:lstStyle/>
          <a:p>
            <a:pPr marL="228600" indent="-228600">
              <a:spcAft>
                <a:spcPts val="400"/>
              </a:spcAft>
              <a:buSzPct val="100000"/>
              <a:buChar char="•"/>
            </a:pPr>
            <a:r>
              <a:rPr lang="en-US" sz="1500" dirty="0">
                <a:solidFill>
                  <a:schemeClr val="tx1"/>
                </a:solidFill>
              </a:rPr>
              <a:t>Analyse des images à bord</a:t>
            </a:r>
            <a:endParaRPr lang="en-US" sz="1500" dirty="0"/>
          </a:p>
          <a:p>
            <a:pPr marL="228600" indent="-228600">
              <a:spcAft>
                <a:spcPts val="400"/>
              </a:spcAft>
              <a:buSzPct val="100000"/>
              <a:buChar char="•"/>
            </a:pPr>
            <a:r>
              <a:rPr lang="en-US" sz="1500" dirty="0">
                <a:solidFill>
                  <a:schemeClr val="tx1"/>
                </a:solidFill>
              </a:rPr>
              <a:t>Alertes avec image de preuve</a:t>
            </a:r>
            <a:endParaRPr lang="en-US" sz="1500" dirty="0"/>
          </a:p>
          <a:p>
            <a:pPr marL="228600" indent="-228600">
              <a:spcAft>
                <a:spcPts val="400"/>
              </a:spcAft>
              <a:buSzPct val="100000"/>
              <a:buChar char="•"/>
            </a:pPr>
            <a:r>
              <a:rPr lang="en-US" sz="1500" dirty="0">
                <a:solidFill>
                  <a:schemeClr val="tx1"/>
                </a:solidFill>
              </a:rPr>
              <a:t>Journal local des détections</a:t>
            </a:r>
            <a:endParaRPr lang="en-US" sz="1500" dirty="0"/>
          </a:p>
          <a:p>
            <a:pPr marL="228600" indent="-228600">
              <a:spcAft>
                <a:spcPts val="400"/>
              </a:spcAft>
              <a:buSzPct val="100000"/>
              <a:buChar char="•"/>
            </a:pPr>
            <a:r>
              <a:rPr lang="en-US" sz="1500" dirty="0">
                <a:solidFill>
                  <a:schemeClr val="tx1"/>
                </a:solidFill>
              </a:rPr>
              <a:t>Ne commande jamais les moteurs</a:t>
            </a:r>
            <a:endParaRPr lang="en-US" sz="1500" dirty="0"/>
          </a:p>
        </p:txBody>
      </p:sp>
      <p:sp>
        <p:nvSpPr>
          <p:cNvPr id="10" name="Text 8"/>
          <p:cNvSpPr txBox="1"/>
          <p:nvPr/>
        </p:nvSpPr>
        <p:spPr>
          <a:xfrm>
            <a:off x="5394960" y="2103120"/>
            <a:ext cx="1401775" cy="320040"/>
          </a:xfrm>
          <a:prstGeom prst="rect">
            <a:avLst/>
          </a:prstGeom>
          <a:noFill/>
          <a:ln/>
        </p:spPr>
        <p:txBody>
          <a:bodyPr wrap="square" lIns="0" tIns="0" rIns="0" bIns="0" rtlCol="0" anchor="ctr"/>
          <a:lstStyle/>
          <a:p>
            <a:pPr algn="ctr" indent="0" marL="0">
              <a:buNone/>
            </a:pPr>
            <a:r>
              <a:rPr lang="en-US" sz="1500" b="1" dirty="0">
                <a:solidFill>
                  <a:schemeClr val="tx1"/>
                </a:solidFill>
              </a:rPr>
              <a:t>MAVLink</a:t>
            </a:r>
            <a:endParaRPr lang="en-US" sz="1500" dirty="0"/>
          </a:p>
        </p:txBody>
      </p:sp>
      <p:sp>
        <p:nvSpPr>
          <p:cNvPr id="11" name="Shape 9"/>
          <p:cNvSpPr/>
          <p:nvPr/>
        </p:nvSpPr>
        <p:spPr>
          <a:xfrm>
            <a:off x="5394960" y="2560320"/>
            <a:ext cx="1401775" cy="0"/>
          </a:xfrm>
          <a:prstGeom prst="line">
            <a:avLst/>
          </a:prstGeom>
          <a:noFill/>
          <a:ln w="19050">
            <a:solidFill>
              <a:schemeClr val="tx2"/>
            </a:solidFill>
            <a:prstDash val="solid"/>
            <a:headEnd type="triangle"/>
            <a:tailEnd type="triangle"/>
          </a:ln>
        </p:spPr>
      </p:sp>
      <p:sp>
        <p:nvSpPr>
          <p:cNvPr id="12" name="Text 10"/>
          <p:cNvSpPr txBox="1"/>
          <p:nvPr/>
        </p:nvSpPr>
        <p:spPr>
          <a:xfrm>
            <a:off x="5394960" y="2697480"/>
            <a:ext cx="1401775" cy="822960"/>
          </a:xfrm>
          <a:prstGeom prst="rect">
            <a:avLst/>
          </a:prstGeom>
          <a:noFill/>
          <a:ln/>
        </p:spPr>
        <p:txBody>
          <a:bodyPr wrap="square" lIns="0" tIns="0" rIns="0" bIns="0" rtlCol="0" anchor="t"/>
          <a:lstStyle/>
          <a:p>
            <a:pPr algn="ctr" indent="0" marL="0">
              <a:buNone/>
            </a:pPr>
            <a:r>
              <a:rPr lang="en-US" sz="1200" dirty="0">
                <a:solidFill>
                  <a:schemeClr val="tx2"/>
                </a:solidFill>
              </a:rPr>
              <a:t>position vers le module IA</a:t>
            </a:r>
            <a:endParaRPr lang="en-US" sz="1200" dirty="0"/>
          </a:p>
          <a:p>
            <a:pPr algn="ctr" indent="0" marL="0">
              <a:buNone/>
            </a:pPr>
            <a:r>
              <a:rPr lang="en-US" sz="1200" dirty="0">
                <a:solidFill>
                  <a:schemeClr val="tx2"/>
                </a:solidFill>
              </a:rPr>
              <a:t>alertes vers le sol</a:t>
            </a:r>
            <a:endParaRPr lang="en-US" sz="1200" dirty="0"/>
          </a:p>
        </p:txBody>
      </p:sp>
      <p:sp>
        <p:nvSpPr>
          <p:cNvPr id="13" name="Text 11"/>
          <p:cNvSpPr txBox="1"/>
          <p:nvPr/>
        </p:nvSpPr>
        <p:spPr>
          <a:xfrm>
            <a:off x="594360" y="4297680"/>
            <a:ext cx="11002975" cy="365760"/>
          </a:xfrm>
          <a:prstGeom prst="rect">
            <a:avLst/>
          </a:prstGeom>
          <a:noFill/>
          <a:ln/>
        </p:spPr>
        <p:txBody>
          <a:bodyPr wrap="square" lIns="0" tIns="0" rIns="0" bIns="0" rtlCol="0" anchor="ctr"/>
          <a:lstStyle/>
          <a:p>
            <a:pPr indent="0" marL="0">
              <a:buNone/>
            </a:pPr>
            <a:r>
              <a:rPr lang="en-US" sz="1800" b="1" dirty="0">
                <a:solidFill>
                  <a:schemeClr val="accent1"/>
                </a:solidFill>
              </a:rPr>
              <a:t>Pourquoi deux calculateurs séparés ?</a:t>
            </a:r>
            <a:endParaRPr lang="en-US" sz="1800" dirty="0"/>
          </a:p>
        </p:txBody>
      </p:sp>
      <p:sp>
        <p:nvSpPr>
          <p:cNvPr id="14" name="Text 12"/>
          <p:cNvSpPr txBox="1"/>
          <p:nvPr/>
        </p:nvSpPr>
        <p:spPr>
          <a:xfrm>
            <a:off x="594360" y="4754880"/>
            <a:ext cx="11002975" cy="100584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Si le module IA plante ou chauffe, le vol n'est pas touché</a:t>
            </a:r>
            <a:endParaRPr lang="en-US" sz="1600" dirty="0"/>
          </a:p>
          <a:p>
            <a:pPr marL="228600" indent="-228600">
              <a:spcAft>
                <a:spcPts val="800"/>
              </a:spcAft>
              <a:buSzPct val="100000"/>
              <a:buChar char="•"/>
            </a:pPr>
            <a:r>
              <a:rPr lang="en-US" sz="1600" dirty="0">
                <a:solidFill>
                  <a:schemeClr val="tx1"/>
                </a:solidFill>
              </a:rPr>
              <a:t>Le contrôleur de vol garde des temps de réponse garantis</a:t>
            </a:r>
            <a:endParaRPr lang="en-US" sz="1600" dirty="0"/>
          </a:p>
          <a:p>
            <a:pPr marL="228600" indent="-228600">
              <a:spcAft>
                <a:spcPts val="800"/>
              </a:spcAft>
              <a:buSzPct val="100000"/>
              <a:buChar char="•"/>
            </a:pPr>
            <a:r>
              <a:rPr lang="en-US" sz="1600" dirty="0">
                <a:solidFill>
                  <a:schemeClr val="tx1"/>
                </a:solidFill>
              </a:rPr>
              <a:t>Le retour automatique reste disponible même si l'IA est éteinte</a:t>
            </a:r>
            <a:endParaRPr lang="en-US" sz="1600" dirty="0"/>
          </a:p>
        </p:txBody>
      </p:sp>
      <p:sp>
        <p:nvSpPr>
          <p:cNvPr id="15" name="Text 13"/>
          <p:cNvSpPr txBox="1"/>
          <p:nvPr/>
        </p:nvSpPr>
        <p:spPr>
          <a:xfrm>
            <a:off x="594360" y="5897880"/>
            <a:ext cx="11002975" cy="274320"/>
          </a:xfrm>
          <a:prstGeom prst="rect">
            <a:avLst/>
          </a:prstGeom>
          <a:noFill/>
          <a:ln/>
        </p:spPr>
        <p:txBody>
          <a:bodyPr wrap="square" lIns="0" tIns="0" rIns="0" bIns="0" rtlCol="0" anchor="ctr"/>
          <a:lstStyle/>
          <a:p>
            <a:pPr indent="0" marL="0">
              <a:buNone/>
            </a:pPr>
            <a:r>
              <a:rPr lang="en-US" sz="1200" i="1" dirty="0">
                <a:solidFill>
                  <a:schemeClr val="tx2"/>
                </a:solidFill>
              </a:rPr>
              <a:t>En secours : contrôleur du commerce compatible ArduPilot (Matek H743 ou Pixhawk).</a:t>
            </a:r>
            <a:endParaRPr lang="en-US" sz="1200" dirty="0"/>
          </a:p>
        </p:txBody>
      </p:sp>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685800"/>
          </a:xfrm>
          <a:prstGeom prst="rect">
            <a:avLst/>
          </a:prstGeom>
          <a:noFill/>
          <a:ln/>
        </p:spPr>
        <p:txBody>
          <a:bodyPr wrap="square" lIns="0" tIns="0" rIns="0" bIns="0" rtlCol="0" anchor="ctr"/>
          <a:lstStyle/>
          <a:p>
            <a:pPr algn="l" indent="0" marL="0">
              <a:buNone/>
            </a:pPr>
            <a:r>
              <a:rPr lang="en-US" sz="3000" b="1" dirty="0">
                <a:solidFill>
                  <a:schemeClr val="tx1"/>
                </a:solidFill>
              </a:rPr>
              <a:t>Module d'intelligence artificielle embarquée</a:t>
            </a:r>
            <a:endParaRPr lang="en-US" sz="3000" dirty="0"/>
          </a:p>
        </p:txBody>
      </p:sp>
      <p:sp>
        <p:nvSpPr>
          <p:cNvPr id="3" name="Text 1"/>
          <p:cNvSpPr txBox="1"/>
          <p:nvPr/>
        </p:nvSpPr>
        <p:spPr>
          <a:xfrm>
            <a:off x="7025335" y="6382512"/>
            <a:ext cx="4069080" cy="274320"/>
          </a:xfrm>
          <a:prstGeom prst="rect">
            <a:avLst/>
          </a:prstGeom>
          <a:noFill/>
          <a:ln/>
        </p:spPr>
        <p:txBody>
          <a:bodyPr wrap="square" lIns="0" tIns="0" rIns="0" bIns="0" rtlCol="0" anchor="ctr"/>
          <a:lstStyle/>
          <a:p>
            <a:pPr algn="r" indent="0" marL="0">
              <a:buNone/>
            </a:pPr>
            <a:r>
              <a:rPr lang="en-US" sz="1000" dirty="0">
                <a:solidFill>
                  <a:schemeClr val="tx2"/>
                </a:solidFill>
              </a:rPr>
              <a:t>Roger KAINWANG</a:t>
            </a:r>
            <a:endParaRPr lang="en-US" sz="1000" dirty="0"/>
          </a:p>
        </p:txBody>
      </p:sp>
      <p:sp>
        <p:nvSpPr>
          <p:cNvPr id="4" name="Étape 1"/>
          <p:cNvSpPr/>
          <p:nvPr/>
        </p:nvSpPr>
        <p:spPr>
          <a:xfrm>
            <a:off x="594360" y="1463040"/>
            <a:ext cx="1589989" cy="1051560"/>
          </a:xfrm>
          <a:prstGeom prst="rect">
            <a:avLst/>
          </a:prstGeom>
          <a:solidFill>
            <a:schemeClr val="bg2"/>
          </a:solidFill>
          <a:ln w="9525">
            <a:solidFill>
              <a:schemeClr val="accent5"/>
            </a:solidFill>
            <a:prstDash val="solid"/>
          </a:ln>
        </p:spPr>
      </p:sp>
      <p:sp>
        <p:nvSpPr>
          <p:cNvPr id="5" name="Text 3"/>
          <p:cNvSpPr txBox="1"/>
          <p:nvPr/>
        </p:nvSpPr>
        <p:spPr>
          <a:xfrm>
            <a:off x="685800" y="1536192"/>
            <a:ext cx="1407109" cy="905256"/>
          </a:xfrm>
          <a:prstGeom prst="rect">
            <a:avLst/>
          </a:prstGeom>
          <a:noFill/>
          <a:ln/>
        </p:spPr>
        <p:txBody>
          <a:bodyPr wrap="square" lIns="0" tIns="0" rIns="0" bIns="0" rtlCol="0" anchor="ctr"/>
          <a:lstStyle/>
          <a:p>
            <a:pPr algn="ctr" indent="0" marL="0">
              <a:buNone/>
            </a:pPr>
            <a:r>
              <a:rPr lang="en-US" sz="1500" b="1" dirty="0">
                <a:solidFill>
                  <a:schemeClr val="tx1"/>
                </a:solidFill>
              </a:rPr>
              <a:t>Caméra</a:t>
            </a:r>
            <a:endParaRPr lang="en-US" sz="1500" dirty="0"/>
          </a:p>
          <a:p>
            <a:pPr algn="ctr" indent="0" marL="0">
              <a:buNone/>
            </a:pPr>
            <a:r>
              <a:rPr lang="en-US" sz="1200" dirty="0">
                <a:solidFill>
                  <a:schemeClr val="tx2"/>
                </a:solidFill>
              </a:rPr>
              <a:t>images horodatées</a:t>
            </a:r>
            <a:endParaRPr lang="en-US" sz="1500" dirty="0"/>
          </a:p>
        </p:txBody>
      </p:sp>
      <p:sp>
        <p:nvSpPr>
          <p:cNvPr id="6" name="Shape 4"/>
          <p:cNvSpPr/>
          <p:nvPr/>
        </p:nvSpPr>
        <p:spPr>
          <a:xfrm>
            <a:off x="2220925" y="1988820"/>
            <a:ext cx="219456" cy="0"/>
          </a:xfrm>
          <a:prstGeom prst="line">
            <a:avLst/>
          </a:prstGeom>
          <a:noFill/>
          <a:ln w="19050">
            <a:solidFill>
              <a:schemeClr val="tx2"/>
            </a:solidFill>
            <a:prstDash val="solid"/>
            <a:tailEnd type="triangle"/>
          </a:ln>
        </p:spPr>
      </p:sp>
      <p:sp>
        <p:nvSpPr>
          <p:cNvPr id="7" name="Étape 2"/>
          <p:cNvSpPr/>
          <p:nvPr/>
        </p:nvSpPr>
        <p:spPr>
          <a:xfrm>
            <a:off x="2476957" y="1463040"/>
            <a:ext cx="1589989" cy="1051560"/>
          </a:xfrm>
          <a:prstGeom prst="rect">
            <a:avLst/>
          </a:prstGeom>
          <a:solidFill>
            <a:schemeClr val="bg2"/>
          </a:solidFill>
          <a:ln w="9525">
            <a:solidFill>
              <a:schemeClr val="accent5"/>
            </a:solidFill>
            <a:prstDash val="solid"/>
          </a:ln>
        </p:spPr>
      </p:sp>
      <p:sp>
        <p:nvSpPr>
          <p:cNvPr id="8" name="Text 6"/>
          <p:cNvSpPr txBox="1"/>
          <p:nvPr/>
        </p:nvSpPr>
        <p:spPr>
          <a:xfrm>
            <a:off x="2568397" y="1536192"/>
            <a:ext cx="1407109" cy="905256"/>
          </a:xfrm>
          <a:prstGeom prst="rect">
            <a:avLst/>
          </a:prstGeom>
          <a:noFill/>
          <a:ln/>
        </p:spPr>
        <p:txBody>
          <a:bodyPr wrap="square" lIns="0" tIns="0" rIns="0" bIns="0" rtlCol="0" anchor="ctr"/>
          <a:lstStyle/>
          <a:p>
            <a:pPr algn="ctr" indent="0" marL="0">
              <a:buNone/>
            </a:pPr>
            <a:r>
              <a:rPr lang="en-US" sz="1500" b="1" dirty="0">
                <a:solidFill>
                  <a:schemeClr val="tx1"/>
                </a:solidFill>
              </a:rPr>
              <a:t>Détection</a:t>
            </a:r>
            <a:endParaRPr lang="en-US" sz="1500" dirty="0"/>
          </a:p>
          <a:p>
            <a:pPr algn="ctr" indent="0" marL="0">
              <a:buNone/>
            </a:pPr>
            <a:r>
              <a:rPr lang="en-US" sz="1200" dirty="0">
                <a:solidFill>
                  <a:schemeClr val="tx2"/>
                </a:solidFill>
              </a:rPr>
              <a:t>YOLOv8s sur Hailo-8</a:t>
            </a:r>
            <a:endParaRPr lang="en-US" sz="1500" dirty="0"/>
          </a:p>
        </p:txBody>
      </p:sp>
      <p:sp>
        <p:nvSpPr>
          <p:cNvPr id="9" name="Shape 7"/>
          <p:cNvSpPr/>
          <p:nvPr/>
        </p:nvSpPr>
        <p:spPr>
          <a:xfrm>
            <a:off x="4103522" y="1988820"/>
            <a:ext cx="219456" cy="0"/>
          </a:xfrm>
          <a:prstGeom prst="line">
            <a:avLst/>
          </a:prstGeom>
          <a:noFill/>
          <a:ln w="19050">
            <a:solidFill>
              <a:schemeClr val="tx2"/>
            </a:solidFill>
            <a:prstDash val="solid"/>
            <a:tailEnd type="triangle"/>
          </a:ln>
        </p:spPr>
      </p:sp>
      <p:sp>
        <p:nvSpPr>
          <p:cNvPr id="10" name="Étape 3"/>
          <p:cNvSpPr/>
          <p:nvPr/>
        </p:nvSpPr>
        <p:spPr>
          <a:xfrm>
            <a:off x="4359554" y="1463040"/>
            <a:ext cx="1589989" cy="1051560"/>
          </a:xfrm>
          <a:prstGeom prst="rect">
            <a:avLst/>
          </a:prstGeom>
          <a:solidFill>
            <a:schemeClr val="bg2"/>
          </a:solidFill>
          <a:ln w="9525">
            <a:solidFill>
              <a:schemeClr val="accent5"/>
            </a:solidFill>
            <a:prstDash val="solid"/>
          </a:ln>
        </p:spPr>
      </p:sp>
      <p:sp>
        <p:nvSpPr>
          <p:cNvPr id="11" name="Text 9"/>
          <p:cNvSpPr txBox="1"/>
          <p:nvPr/>
        </p:nvSpPr>
        <p:spPr>
          <a:xfrm>
            <a:off x="4450994" y="1536192"/>
            <a:ext cx="1407109" cy="905256"/>
          </a:xfrm>
          <a:prstGeom prst="rect">
            <a:avLst/>
          </a:prstGeom>
          <a:noFill/>
          <a:ln/>
        </p:spPr>
        <p:txBody>
          <a:bodyPr wrap="square" lIns="0" tIns="0" rIns="0" bIns="0" rtlCol="0" anchor="ctr"/>
          <a:lstStyle/>
          <a:p>
            <a:pPr algn="ctr" indent="0" marL="0">
              <a:buNone/>
            </a:pPr>
            <a:r>
              <a:rPr lang="en-US" sz="1500" b="1" dirty="0">
                <a:solidFill>
                  <a:schemeClr val="tx1"/>
                </a:solidFill>
              </a:rPr>
              <a:t>Zone d'intérêt</a:t>
            </a:r>
            <a:endParaRPr lang="en-US" sz="1500" dirty="0"/>
          </a:p>
          <a:p>
            <a:pPr algn="ctr" indent="0" marL="0">
              <a:buNone/>
            </a:pPr>
            <a:r>
              <a:rPr lang="en-US" sz="1200" dirty="0">
                <a:solidFill>
                  <a:schemeClr val="tx2"/>
                </a:solidFill>
              </a:rPr>
              <a:t>piste et abords</a:t>
            </a:r>
            <a:endParaRPr lang="en-US" sz="1500" dirty="0"/>
          </a:p>
        </p:txBody>
      </p:sp>
      <p:sp>
        <p:nvSpPr>
          <p:cNvPr id="12" name="Shape 10"/>
          <p:cNvSpPr/>
          <p:nvPr/>
        </p:nvSpPr>
        <p:spPr>
          <a:xfrm>
            <a:off x="5986120" y="1988820"/>
            <a:ext cx="219456" cy="0"/>
          </a:xfrm>
          <a:prstGeom prst="line">
            <a:avLst/>
          </a:prstGeom>
          <a:noFill/>
          <a:ln w="19050">
            <a:solidFill>
              <a:schemeClr val="tx2"/>
            </a:solidFill>
            <a:prstDash val="solid"/>
            <a:tailEnd type="triangle"/>
          </a:ln>
        </p:spPr>
      </p:sp>
      <p:sp>
        <p:nvSpPr>
          <p:cNvPr id="13" name="Étape 4"/>
          <p:cNvSpPr/>
          <p:nvPr/>
        </p:nvSpPr>
        <p:spPr>
          <a:xfrm>
            <a:off x="6242152" y="1463040"/>
            <a:ext cx="1589989" cy="1051560"/>
          </a:xfrm>
          <a:prstGeom prst="rect">
            <a:avLst/>
          </a:prstGeom>
          <a:solidFill>
            <a:schemeClr val="bg2"/>
          </a:solidFill>
          <a:ln w="9525">
            <a:solidFill>
              <a:schemeClr val="accent5"/>
            </a:solidFill>
            <a:prstDash val="solid"/>
          </a:ln>
        </p:spPr>
      </p:sp>
      <p:sp>
        <p:nvSpPr>
          <p:cNvPr id="14" name="Text 12"/>
          <p:cNvSpPr txBox="1"/>
          <p:nvPr/>
        </p:nvSpPr>
        <p:spPr>
          <a:xfrm>
            <a:off x="6333592" y="1536192"/>
            <a:ext cx="1407109" cy="905256"/>
          </a:xfrm>
          <a:prstGeom prst="rect">
            <a:avLst/>
          </a:prstGeom>
          <a:noFill/>
          <a:ln/>
        </p:spPr>
        <p:txBody>
          <a:bodyPr wrap="square" lIns="0" tIns="0" rIns="0" bIns="0" rtlCol="0" anchor="ctr"/>
          <a:lstStyle/>
          <a:p>
            <a:pPr algn="ctr" indent="0" marL="0">
              <a:buNone/>
            </a:pPr>
            <a:r>
              <a:rPr lang="en-US" sz="1500" b="1" dirty="0">
                <a:solidFill>
                  <a:schemeClr val="tx1"/>
                </a:solidFill>
              </a:rPr>
              <a:t>Suivi</a:t>
            </a:r>
            <a:endParaRPr lang="en-US" sz="1500" dirty="0"/>
          </a:p>
          <a:p>
            <a:pPr algn="ctr" indent="0" marL="0">
              <a:buNone/>
            </a:pPr>
            <a:r>
              <a:rPr lang="en-US" sz="1200" dirty="0">
                <a:solidFill>
                  <a:schemeClr val="tx2"/>
                </a:solidFill>
              </a:rPr>
              <a:t>un objet, une alerte</a:t>
            </a:r>
            <a:endParaRPr lang="en-US" sz="1500" dirty="0"/>
          </a:p>
        </p:txBody>
      </p:sp>
      <p:sp>
        <p:nvSpPr>
          <p:cNvPr id="15" name="Shape 13"/>
          <p:cNvSpPr/>
          <p:nvPr/>
        </p:nvSpPr>
        <p:spPr>
          <a:xfrm>
            <a:off x="7868717" y="1988820"/>
            <a:ext cx="219456" cy="0"/>
          </a:xfrm>
          <a:prstGeom prst="line">
            <a:avLst/>
          </a:prstGeom>
          <a:noFill/>
          <a:ln w="19050">
            <a:solidFill>
              <a:schemeClr val="tx2"/>
            </a:solidFill>
            <a:prstDash val="solid"/>
            <a:tailEnd type="triangle"/>
          </a:ln>
        </p:spPr>
      </p:sp>
      <p:sp>
        <p:nvSpPr>
          <p:cNvPr id="16" name="Étape 5"/>
          <p:cNvSpPr/>
          <p:nvPr/>
        </p:nvSpPr>
        <p:spPr>
          <a:xfrm>
            <a:off x="8124749" y="1463040"/>
            <a:ext cx="1589989" cy="1051560"/>
          </a:xfrm>
          <a:prstGeom prst="rect">
            <a:avLst/>
          </a:prstGeom>
          <a:solidFill>
            <a:schemeClr val="bg2"/>
          </a:solidFill>
          <a:ln w="9525">
            <a:solidFill>
              <a:schemeClr val="accent5"/>
            </a:solidFill>
            <a:prstDash val="solid"/>
          </a:ln>
        </p:spPr>
      </p:sp>
      <p:sp>
        <p:nvSpPr>
          <p:cNvPr id="17" name="Text 15"/>
          <p:cNvSpPr txBox="1"/>
          <p:nvPr/>
        </p:nvSpPr>
        <p:spPr>
          <a:xfrm>
            <a:off x="8216189" y="1536192"/>
            <a:ext cx="1407109" cy="905256"/>
          </a:xfrm>
          <a:prstGeom prst="rect">
            <a:avLst/>
          </a:prstGeom>
          <a:noFill/>
          <a:ln/>
        </p:spPr>
        <p:txBody>
          <a:bodyPr wrap="square" lIns="0" tIns="0" rIns="0" bIns="0" rtlCol="0" anchor="ctr"/>
          <a:lstStyle/>
          <a:p>
            <a:pPr algn="ctr" indent="0" marL="0">
              <a:buNone/>
            </a:pPr>
            <a:r>
              <a:rPr lang="en-US" sz="1500" b="1" dirty="0">
                <a:solidFill>
                  <a:schemeClr val="tx1"/>
                </a:solidFill>
              </a:rPr>
              <a:t>Alerte</a:t>
            </a:r>
            <a:endParaRPr lang="en-US" sz="1500" dirty="0"/>
          </a:p>
          <a:p>
            <a:pPr algn="ctr" indent="0" marL="0">
              <a:buNone/>
            </a:pPr>
            <a:r>
              <a:rPr lang="en-US" sz="1200" dirty="0">
                <a:solidFill>
                  <a:schemeClr val="tx2"/>
                </a:solidFill>
              </a:rPr>
              <a:t>avec image de preuve</a:t>
            </a:r>
            <a:endParaRPr lang="en-US" sz="1500" dirty="0"/>
          </a:p>
        </p:txBody>
      </p:sp>
      <p:sp>
        <p:nvSpPr>
          <p:cNvPr id="18" name="Shape 16"/>
          <p:cNvSpPr/>
          <p:nvPr/>
        </p:nvSpPr>
        <p:spPr>
          <a:xfrm>
            <a:off x="9751314" y="1988820"/>
            <a:ext cx="219456" cy="0"/>
          </a:xfrm>
          <a:prstGeom prst="line">
            <a:avLst/>
          </a:prstGeom>
          <a:noFill/>
          <a:ln w="19050">
            <a:solidFill>
              <a:schemeClr val="tx2"/>
            </a:solidFill>
            <a:prstDash val="solid"/>
            <a:tailEnd type="triangle"/>
          </a:ln>
        </p:spPr>
      </p:sp>
      <p:sp>
        <p:nvSpPr>
          <p:cNvPr id="19" name="Étape 6"/>
          <p:cNvSpPr/>
          <p:nvPr/>
        </p:nvSpPr>
        <p:spPr>
          <a:xfrm>
            <a:off x="10007346" y="1463040"/>
            <a:ext cx="1589989" cy="1051560"/>
          </a:xfrm>
          <a:prstGeom prst="rect">
            <a:avLst/>
          </a:prstGeom>
          <a:solidFill>
            <a:schemeClr val="bg2"/>
          </a:solidFill>
          <a:ln w="9525">
            <a:solidFill>
              <a:schemeClr val="accent5"/>
            </a:solidFill>
            <a:prstDash val="solid"/>
          </a:ln>
        </p:spPr>
      </p:sp>
      <p:sp>
        <p:nvSpPr>
          <p:cNvPr id="20" name="Text 18"/>
          <p:cNvSpPr txBox="1"/>
          <p:nvPr/>
        </p:nvSpPr>
        <p:spPr>
          <a:xfrm>
            <a:off x="10098786" y="1536192"/>
            <a:ext cx="1407109" cy="905256"/>
          </a:xfrm>
          <a:prstGeom prst="rect">
            <a:avLst/>
          </a:prstGeom>
          <a:noFill/>
          <a:ln/>
        </p:spPr>
        <p:txBody>
          <a:bodyPr wrap="square" lIns="0" tIns="0" rIns="0" bIns="0" rtlCol="0" anchor="ctr"/>
          <a:lstStyle/>
          <a:p>
            <a:pPr algn="ctr" indent="0" marL="0">
              <a:buNone/>
            </a:pPr>
            <a:r>
              <a:rPr lang="en-US" sz="1500" b="1" dirty="0">
                <a:solidFill>
                  <a:schemeClr val="tx1"/>
                </a:solidFill>
              </a:rPr>
              <a:t>Station sol</a:t>
            </a:r>
            <a:endParaRPr lang="en-US" sz="1500" dirty="0"/>
          </a:p>
          <a:p>
            <a:pPr algn="ctr" indent="0" marL="0">
              <a:buNone/>
            </a:pPr>
            <a:r>
              <a:rPr lang="en-US" sz="1200" dirty="0">
                <a:solidFill>
                  <a:schemeClr val="tx2"/>
                </a:solidFill>
              </a:rPr>
              <a:t>par la liaison sécurisée</a:t>
            </a:r>
            <a:endParaRPr lang="en-US" sz="1500" dirty="0"/>
          </a:p>
        </p:txBody>
      </p:sp>
      <p:sp>
        <p:nvSpPr>
          <p:cNvPr id="21" name="Text 19"/>
          <p:cNvSpPr txBox="1"/>
          <p:nvPr/>
        </p:nvSpPr>
        <p:spPr>
          <a:xfrm>
            <a:off x="594360" y="2880360"/>
            <a:ext cx="5227168" cy="365760"/>
          </a:xfrm>
          <a:prstGeom prst="rect">
            <a:avLst/>
          </a:prstGeom>
          <a:noFill/>
          <a:ln/>
        </p:spPr>
        <p:txBody>
          <a:bodyPr wrap="square" lIns="0" tIns="0" rIns="0" bIns="0" rtlCol="0" anchor="ctr"/>
          <a:lstStyle/>
          <a:p>
            <a:pPr indent="0" marL="0">
              <a:buNone/>
            </a:pPr>
            <a:r>
              <a:rPr lang="en-US" sz="1800" b="1" dirty="0">
                <a:solidFill>
                  <a:schemeClr val="accent1"/>
                </a:solidFill>
              </a:rPr>
              <a:t>Matériel et modèle</a:t>
            </a:r>
            <a:endParaRPr lang="en-US" sz="1800" dirty="0"/>
          </a:p>
        </p:txBody>
      </p:sp>
      <p:sp>
        <p:nvSpPr>
          <p:cNvPr id="22" name="Text 20"/>
          <p:cNvSpPr txBox="1"/>
          <p:nvPr/>
        </p:nvSpPr>
        <p:spPr>
          <a:xfrm>
            <a:off x="594360" y="3337560"/>
            <a:ext cx="5227168" cy="256032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Raspberry Pi 5 + AI HAT+ 26 TOPS (Hailo-8)</a:t>
            </a:r>
            <a:endParaRPr lang="en-US" sz="1600" dirty="0"/>
          </a:p>
          <a:p>
            <a:pPr marL="228600" indent="-228600">
              <a:spcAft>
                <a:spcPts val="800"/>
              </a:spcAft>
              <a:buSzPct val="100000"/>
              <a:buChar char="•"/>
            </a:pPr>
            <a:r>
              <a:rPr lang="en-US" sz="1600" dirty="0">
                <a:solidFill>
                  <a:schemeClr val="tx1"/>
                </a:solidFill>
              </a:rPr>
              <a:t>Détecteur YOLOv8s adapté par fine-tuning sur FOD-A et sur des images de notre caméra</a:t>
            </a:r>
            <a:endParaRPr lang="en-US" sz="1600" dirty="0"/>
          </a:p>
          <a:p>
            <a:pPr marL="228600" indent="-228600">
              <a:spcAft>
                <a:spcPts val="800"/>
              </a:spcAft>
              <a:buSzPct val="100000"/>
              <a:buChar char="•"/>
            </a:pPr>
            <a:r>
              <a:rPr lang="en-US" sz="1600" dirty="0">
                <a:solidFill>
                  <a:schemeClr val="tx1"/>
                </a:solidFill>
              </a:rPr>
              <a:t>Trois classes : personnes, véhicules, débris au sol</a:t>
            </a:r>
            <a:endParaRPr lang="en-US" sz="1600" dirty="0"/>
          </a:p>
        </p:txBody>
      </p:sp>
      <p:sp>
        <p:nvSpPr>
          <p:cNvPr id="23" name="Text 21"/>
          <p:cNvSpPr txBox="1"/>
          <p:nvPr/>
        </p:nvSpPr>
        <p:spPr>
          <a:xfrm>
            <a:off x="6370168" y="2880360"/>
            <a:ext cx="5227168" cy="365760"/>
          </a:xfrm>
          <a:prstGeom prst="rect">
            <a:avLst/>
          </a:prstGeom>
          <a:noFill/>
          <a:ln/>
        </p:spPr>
        <p:txBody>
          <a:bodyPr wrap="square" lIns="0" tIns="0" rIns="0" bIns="0" rtlCol="0" anchor="ctr"/>
          <a:lstStyle/>
          <a:p>
            <a:pPr indent="0" marL="0">
              <a:buNone/>
            </a:pPr>
            <a:r>
              <a:rPr lang="en-US" sz="1800" b="1" dirty="0">
                <a:solidFill>
                  <a:schemeClr val="accent1"/>
                </a:solidFill>
              </a:rPr>
              <a:t>Fonctionnement</a:t>
            </a:r>
            <a:endParaRPr lang="en-US" sz="1800" dirty="0"/>
          </a:p>
        </p:txBody>
      </p:sp>
      <p:sp>
        <p:nvSpPr>
          <p:cNvPr id="24" name="Text 22"/>
          <p:cNvSpPr txBox="1"/>
          <p:nvPr/>
        </p:nvSpPr>
        <p:spPr>
          <a:xfrm>
            <a:off x="6370168" y="3337560"/>
            <a:ext cx="5227168" cy="256032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Tout le traitement se fait à bord, sans internet</a:t>
            </a:r>
            <a:endParaRPr lang="en-US" sz="1600" dirty="0"/>
          </a:p>
          <a:p>
            <a:pPr marL="228600" indent="-228600">
              <a:spcAft>
                <a:spcPts val="800"/>
              </a:spcAft>
              <a:buSzPct val="100000"/>
              <a:buChar char="•"/>
            </a:pPr>
            <a:r>
              <a:rPr lang="en-US" sz="1600" dirty="0">
                <a:solidFill>
                  <a:schemeClr val="tx1"/>
                </a:solidFill>
              </a:rPr>
              <a:t>Un objet inconnu est signalé « à vérifier » avec son image</a:t>
            </a:r>
            <a:endParaRPr lang="en-US" sz="1600" dirty="0"/>
          </a:p>
          <a:p>
            <a:pPr marL="228600" indent="-228600">
              <a:spcAft>
                <a:spcPts val="800"/>
              </a:spcAft>
              <a:buSzPct val="100000"/>
              <a:buChar char="•"/>
            </a:pPr>
            <a:r>
              <a:rPr lang="en-US" sz="1600" dirty="0">
                <a:solidFill>
                  <a:schemeClr val="tx1"/>
                </a:solidFill>
              </a:rPr>
              <a:t>Si la liaison est coupée, les alertes sont gardées à bord puis envoyées</a:t>
            </a:r>
            <a:endParaRPr lang="en-US" sz="1600" dirty="0"/>
          </a:p>
        </p:txBody>
      </p:sp>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685800"/>
          </a:xfrm>
          <a:prstGeom prst="rect">
            <a:avLst/>
          </a:prstGeom>
          <a:noFill/>
          <a:ln/>
        </p:spPr>
        <p:txBody>
          <a:bodyPr wrap="square" lIns="0" tIns="0" rIns="0" bIns="0" rtlCol="0" anchor="ctr"/>
          <a:lstStyle/>
          <a:p>
            <a:pPr algn="l" indent="0" marL="0">
              <a:buNone/>
            </a:pPr>
            <a:r>
              <a:rPr lang="en-US" sz="3000" b="1" dirty="0">
                <a:solidFill>
                  <a:schemeClr val="tx1"/>
                </a:solidFill>
              </a:rPr>
              <a:t>Station sol et communications</a:t>
            </a:r>
            <a:endParaRPr lang="en-US" sz="3000" dirty="0"/>
          </a:p>
        </p:txBody>
      </p:sp>
      <p:sp>
        <p:nvSpPr>
          <p:cNvPr id="3" name="Text 1"/>
          <p:cNvSpPr txBox="1"/>
          <p:nvPr/>
        </p:nvSpPr>
        <p:spPr>
          <a:xfrm>
            <a:off x="7025335" y="6382512"/>
            <a:ext cx="4069080" cy="274320"/>
          </a:xfrm>
          <a:prstGeom prst="rect">
            <a:avLst/>
          </a:prstGeom>
          <a:noFill/>
          <a:ln/>
        </p:spPr>
        <p:txBody>
          <a:bodyPr wrap="square" lIns="0" tIns="0" rIns="0" bIns="0" rtlCol="0" anchor="ctr"/>
          <a:lstStyle/>
          <a:p>
            <a:pPr algn="r" indent="0" marL="0">
              <a:buNone/>
            </a:pPr>
            <a:r>
              <a:rPr lang="en-US" sz="1000" dirty="0">
                <a:solidFill>
                  <a:schemeClr val="tx2"/>
                </a:solidFill>
              </a:rPr>
              <a:t>Angelo LOGO ADANTO et Makafui de MEDEIROS</a:t>
            </a:r>
            <a:endParaRPr lang="en-US" sz="1000" dirty="0"/>
          </a:p>
        </p:txBody>
      </p:sp>
      <p:sp>
        <p:nvSpPr>
          <p:cNvPr id="4" name="Text 2"/>
          <p:cNvSpPr txBox="1"/>
          <p:nvPr/>
        </p:nvSpPr>
        <p:spPr>
          <a:xfrm>
            <a:off x="594360" y="1417320"/>
            <a:ext cx="5227168" cy="365760"/>
          </a:xfrm>
          <a:prstGeom prst="rect">
            <a:avLst/>
          </a:prstGeom>
          <a:noFill/>
          <a:ln/>
        </p:spPr>
        <p:txBody>
          <a:bodyPr wrap="square" lIns="0" tIns="0" rIns="0" bIns="0" rtlCol="0" anchor="ctr"/>
          <a:lstStyle/>
          <a:p>
            <a:pPr indent="0" marL="0">
              <a:buNone/>
            </a:pPr>
            <a:r>
              <a:rPr lang="en-US" sz="1800" b="1" dirty="0">
                <a:solidFill>
                  <a:schemeClr val="accent1"/>
                </a:solidFill>
              </a:rPr>
              <a:t>Logiciel et station sol</a:t>
            </a:r>
            <a:endParaRPr lang="en-US" sz="1800" dirty="0"/>
          </a:p>
        </p:txBody>
      </p:sp>
      <p:sp>
        <p:nvSpPr>
          <p:cNvPr id="5" name="Text 3"/>
          <p:cNvSpPr txBox="1"/>
          <p:nvPr/>
        </p:nvSpPr>
        <p:spPr>
          <a:xfrm>
            <a:off x="594360" y="1874520"/>
            <a:ext cx="5227168" cy="205740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Station sol en Flutter, version mobile et web</a:t>
            </a:r>
            <a:endParaRPr lang="en-US" sz="1600" dirty="0"/>
          </a:p>
          <a:p>
            <a:pPr marL="228600" indent="-228600">
              <a:spcAft>
                <a:spcPts val="800"/>
              </a:spcAft>
              <a:buSzPct val="100000"/>
              <a:buChar char="•"/>
            </a:pPr>
            <a:r>
              <a:rPr lang="en-US" sz="1600" dirty="0">
                <a:solidFill>
                  <a:schemeClr val="tx1"/>
                </a:solidFill>
              </a:rPr>
              <a:t>ArduPilot adapté à notre drone, avec délimitation de zone</a:t>
            </a:r>
            <a:endParaRPr lang="en-US" sz="1600" dirty="0"/>
          </a:p>
          <a:p>
            <a:pPr marL="228600" indent="-228600">
              <a:spcAft>
                <a:spcPts val="800"/>
              </a:spcAft>
              <a:buSzPct val="100000"/>
              <a:buChar char="•"/>
            </a:pPr>
            <a:r>
              <a:rPr lang="en-US" sz="1600" dirty="0">
                <a:solidFill>
                  <a:schemeClr val="tx1"/>
                </a:solidFill>
              </a:rPr>
              <a:t>Télémétrie MAVLink en direct</a:t>
            </a:r>
            <a:endParaRPr lang="en-US" sz="1600" dirty="0"/>
          </a:p>
          <a:p>
            <a:pPr marL="228600" indent="-228600">
              <a:spcAft>
                <a:spcPts val="800"/>
              </a:spcAft>
              <a:buSzPct val="100000"/>
              <a:buChar char="•"/>
            </a:pPr>
            <a:r>
              <a:rPr lang="en-US" sz="1600" dirty="0">
                <a:solidFill>
                  <a:schemeClr val="tx1"/>
                </a:solidFill>
              </a:rPr>
              <a:t>Alertes de l'IA avec leur image, enregistrement vidéo</a:t>
            </a:r>
            <a:endParaRPr lang="en-US" sz="1600" dirty="0"/>
          </a:p>
          <a:p>
            <a:pPr marL="228600" indent="-228600">
              <a:spcAft>
                <a:spcPts val="800"/>
              </a:spcAft>
              <a:buSzPct val="100000"/>
              <a:buChar char="•"/>
            </a:pPr>
            <a:r>
              <a:rPr lang="en-US" sz="1600" dirty="0">
                <a:solidFill>
                  <a:schemeClr val="tx1"/>
                </a:solidFill>
              </a:rPr>
              <a:t>Historique des vols : API REST et base MySQL</a:t>
            </a:r>
            <a:endParaRPr lang="en-US" sz="1600" dirty="0"/>
          </a:p>
        </p:txBody>
      </p:sp>
      <p:sp>
        <p:nvSpPr>
          <p:cNvPr id="6" name="Text 4"/>
          <p:cNvSpPr txBox="1"/>
          <p:nvPr/>
        </p:nvSpPr>
        <p:spPr>
          <a:xfrm>
            <a:off x="6370168" y="1417320"/>
            <a:ext cx="5227168" cy="365760"/>
          </a:xfrm>
          <a:prstGeom prst="rect">
            <a:avLst/>
          </a:prstGeom>
          <a:noFill/>
          <a:ln/>
        </p:spPr>
        <p:txBody>
          <a:bodyPr wrap="square" lIns="0" tIns="0" rIns="0" bIns="0" rtlCol="0" anchor="ctr"/>
          <a:lstStyle/>
          <a:p>
            <a:pPr indent="0" marL="0">
              <a:buNone/>
            </a:pPr>
            <a:r>
              <a:rPr lang="en-US" sz="1800" b="1" dirty="0">
                <a:solidFill>
                  <a:schemeClr val="accent1"/>
                </a:solidFill>
              </a:rPr>
              <a:t>Sécurité des communications</a:t>
            </a:r>
            <a:endParaRPr lang="en-US" sz="1800" dirty="0"/>
          </a:p>
        </p:txBody>
      </p:sp>
      <p:sp>
        <p:nvSpPr>
          <p:cNvPr id="7" name="Text 5"/>
          <p:cNvSpPr txBox="1"/>
          <p:nvPr/>
        </p:nvSpPr>
        <p:spPr>
          <a:xfrm>
            <a:off x="6370168" y="1874520"/>
            <a:ext cx="5227168" cy="205740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Liaison chiffrée, messages MAVLink signés</a:t>
            </a:r>
            <a:endParaRPr lang="en-US" sz="1600" dirty="0"/>
          </a:p>
          <a:p>
            <a:pPr marL="228600" indent="-228600">
              <a:spcAft>
                <a:spcPts val="800"/>
              </a:spcAft>
              <a:buSzPct val="100000"/>
              <a:buChar char="•"/>
            </a:pPr>
            <a:r>
              <a:rPr lang="en-US" sz="1600" dirty="0">
                <a:solidFill>
                  <a:schemeClr val="tx1"/>
                </a:solidFill>
              </a:rPr>
              <a:t>Détection du brouillage</a:t>
            </a:r>
            <a:endParaRPr lang="en-US" sz="1600" dirty="0"/>
          </a:p>
          <a:p>
            <a:pPr marL="228600" indent="-228600">
              <a:spcAft>
                <a:spcPts val="800"/>
              </a:spcAft>
              <a:buSzPct val="100000"/>
              <a:buChar char="•"/>
            </a:pPr>
            <a:r>
              <a:rPr lang="en-US" sz="1600" dirty="0">
                <a:solidFill>
                  <a:schemeClr val="tx1"/>
                </a:solidFill>
              </a:rPr>
              <a:t>Contrôle de cohérence du GPS contre le leurrage</a:t>
            </a:r>
            <a:endParaRPr lang="en-US" sz="1600" dirty="0"/>
          </a:p>
          <a:p>
            <a:pPr marL="228600" indent="-228600">
              <a:spcAft>
                <a:spcPts val="800"/>
              </a:spcAft>
              <a:buSzPct val="100000"/>
              <a:buChar char="•"/>
            </a:pPr>
            <a:r>
              <a:rPr lang="en-US" sz="1600" dirty="0">
                <a:solidFill>
                  <a:schemeClr val="tx1"/>
                </a:solidFill>
              </a:rPr>
              <a:t>Canal d'urgence indépendant : retour ou coupure</a:t>
            </a:r>
            <a:endParaRPr lang="en-US" sz="1600" dirty="0"/>
          </a:p>
          <a:p>
            <a:pPr marL="228600" indent="-228600">
              <a:spcAft>
                <a:spcPts val="800"/>
              </a:spcAft>
              <a:buSzPct val="100000"/>
              <a:buChar char="•"/>
            </a:pPr>
            <a:r>
              <a:rPr lang="en-US" sz="1600" dirty="0">
                <a:solidFill>
                  <a:schemeClr val="tx1"/>
                </a:solidFill>
              </a:rPr>
              <a:t>Liaison satellite de secours en cours d'essai</a:t>
            </a:r>
            <a:endParaRPr lang="en-US" sz="1600" dirty="0"/>
          </a:p>
        </p:txBody>
      </p:sp>
      <p:sp>
        <p:nvSpPr>
          <p:cNvPr id="8" name="Text 6"/>
          <p:cNvSpPr txBox="1"/>
          <p:nvPr/>
        </p:nvSpPr>
        <p:spPr>
          <a:xfrm>
            <a:off x="594360" y="4160520"/>
            <a:ext cx="11002975" cy="365760"/>
          </a:xfrm>
          <a:prstGeom prst="rect">
            <a:avLst/>
          </a:prstGeom>
          <a:noFill/>
          <a:ln/>
        </p:spPr>
        <p:txBody>
          <a:bodyPr wrap="square" lIns="0" tIns="0" rIns="0" bIns="0" rtlCol="0" anchor="ctr"/>
          <a:lstStyle/>
          <a:p>
            <a:pPr indent="0" marL="0">
              <a:buNone/>
            </a:pPr>
            <a:r>
              <a:rPr lang="en-US" sz="1800" b="1" dirty="0">
                <a:solidFill>
                  <a:schemeClr val="accent1"/>
                </a:solidFill>
              </a:rPr>
              <a:t>Trois liaisons indépendantes</a:t>
            </a:r>
            <a:endParaRPr lang="en-US" sz="1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94360" y="4617720"/>
          <a:ext cx="11002975" cy="914400"/>
        </p:xfrm>
        <a:graphic>
          <a:graphicData uri="http://schemas.openxmlformats.org/drawingml/2006/table">
            <a:tbl>
              <a:tblPr/>
              <a:tblGrid>
                <a:gridCol w="3657600"/>
                <a:gridCol w="4572000"/>
                <a:gridCol w="2773375"/>
              </a:tblGrid>
              <a:tr h="411480">
                <a:tc>
                  <a:txBody>
                    <a:bodyPr/>
                    <a:lstStyle/>
                    <a:p>
                      <a:pPr indent="0" marL="0">
                        <a:buNone/>
                      </a:pPr>
                      <a:r>
                        <a:rPr lang="en-US" sz="1400" b="1" dirty="0">
                          <a:solidFill>
                            <a:schemeClr val="accent1"/>
                          </a:solidFill>
                        </a:rPr>
                        <a:t>Liaison</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1"/>
                          </a:solidFill>
                        </a:rPr>
                        <a:t>Ce qu'elle transporte</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1"/>
                          </a:solidFill>
                        </a:rPr>
                        <a:t>Portée visée</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r>
              <a:tr h="411480">
                <a:tc>
                  <a:txBody>
                    <a:bodyPr/>
                    <a:lstStyle/>
                    <a:p>
                      <a:pPr indent="0" marL="0">
                        <a:buNone/>
                      </a:pPr>
                      <a:r>
                        <a:rPr lang="en-US" sz="1400" b="1" dirty="0">
                          <a:solidFill>
                            <a:schemeClr val="tx1"/>
                          </a:solidFill>
                        </a:rPr>
                        <a:t>Vidéo HD</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400" dirty="0">
                          <a:solidFill>
                            <a:schemeClr val="tx1"/>
                          </a:solidFill>
                        </a:rPr>
                        <a:t>Image de la caméra et informations de vol</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400" dirty="0">
                          <a:solidFill>
                            <a:schemeClr val="tx1"/>
                          </a:solidFill>
                        </a:rPr>
                        <a:t>10 à 15 km</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11480">
                <a:tc>
                  <a:txBody>
                    <a:bodyPr/>
                    <a:lstStyle/>
                    <a:p>
                      <a:pPr indent="0" marL="0">
                        <a:buNone/>
                      </a:pPr>
                      <a:r>
                        <a:rPr lang="en-US" sz="1400" b="1" dirty="0">
                          <a:solidFill>
                            <a:schemeClr val="tx1"/>
                          </a:solidFill>
                        </a:rPr>
                        <a:t>Radio longue portée chiffrée</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400" dirty="0">
                          <a:solidFill>
                            <a:schemeClr val="tx1"/>
                          </a:solidFill>
                        </a:rPr>
                        <a:t>Télémétrie, ordres et alertes de l'IA</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400" dirty="0">
                          <a:solidFill>
                            <a:schemeClr val="tx1"/>
                          </a:solidFill>
                        </a:rPr>
                        <a:t>30 à 50 km (théorique)</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11480">
                <a:tc>
                  <a:txBody>
                    <a:bodyPr/>
                    <a:lstStyle/>
                    <a:p>
                      <a:pPr indent="0" marL="0">
                        <a:buNone/>
                      </a:pPr>
                      <a:r>
                        <a:rPr lang="en-US" sz="1400" b="1" dirty="0">
                          <a:solidFill>
                            <a:schemeClr val="tx1"/>
                          </a:solidFill>
                        </a:rPr>
                        <a:t>Canal d'urgence ExpressLRS</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400" dirty="0">
                          <a:solidFill>
                            <a:schemeClr val="tx1"/>
                          </a:solidFill>
                        </a:rPr>
                        <a:t>Retour au point de départ, coupure des moteurs</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400" dirty="0">
                          <a:solidFill>
                            <a:schemeClr val="tx1"/>
                          </a:solidFill>
                        </a:rPr>
                        <a:t>Indépendant des autres</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685800"/>
          </a:xfrm>
          <a:prstGeom prst="rect">
            <a:avLst/>
          </a:prstGeom>
          <a:noFill/>
          <a:ln/>
        </p:spPr>
        <p:txBody>
          <a:bodyPr wrap="square" lIns="0" tIns="0" rIns="0" bIns="0" rtlCol="0" anchor="ctr"/>
          <a:lstStyle/>
          <a:p>
            <a:pPr algn="l" indent="0" marL="0">
              <a:buNone/>
            </a:pPr>
            <a:r>
              <a:rPr lang="en-US" sz="3000" b="1" dirty="0">
                <a:solidFill>
                  <a:schemeClr val="tx1"/>
                </a:solidFill>
              </a:rPr>
              <a:t>Ce que notre drone apporte de nouveau</a:t>
            </a:r>
            <a:endParaRPr lang="en-US" sz="3000" dirty="0"/>
          </a:p>
        </p:txBody>
      </p:sp>
      <p:sp>
        <p:nvSpPr>
          <p:cNvPr id="3" name="Text 1"/>
          <p:cNvSpPr txBox="1"/>
          <p:nvPr/>
        </p:nvSpPr>
        <p:spPr>
          <a:xfrm>
            <a:off x="7025335" y="6382512"/>
            <a:ext cx="4069080" cy="274320"/>
          </a:xfrm>
          <a:prstGeom prst="rect">
            <a:avLst/>
          </a:prstGeom>
          <a:noFill/>
          <a:ln/>
        </p:spPr>
        <p:txBody>
          <a:bodyPr wrap="square" lIns="0" tIns="0" rIns="0" bIns="0" rtlCol="0" anchor="ctr"/>
          <a:lstStyle/>
          <a:p>
            <a:pPr algn="r" indent="0" marL="0">
              <a:buNone/>
            </a:pPr>
            <a:r>
              <a:rPr lang="en-US" sz="1000" dirty="0">
                <a:solidFill>
                  <a:schemeClr val="tx2"/>
                </a:solidFill>
              </a:rPr>
              <a:t>Israel AWADE</a:t>
            </a:r>
            <a:endParaRPr lang="en-US" sz="1000" dirty="0"/>
          </a:p>
        </p:txBody>
      </p:sp>
      <p:sp>
        <p:nvSpPr>
          <p:cNvPr id="4" name="Text 2"/>
          <p:cNvSpPr txBox="1"/>
          <p:nvPr/>
        </p:nvSpPr>
        <p:spPr>
          <a:xfrm>
            <a:off x="594360" y="1463040"/>
            <a:ext cx="457200" cy="457200"/>
          </a:xfrm>
          <a:prstGeom prst="rect">
            <a:avLst/>
          </a:prstGeom>
          <a:noFill/>
          <a:ln/>
        </p:spPr>
        <p:txBody>
          <a:bodyPr wrap="square" lIns="0" tIns="0" rIns="0" bIns="0" rtlCol="0" anchor="ctr"/>
          <a:lstStyle/>
          <a:p>
            <a:pPr indent="0" marL="0">
              <a:buNone/>
            </a:pPr>
            <a:r>
              <a:rPr lang="en-US" sz="2600" b="1" dirty="0">
                <a:solidFill>
                  <a:schemeClr val="accent1"/>
                </a:solidFill>
              </a:rPr>
              <a:t>1</a:t>
            </a:r>
            <a:endParaRPr lang="en-US" sz="2600" dirty="0"/>
          </a:p>
        </p:txBody>
      </p:sp>
      <p:sp>
        <p:nvSpPr>
          <p:cNvPr id="5" name="Text 3"/>
          <p:cNvSpPr txBox="1"/>
          <p:nvPr/>
        </p:nvSpPr>
        <p:spPr>
          <a:xfrm>
            <a:off x="1143000" y="1481328"/>
            <a:ext cx="5852160" cy="960120"/>
          </a:xfrm>
          <a:prstGeom prst="rect">
            <a:avLst/>
          </a:prstGeom>
          <a:noFill/>
          <a:ln/>
        </p:spPr>
        <p:txBody>
          <a:bodyPr wrap="square" lIns="0" tIns="0" rIns="0" bIns="0" rtlCol="0" anchor="t"/>
          <a:lstStyle/>
          <a:p>
            <a:pPr indent="0" marL="0">
              <a:buNone/>
            </a:pPr>
            <a:r>
              <a:rPr lang="en-US" sz="1900" b="1" dirty="0">
                <a:solidFill>
                  <a:schemeClr val="tx1"/>
                </a:solidFill>
              </a:rPr>
              <a:t>Deux calculateurs séparés</a:t>
            </a:r>
            <a:endParaRPr lang="en-US" sz="1900" dirty="0"/>
          </a:p>
          <a:p>
            <a:pPr indent="0" marL="0">
              <a:buNone/>
            </a:pPr>
            <a:r>
              <a:rPr lang="en-US" sz="1500" dirty="0">
                <a:solidFill>
                  <a:schemeClr val="tx2"/>
                </a:solidFill>
              </a:rPr>
              <a:t>Le STM32H7 gère le vol, le Hailo-8 gère la vision. Une panne de l'IA ne met pas l'appareil en danger.</a:t>
            </a:r>
            <a:endParaRPr lang="en-US" sz="1900" dirty="0"/>
          </a:p>
        </p:txBody>
      </p:sp>
      <p:sp>
        <p:nvSpPr>
          <p:cNvPr id="6" name="Text 4"/>
          <p:cNvSpPr txBox="1"/>
          <p:nvPr/>
        </p:nvSpPr>
        <p:spPr>
          <a:xfrm>
            <a:off x="594360" y="2542032"/>
            <a:ext cx="457200" cy="457200"/>
          </a:xfrm>
          <a:prstGeom prst="rect">
            <a:avLst/>
          </a:prstGeom>
          <a:noFill/>
          <a:ln/>
        </p:spPr>
        <p:txBody>
          <a:bodyPr wrap="square" lIns="0" tIns="0" rIns="0" bIns="0" rtlCol="0" anchor="ctr"/>
          <a:lstStyle/>
          <a:p>
            <a:pPr indent="0" marL="0">
              <a:buNone/>
            </a:pPr>
            <a:r>
              <a:rPr lang="en-US" sz="2600" b="1" dirty="0">
                <a:solidFill>
                  <a:schemeClr val="accent1"/>
                </a:solidFill>
              </a:rPr>
              <a:t>2</a:t>
            </a:r>
            <a:endParaRPr lang="en-US" sz="2600" dirty="0"/>
          </a:p>
        </p:txBody>
      </p:sp>
      <p:sp>
        <p:nvSpPr>
          <p:cNvPr id="7" name="Text 5"/>
          <p:cNvSpPr txBox="1"/>
          <p:nvPr/>
        </p:nvSpPr>
        <p:spPr>
          <a:xfrm>
            <a:off x="1143000" y="2560320"/>
            <a:ext cx="5852160" cy="960120"/>
          </a:xfrm>
          <a:prstGeom prst="rect">
            <a:avLst/>
          </a:prstGeom>
          <a:noFill/>
          <a:ln/>
        </p:spPr>
        <p:txBody>
          <a:bodyPr wrap="square" lIns="0" tIns="0" rIns="0" bIns="0" rtlCol="0" anchor="t"/>
          <a:lstStyle/>
          <a:p>
            <a:pPr indent="0" marL="0">
              <a:buNone/>
            </a:pPr>
            <a:r>
              <a:rPr lang="en-US" sz="1900" b="1" dirty="0">
                <a:solidFill>
                  <a:schemeClr val="tx1"/>
                </a:solidFill>
              </a:rPr>
              <a:t>Un VTOL à rotors basculants</a:t>
            </a:r>
            <a:endParaRPr lang="en-US" sz="1900" dirty="0"/>
          </a:p>
          <a:p>
            <a:pPr indent="0" marL="0">
              <a:buNone/>
            </a:pPr>
            <a:r>
              <a:rPr lang="en-US" sz="1500" dirty="0">
                <a:solidFill>
                  <a:schemeClr val="tx2"/>
                </a:solidFill>
              </a:rPr>
              <a:t>Il décolle à la verticale, puis ses deux moteurs avant basculent pour la croisière.</a:t>
            </a:r>
            <a:endParaRPr lang="en-US" sz="1900" dirty="0"/>
          </a:p>
        </p:txBody>
      </p:sp>
      <p:sp>
        <p:nvSpPr>
          <p:cNvPr id="8" name="Text 6"/>
          <p:cNvSpPr txBox="1"/>
          <p:nvPr/>
        </p:nvSpPr>
        <p:spPr>
          <a:xfrm>
            <a:off x="594360" y="3621024"/>
            <a:ext cx="457200" cy="457200"/>
          </a:xfrm>
          <a:prstGeom prst="rect">
            <a:avLst/>
          </a:prstGeom>
          <a:noFill/>
          <a:ln/>
        </p:spPr>
        <p:txBody>
          <a:bodyPr wrap="square" lIns="0" tIns="0" rIns="0" bIns="0" rtlCol="0" anchor="ctr"/>
          <a:lstStyle/>
          <a:p>
            <a:pPr indent="0" marL="0">
              <a:buNone/>
            </a:pPr>
            <a:r>
              <a:rPr lang="en-US" sz="2600" b="1" dirty="0">
                <a:solidFill>
                  <a:schemeClr val="accent1"/>
                </a:solidFill>
              </a:rPr>
              <a:t>3</a:t>
            </a:r>
            <a:endParaRPr lang="en-US" sz="2600" dirty="0"/>
          </a:p>
        </p:txBody>
      </p:sp>
      <p:sp>
        <p:nvSpPr>
          <p:cNvPr id="9" name="Text 7"/>
          <p:cNvSpPr txBox="1"/>
          <p:nvPr/>
        </p:nvSpPr>
        <p:spPr>
          <a:xfrm>
            <a:off x="1143000" y="3639312"/>
            <a:ext cx="5852160" cy="960120"/>
          </a:xfrm>
          <a:prstGeom prst="rect">
            <a:avLst/>
          </a:prstGeom>
          <a:noFill/>
          <a:ln/>
        </p:spPr>
        <p:txBody>
          <a:bodyPr wrap="square" lIns="0" tIns="0" rIns="0" bIns="0" rtlCol="0" anchor="t"/>
          <a:lstStyle/>
          <a:p>
            <a:pPr indent="0" marL="0">
              <a:buNone/>
            </a:pPr>
            <a:r>
              <a:rPr lang="en-US" sz="1900" b="1" dirty="0">
                <a:solidFill>
                  <a:schemeClr val="tx1"/>
                </a:solidFill>
              </a:rPr>
              <a:t>L'IA à bord, sans cloud</a:t>
            </a:r>
            <a:endParaRPr lang="en-US" sz="1900" dirty="0"/>
          </a:p>
          <a:p>
            <a:pPr indent="0" marL="0">
              <a:buNone/>
            </a:pPr>
            <a:r>
              <a:rPr lang="en-US" sz="1500" dirty="0">
                <a:solidFill>
                  <a:schemeClr val="tx2"/>
                </a:solidFill>
              </a:rPr>
              <a:t>Les images sont analysées pendant le vol : l'alerte arrive tout de suite, pas au retour.</a:t>
            </a:r>
            <a:endParaRPr lang="en-US" sz="1900" dirty="0"/>
          </a:p>
        </p:txBody>
      </p:sp>
      <p:sp>
        <p:nvSpPr>
          <p:cNvPr id="10" name="Text 8"/>
          <p:cNvSpPr txBox="1"/>
          <p:nvPr/>
        </p:nvSpPr>
        <p:spPr>
          <a:xfrm>
            <a:off x="594360" y="4700016"/>
            <a:ext cx="457200" cy="457200"/>
          </a:xfrm>
          <a:prstGeom prst="rect">
            <a:avLst/>
          </a:prstGeom>
          <a:noFill/>
          <a:ln/>
        </p:spPr>
        <p:txBody>
          <a:bodyPr wrap="square" lIns="0" tIns="0" rIns="0" bIns="0" rtlCol="0" anchor="ctr"/>
          <a:lstStyle/>
          <a:p>
            <a:pPr indent="0" marL="0">
              <a:buNone/>
            </a:pPr>
            <a:r>
              <a:rPr lang="en-US" sz="2600" b="1" dirty="0">
                <a:solidFill>
                  <a:schemeClr val="accent1"/>
                </a:solidFill>
              </a:rPr>
              <a:t>4</a:t>
            </a:r>
            <a:endParaRPr lang="en-US" sz="2600" dirty="0"/>
          </a:p>
        </p:txBody>
      </p:sp>
      <p:sp>
        <p:nvSpPr>
          <p:cNvPr id="11" name="Text 9"/>
          <p:cNvSpPr txBox="1"/>
          <p:nvPr/>
        </p:nvSpPr>
        <p:spPr>
          <a:xfrm>
            <a:off x="1143000" y="4718304"/>
            <a:ext cx="5852160" cy="960120"/>
          </a:xfrm>
          <a:prstGeom prst="rect">
            <a:avLst/>
          </a:prstGeom>
          <a:noFill/>
          <a:ln/>
        </p:spPr>
        <p:txBody>
          <a:bodyPr wrap="square" lIns="0" tIns="0" rIns="0" bIns="0" rtlCol="0" anchor="t"/>
          <a:lstStyle/>
          <a:p>
            <a:pPr indent="0" marL="0">
              <a:buNone/>
            </a:pPr>
            <a:r>
              <a:rPr lang="en-US" sz="1900" b="1" dirty="0">
                <a:solidFill>
                  <a:schemeClr val="tx1"/>
                </a:solidFill>
              </a:rPr>
              <a:t>Une sécurité en plusieurs niveaux</a:t>
            </a:r>
            <a:endParaRPr lang="en-US" sz="1900" dirty="0"/>
          </a:p>
          <a:p>
            <a:pPr indent="0" marL="0">
              <a:buNone/>
            </a:pPr>
            <a:r>
              <a:rPr lang="en-US" sz="1500" dirty="0">
                <a:solidFill>
                  <a:schemeClr val="tx2"/>
                </a:solidFill>
              </a:rPr>
              <a:t>Chiffrement et signature MAVLink, anti-brouillage, anti-leurrage GPS et canal de secours.</a:t>
            </a:r>
            <a:endParaRPr lang="en-US" sz="1900" dirty="0"/>
          </a:p>
        </p:txBody>
      </p:sp>
      <p:pic>
        <p:nvPicPr>
          <p:cNvPr id="12" name="Image 0" descr="Vue en perspective (SolidWorks)">    </p:cNvPr>
          <p:cNvPicPr>
            <a:picLocks noChangeAspect="1"/>
          </p:cNvPicPr>
          <p:nvPr/>
        </p:nvPicPr>
        <p:blipFill>
          <a:blip r:embed="rId1"/>
          <a:stretch>
            <a:fillRect/>
          </a:stretch>
        </p:blipFill>
        <p:spPr>
          <a:xfrm>
            <a:off x="7315200" y="2104464"/>
            <a:ext cx="4282135" cy="2191873"/>
          </a:xfrm>
          <a:prstGeom prst="rect">
            <a:avLst/>
          </a:prstGeom>
        </p:spPr>
      </p:pic>
      <p:sp>
        <p:nvSpPr>
          <p:cNvPr id="13" name="Cadre cao_iso"/>
          <p:cNvSpPr/>
          <p:nvPr/>
        </p:nvSpPr>
        <p:spPr>
          <a:xfrm>
            <a:off x="7315200" y="2104464"/>
            <a:ext cx="4282135" cy="2191873"/>
          </a:xfrm>
          <a:prstGeom prst="rect">
            <a:avLst/>
          </a:prstGeom>
          <a:ln w="9525">
            <a:solidFill>
              <a:schemeClr val="accent5"/>
            </a:solidFill>
            <a:prstDash val="solid"/>
          </a:ln>
        </p:spPr>
      </p:sp>
      <p:sp>
        <p:nvSpPr>
          <p:cNvPr id="14" name="Text 11"/>
          <p:cNvSpPr txBox="1"/>
          <p:nvPr/>
        </p:nvSpPr>
        <p:spPr>
          <a:xfrm>
            <a:off x="7315200" y="4351200"/>
            <a:ext cx="4282135" cy="256032"/>
          </a:xfrm>
          <a:prstGeom prst="rect">
            <a:avLst/>
          </a:prstGeom>
          <a:noFill/>
          <a:ln/>
        </p:spPr>
        <p:txBody>
          <a:bodyPr wrap="square" lIns="0" tIns="0" rIns="0" bIns="0" rtlCol="0" anchor="ctr"/>
          <a:lstStyle/>
          <a:p>
            <a:pPr indent="0" marL="0">
              <a:buNone/>
            </a:pPr>
            <a:r>
              <a:rPr lang="en-US" sz="1100" i="1" dirty="0">
                <a:solidFill>
                  <a:schemeClr val="tx2"/>
                </a:solidFill>
              </a:rPr>
              <a:t>Vue en perspective (SolidWorks)</a:t>
            </a:r>
            <a:endParaRPr lang="en-US" sz="1100" dirty="0"/>
          </a:p>
        </p:txBody>
      </p:sp>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685800"/>
          </a:xfrm>
          <a:prstGeom prst="rect">
            <a:avLst/>
          </a:prstGeom>
          <a:noFill/>
          <a:ln/>
        </p:spPr>
        <p:txBody>
          <a:bodyPr wrap="square" lIns="0" tIns="0" rIns="0" bIns="0" rtlCol="0" anchor="ctr"/>
          <a:lstStyle/>
          <a:p>
            <a:pPr algn="l" indent="0" marL="0">
              <a:buNone/>
            </a:pPr>
            <a:r>
              <a:rPr lang="en-US" sz="3000" b="1" dirty="0">
                <a:solidFill>
                  <a:schemeClr val="tx1"/>
                </a:solidFill>
              </a:rPr>
              <a:t>Domaines d'application</a:t>
            </a:r>
            <a:endParaRPr lang="en-US" sz="3000" dirty="0"/>
          </a:p>
        </p:txBody>
      </p:sp>
      <p:sp>
        <p:nvSpPr>
          <p:cNvPr id="3" name="Text 1"/>
          <p:cNvSpPr txBox="1"/>
          <p:nvPr/>
        </p:nvSpPr>
        <p:spPr>
          <a:xfrm>
            <a:off x="7025335" y="6382512"/>
            <a:ext cx="4069080" cy="274320"/>
          </a:xfrm>
          <a:prstGeom prst="rect">
            <a:avLst/>
          </a:prstGeom>
          <a:noFill/>
          <a:ln/>
        </p:spPr>
        <p:txBody>
          <a:bodyPr wrap="square" lIns="0" tIns="0" rIns="0" bIns="0" rtlCol="0" anchor="ctr"/>
          <a:lstStyle/>
          <a:p>
            <a:pPr algn="r" indent="0" marL="0">
              <a:buNone/>
            </a:pPr>
            <a:r>
              <a:rPr lang="en-US" sz="1000" dirty="0">
                <a:solidFill>
                  <a:schemeClr val="tx2"/>
                </a:solidFill>
              </a:rPr>
              <a:t>Cédric KODJOVI</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94360" y="1463040"/>
          <a:ext cx="11002975" cy="914400"/>
        </p:xfrm>
        <a:graphic>
          <a:graphicData uri="http://schemas.openxmlformats.org/drawingml/2006/table">
            <a:tbl>
              <a:tblPr/>
              <a:tblGrid>
                <a:gridCol w="3017520"/>
                <a:gridCol w="4937760"/>
                <a:gridCol w="3047695"/>
              </a:tblGrid>
              <a:tr h="566928">
                <a:tc>
                  <a:txBody>
                    <a:bodyPr/>
                    <a:lstStyle/>
                    <a:p>
                      <a:pPr indent="0" marL="0">
                        <a:buNone/>
                      </a:pPr>
                      <a:r>
                        <a:rPr lang="en-US" sz="1500" b="1" dirty="0">
                          <a:solidFill>
                            <a:schemeClr val="accent1"/>
                          </a:solidFill>
                        </a:rPr>
                        <a:t>Secteur</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c>
                  <a:txBody>
                    <a:bodyPr/>
                    <a:lstStyle/>
                    <a:p>
                      <a:pPr indent="0" marL="0">
                        <a:buNone/>
                      </a:pPr>
                      <a:r>
                        <a:rPr lang="en-US" sz="1500" b="1" dirty="0">
                          <a:solidFill>
                            <a:schemeClr val="accent1"/>
                          </a:solidFill>
                        </a:rPr>
                        <a:t>Utilisations</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c>
                  <a:txBody>
                    <a:bodyPr/>
                    <a:lstStyle/>
                    <a:p>
                      <a:pPr indent="0" marL="0">
                        <a:buNone/>
                      </a:pPr>
                      <a:r>
                        <a:rPr lang="en-US" sz="1500" b="1" dirty="0">
                          <a:solidFill>
                            <a:schemeClr val="accent1"/>
                          </a:solidFill>
                        </a:rPr>
                        <a:t>Ce qu'on adapte</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r>
              <a:tr h="566928">
                <a:tc>
                  <a:txBody>
                    <a:bodyPr/>
                    <a:lstStyle/>
                    <a:p>
                      <a:pPr indent="0" marL="0">
                        <a:buNone/>
                      </a:pPr>
                      <a:r>
                        <a:rPr lang="en-US" sz="1500" b="1" dirty="0">
                          <a:solidFill>
                            <a:schemeClr val="tx1"/>
                          </a:solidFill>
                        </a:rPr>
                        <a:t>Aviation civile</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Inspection de piste, débris (FOD), clôtures</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Caméra + IA de détection</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566928">
                <a:tc>
                  <a:txBody>
                    <a:bodyPr/>
                    <a:lstStyle/>
                    <a:p>
                      <a:pPr indent="0" marL="0">
                        <a:buNone/>
                      </a:pPr>
                      <a:r>
                        <a:rPr lang="en-US" sz="1500" b="1" dirty="0">
                          <a:solidFill>
                            <a:schemeClr val="tx1"/>
                          </a:solidFill>
                        </a:rPr>
                        <a:t>Agriculture et environnement</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Suivi des cultures, environnement, feux de brousse</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Caméra thermique ou multispectrale</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566928">
                <a:tc>
                  <a:txBody>
                    <a:bodyPr/>
                    <a:lstStyle/>
                    <a:p>
                      <a:pPr indent="0" marL="0">
                        <a:buNone/>
                      </a:pPr>
                      <a:r>
                        <a:rPr lang="en-US" sz="1500" b="1" dirty="0">
                          <a:solidFill>
                            <a:schemeClr val="tx1"/>
                          </a:solidFill>
                        </a:rPr>
                        <a:t>Infrastructures</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Lignes électriques, pylônes, ponts, port de Lomé</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Caméra zoom, IA de défauts</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566928">
                <a:tc>
                  <a:txBody>
                    <a:bodyPr/>
                    <a:lstStyle/>
                    <a:p>
                      <a:pPr indent="0" marL="0">
                        <a:buNone/>
                      </a:pPr>
                      <a:r>
                        <a:rPr lang="en-US" sz="1500" b="1" dirty="0">
                          <a:solidFill>
                            <a:schemeClr val="tx1"/>
                          </a:solidFill>
                        </a:rPr>
                        <a:t>Aide humanitaire</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Petits colis médicaux vers des zones enclavées</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Soute de largage (version adaptée)</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566928">
                <a:tc>
                  <a:txBody>
                    <a:bodyPr/>
                    <a:lstStyle/>
                    <a:p>
                      <a:pPr indent="0" marL="0">
                        <a:buNone/>
                      </a:pPr>
                      <a:r>
                        <a:rPr lang="en-US" sz="1500" b="1" dirty="0">
                          <a:solidFill>
                            <a:schemeClr val="tx1"/>
                          </a:solidFill>
                        </a:rPr>
                        <a:t>Cartographie</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Orthophotos, relevés topographiques</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500" dirty="0">
                          <a:solidFill>
                            <a:schemeClr val="tx1"/>
                          </a:solidFill>
                        </a:rPr>
                        <a:t>Appareil photo de cartographie</a:t>
                      </a:r>
                      <a:endParaRPr lang="en-US" sz="15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bl>
          </a:graphicData>
        </a:graphic>
      </p:graphicFrame>
      <p:sp>
        <p:nvSpPr>
          <p:cNvPr id="5" name="Text 2"/>
          <p:cNvSpPr txBox="1"/>
          <p:nvPr/>
        </p:nvSpPr>
        <p:spPr>
          <a:xfrm>
            <a:off x="594360" y="5184648"/>
            <a:ext cx="11002975" cy="411480"/>
          </a:xfrm>
          <a:prstGeom prst="rect">
            <a:avLst/>
          </a:prstGeom>
          <a:noFill/>
          <a:ln/>
        </p:spPr>
        <p:txBody>
          <a:bodyPr wrap="square" lIns="0" tIns="0" rIns="0" bIns="0" rtlCol="0" anchor="ctr"/>
          <a:lstStyle/>
          <a:p>
            <a:pPr indent="0" marL="0">
              <a:buNone/>
            </a:pPr>
            <a:r>
              <a:rPr lang="en-US" sz="1600" dirty="0">
                <a:solidFill>
                  <a:schemeClr val="tx2"/>
                </a:solidFill>
              </a:rPr>
              <a:t>Le drone, la station sol et le back-end restent les mêmes ; on change la charge utile et le modèle d'IA.</a:t>
            </a:r>
            <a:endParaRPr lang="en-US" sz="1600" dirty="0"/>
          </a:p>
        </p:txBody>
      </p:sp>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685800"/>
          </a:xfrm>
          <a:prstGeom prst="rect">
            <a:avLst/>
          </a:prstGeom>
          <a:noFill/>
          <a:ln/>
        </p:spPr>
        <p:txBody>
          <a:bodyPr wrap="square" lIns="0" tIns="0" rIns="0" bIns="0" rtlCol="0" anchor="ctr"/>
          <a:lstStyle/>
          <a:p>
            <a:pPr algn="l" indent="0" marL="0">
              <a:buNone/>
            </a:pPr>
            <a:r>
              <a:rPr lang="en-US" sz="3000" b="1" dirty="0">
                <a:solidFill>
                  <a:schemeClr val="tx1"/>
                </a:solidFill>
              </a:rPr>
              <a:t>Avancement et prochaines étapes</a:t>
            </a:r>
            <a:endParaRPr lang="en-US" sz="3000" dirty="0"/>
          </a:p>
        </p:txBody>
      </p:sp>
      <p:sp>
        <p:nvSpPr>
          <p:cNvPr id="3" name="Text 1"/>
          <p:cNvSpPr txBox="1"/>
          <p:nvPr/>
        </p:nvSpPr>
        <p:spPr>
          <a:xfrm>
            <a:off x="7025335" y="6382512"/>
            <a:ext cx="4069080" cy="274320"/>
          </a:xfrm>
          <a:prstGeom prst="rect">
            <a:avLst/>
          </a:prstGeom>
          <a:noFill/>
          <a:ln/>
        </p:spPr>
        <p:txBody>
          <a:bodyPr wrap="square" lIns="0" tIns="0" rIns="0" bIns="0" rtlCol="0" anchor="ctr"/>
          <a:lstStyle/>
          <a:p>
            <a:pPr algn="r" indent="0" marL="0">
              <a:buNone/>
            </a:pPr>
            <a:r>
              <a:rPr lang="en-US" sz="1000" dirty="0">
                <a:solidFill>
                  <a:schemeClr val="tx2"/>
                </a:solidFill>
              </a:rPr>
              <a:t>Israel AWADE</a:t>
            </a:r>
            <a:endParaRPr lang="en-US" sz="1000" dirty="0"/>
          </a:p>
        </p:txBody>
      </p:sp>
      <p:sp>
        <p:nvSpPr>
          <p:cNvPr id="4" name="Shape 2"/>
          <p:cNvSpPr/>
          <p:nvPr/>
        </p:nvSpPr>
        <p:spPr>
          <a:xfrm>
            <a:off x="1783080" y="2103120"/>
            <a:ext cx="8625535" cy="0"/>
          </a:xfrm>
          <a:prstGeom prst="line">
            <a:avLst/>
          </a:prstGeom>
          <a:noFill/>
          <a:ln w="25400">
            <a:solidFill>
              <a:schemeClr val="accent5"/>
            </a:solidFill>
            <a:prstDash val="solid"/>
          </a:ln>
        </p:spPr>
      </p:sp>
      <p:sp>
        <p:nvSpPr>
          <p:cNvPr id="5" name="Shape 3"/>
          <p:cNvSpPr/>
          <p:nvPr/>
        </p:nvSpPr>
        <p:spPr>
          <a:xfrm>
            <a:off x="1655064" y="1975104"/>
            <a:ext cx="256032" cy="256032"/>
          </a:xfrm>
          <a:prstGeom prst="ellipse">
            <a:avLst/>
          </a:prstGeom>
          <a:solidFill>
            <a:schemeClr val="accent1"/>
          </a:solidFill>
          <a:ln w="19050">
            <a:solidFill>
              <a:schemeClr val="accent1"/>
            </a:solidFill>
            <a:prstDash val="solid"/>
          </a:ln>
        </p:spPr>
      </p:sp>
      <p:sp>
        <p:nvSpPr>
          <p:cNvPr id="6" name="Text 4"/>
          <p:cNvSpPr txBox="1"/>
          <p:nvPr/>
        </p:nvSpPr>
        <p:spPr>
          <a:xfrm>
            <a:off x="640080" y="2377440"/>
            <a:ext cx="2286000" cy="365760"/>
          </a:xfrm>
          <a:prstGeom prst="rect">
            <a:avLst/>
          </a:prstGeom>
          <a:noFill/>
          <a:ln/>
        </p:spPr>
        <p:txBody>
          <a:bodyPr wrap="square" lIns="0" tIns="0" rIns="0" bIns="0" rtlCol="0" anchor="ctr"/>
          <a:lstStyle/>
          <a:p>
            <a:pPr algn="ctr" indent="0" marL="0">
              <a:buNone/>
            </a:pPr>
            <a:r>
              <a:rPr lang="en-US" sz="1600" b="1" dirty="0">
                <a:solidFill>
                  <a:schemeClr val="tx1"/>
                </a:solidFill>
              </a:rPr>
              <a:t>Août – sept.</a:t>
            </a:r>
            <a:endParaRPr lang="en-US" sz="1600" dirty="0"/>
          </a:p>
        </p:txBody>
      </p:sp>
      <p:sp>
        <p:nvSpPr>
          <p:cNvPr id="7" name="Text 5"/>
          <p:cNvSpPr txBox="1"/>
          <p:nvPr/>
        </p:nvSpPr>
        <p:spPr>
          <a:xfrm>
            <a:off x="640080" y="2761488"/>
            <a:ext cx="2286000" cy="822960"/>
          </a:xfrm>
          <a:prstGeom prst="rect">
            <a:avLst/>
          </a:prstGeom>
          <a:noFill/>
          <a:ln/>
        </p:spPr>
        <p:txBody>
          <a:bodyPr wrap="square" lIns="0" tIns="0" rIns="0" bIns="0" rtlCol="0" anchor="t"/>
          <a:lstStyle/>
          <a:p>
            <a:pPr algn="ctr" indent="0" marL="0">
              <a:buNone/>
            </a:pPr>
            <a:r>
              <a:rPr lang="en-US" sz="1400" dirty="0">
                <a:solidFill>
                  <a:schemeClr val="tx2"/>
                </a:solidFill>
              </a:rPr>
              <a:t>Conception et dossier de candidature</a:t>
            </a:r>
            <a:endParaRPr lang="en-US" sz="1400" dirty="0"/>
          </a:p>
        </p:txBody>
      </p:sp>
      <p:sp>
        <p:nvSpPr>
          <p:cNvPr id="8" name="Shape 6"/>
          <p:cNvSpPr/>
          <p:nvPr/>
        </p:nvSpPr>
        <p:spPr>
          <a:xfrm>
            <a:off x="4530242" y="1975104"/>
            <a:ext cx="256032" cy="256032"/>
          </a:xfrm>
          <a:prstGeom prst="ellipse">
            <a:avLst/>
          </a:prstGeom>
          <a:solidFill>
            <a:schemeClr val="accent2"/>
          </a:solidFill>
          <a:ln w="19050">
            <a:solidFill>
              <a:schemeClr val="accent2"/>
            </a:solidFill>
            <a:prstDash val="solid"/>
          </a:ln>
        </p:spPr>
      </p:sp>
      <p:sp>
        <p:nvSpPr>
          <p:cNvPr id="9" name="Text 7"/>
          <p:cNvSpPr txBox="1"/>
          <p:nvPr/>
        </p:nvSpPr>
        <p:spPr>
          <a:xfrm>
            <a:off x="3515258" y="2377440"/>
            <a:ext cx="2286000" cy="365760"/>
          </a:xfrm>
          <a:prstGeom prst="rect">
            <a:avLst/>
          </a:prstGeom>
          <a:noFill/>
          <a:ln/>
        </p:spPr>
        <p:txBody>
          <a:bodyPr wrap="square" lIns="0" tIns="0" rIns="0" bIns="0" rtlCol="0" anchor="ctr"/>
          <a:lstStyle/>
          <a:p>
            <a:pPr algn="ctr" indent="0" marL="0">
              <a:buNone/>
            </a:pPr>
            <a:r>
              <a:rPr lang="en-US" sz="1600" b="1" dirty="0">
                <a:solidFill>
                  <a:schemeClr val="tx1"/>
                </a:solidFill>
              </a:rPr>
              <a:t>Octobre (en cours)</a:t>
            </a:r>
            <a:endParaRPr lang="en-US" sz="1600" dirty="0"/>
          </a:p>
        </p:txBody>
      </p:sp>
      <p:sp>
        <p:nvSpPr>
          <p:cNvPr id="10" name="Text 8"/>
          <p:cNvSpPr txBox="1"/>
          <p:nvPr/>
        </p:nvSpPr>
        <p:spPr>
          <a:xfrm>
            <a:off x="3515258" y="2761488"/>
            <a:ext cx="2286000" cy="822960"/>
          </a:xfrm>
          <a:prstGeom prst="rect">
            <a:avLst/>
          </a:prstGeom>
          <a:noFill/>
          <a:ln/>
        </p:spPr>
        <p:txBody>
          <a:bodyPr wrap="square" lIns="0" tIns="0" rIns="0" bIns="0" rtlCol="0" anchor="t"/>
          <a:lstStyle/>
          <a:p>
            <a:pPr algn="ctr" indent="0" marL="0">
              <a:buNone/>
            </a:pPr>
            <a:r>
              <a:rPr lang="en-US" sz="1400" dirty="0">
                <a:solidFill>
                  <a:schemeClr val="tx2"/>
                </a:solidFill>
              </a:rPr>
              <a:t>Prototypage et intégration</a:t>
            </a:r>
            <a:endParaRPr lang="en-US" sz="1400" dirty="0"/>
          </a:p>
        </p:txBody>
      </p:sp>
      <p:sp>
        <p:nvSpPr>
          <p:cNvPr id="11" name="Shape 9"/>
          <p:cNvSpPr/>
          <p:nvPr/>
        </p:nvSpPr>
        <p:spPr>
          <a:xfrm>
            <a:off x="7405421" y="1975104"/>
            <a:ext cx="256032" cy="256032"/>
          </a:xfrm>
          <a:prstGeom prst="ellipse">
            <a:avLst/>
          </a:prstGeom>
          <a:solidFill>
            <a:schemeClr val="bg1"/>
          </a:solidFill>
          <a:ln w="19050">
            <a:solidFill>
              <a:schemeClr val="accent6"/>
            </a:solidFill>
            <a:prstDash val="solid"/>
          </a:ln>
        </p:spPr>
      </p:sp>
      <p:sp>
        <p:nvSpPr>
          <p:cNvPr id="12" name="Text 10"/>
          <p:cNvSpPr txBox="1"/>
          <p:nvPr/>
        </p:nvSpPr>
        <p:spPr>
          <a:xfrm>
            <a:off x="6390437" y="2377440"/>
            <a:ext cx="2286000" cy="365760"/>
          </a:xfrm>
          <a:prstGeom prst="rect">
            <a:avLst/>
          </a:prstGeom>
          <a:noFill/>
          <a:ln/>
        </p:spPr>
        <p:txBody>
          <a:bodyPr wrap="square" lIns="0" tIns="0" rIns="0" bIns="0" rtlCol="0" anchor="ctr"/>
          <a:lstStyle/>
          <a:p>
            <a:pPr algn="ctr" indent="0" marL="0">
              <a:buNone/>
            </a:pPr>
            <a:r>
              <a:rPr lang="en-US" sz="1600" b="1" dirty="0">
                <a:solidFill>
                  <a:schemeClr val="tx1"/>
                </a:solidFill>
              </a:rPr>
              <a:t>Novembre</a:t>
            </a:r>
            <a:endParaRPr lang="en-US" sz="1600" dirty="0"/>
          </a:p>
        </p:txBody>
      </p:sp>
      <p:sp>
        <p:nvSpPr>
          <p:cNvPr id="13" name="Text 11"/>
          <p:cNvSpPr txBox="1"/>
          <p:nvPr/>
        </p:nvSpPr>
        <p:spPr>
          <a:xfrm>
            <a:off x="6390437" y="2761488"/>
            <a:ext cx="2286000" cy="822960"/>
          </a:xfrm>
          <a:prstGeom prst="rect">
            <a:avLst/>
          </a:prstGeom>
          <a:noFill/>
          <a:ln/>
        </p:spPr>
        <p:txBody>
          <a:bodyPr wrap="square" lIns="0" tIns="0" rIns="0" bIns="0" rtlCol="0" anchor="t"/>
          <a:lstStyle/>
          <a:p>
            <a:pPr algn="ctr" indent="0" marL="0">
              <a:buNone/>
            </a:pPr>
            <a:r>
              <a:rPr lang="en-US" sz="1400" dirty="0">
                <a:solidFill>
                  <a:schemeClr val="tx2"/>
                </a:solidFill>
              </a:rPr>
              <a:t>Essais au sol, en vol et de sécurité</a:t>
            </a:r>
            <a:endParaRPr lang="en-US" sz="1400" dirty="0"/>
          </a:p>
        </p:txBody>
      </p:sp>
      <p:sp>
        <p:nvSpPr>
          <p:cNvPr id="14" name="Shape 12"/>
          <p:cNvSpPr/>
          <p:nvPr/>
        </p:nvSpPr>
        <p:spPr>
          <a:xfrm>
            <a:off x="10280599" y="1975104"/>
            <a:ext cx="256032" cy="256032"/>
          </a:xfrm>
          <a:prstGeom prst="ellipse">
            <a:avLst/>
          </a:prstGeom>
          <a:solidFill>
            <a:schemeClr val="bg1"/>
          </a:solidFill>
          <a:ln w="19050">
            <a:solidFill>
              <a:schemeClr val="accent6"/>
            </a:solidFill>
            <a:prstDash val="solid"/>
          </a:ln>
        </p:spPr>
      </p:sp>
      <p:sp>
        <p:nvSpPr>
          <p:cNvPr id="15" name="Text 13"/>
          <p:cNvSpPr txBox="1"/>
          <p:nvPr/>
        </p:nvSpPr>
        <p:spPr>
          <a:xfrm>
            <a:off x="9265615" y="2377440"/>
            <a:ext cx="2286000" cy="365760"/>
          </a:xfrm>
          <a:prstGeom prst="rect">
            <a:avLst/>
          </a:prstGeom>
          <a:noFill/>
          <a:ln/>
        </p:spPr>
        <p:txBody>
          <a:bodyPr wrap="square" lIns="0" tIns="0" rIns="0" bIns="0" rtlCol="0" anchor="ctr"/>
          <a:lstStyle/>
          <a:p>
            <a:pPr algn="ctr" indent="0" marL="0">
              <a:buNone/>
            </a:pPr>
            <a:r>
              <a:rPr lang="en-US" sz="1600" b="1" dirty="0">
                <a:solidFill>
                  <a:schemeClr val="tx1"/>
                </a:solidFill>
              </a:rPr>
              <a:t>Décembre 2026</a:t>
            </a:r>
            <a:endParaRPr lang="en-US" sz="1600" dirty="0"/>
          </a:p>
        </p:txBody>
      </p:sp>
      <p:sp>
        <p:nvSpPr>
          <p:cNvPr id="16" name="Text 14"/>
          <p:cNvSpPr txBox="1"/>
          <p:nvPr/>
        </p:nvSpPr>
        <p:spPr>
          <a:xfrm>
            <a:off x="9265615" y="2761488"/>
            <a:ext cx="2286000" cy="822960"/>
          </a:xfrm>
          <a:prstGeom prst="rect">
            <a:avLst/>
          </a:prstGeom>
          <a:noFill/>
          <a:ln/>
        </p:spPr>
        <p:txBody>
          <a:bodyPr wrap="square" lIns="0" tIns="0" rIns="0" bIns="0" rtlCol="0" anchor="t"/>
          <a:lstStyle/>
          <a:p>
            <a:pPr algn="ctr" indent="0" marL="0">
              <a:buNone/>
            </a:pPr>
            <a:r>
              <a:rPr lang="en-US" sz="1400" dirty="0">
                <a:solidFill>
                  <a:schemeClr val="tx2"/>
                </a:solidFill>
              </a:rPr>
              <a:t>Finale : démonstration</a:t>
            </a:r>
            <a:endParaRPr lang="en-US" sz="1400" dirty="0"/>
          </a:p>
        </p:txBody>
      </p:sp>
      <p:sp>
        <p:nvSpPr>
          <p:cNvPr id="17" name="Remerciements"/>
          <p:cNvSpPr/>
          <p:nvPr/>
        </p:nvSpPr>
        <p:spPr>
          <a:xfrm>
            <a:off x="594360" y="4206240"/>
            <a:ext cx="11002975" cy="1463040"/>
          </a:xfrm>
          <a:prstGeom prst="rect">
            <a:avLst/>
          </a:prstGeom>
          <a:solidFill>
            <a:schemeClr val="bg2"/>
          </a:solidFill>
          <a:ln w="9525">
            <a:solidFill>
              <a:schemeClr val="accent5"/>
            </a:solidFill>
            <a:prstDash val="solid"/>
          </a:ln>
        </p:spPr>
      </p:sp>
      <p:sp>
        <p:nvSpPr>
          <p:cNvPr id="18" name="Text 16"/>
          <p:cNvSpPr txBox="1"/>
          <p:nvPr/>
        </p:nvSpPr>
        <p:spPr>
          <a:xfrm>
            <a:off x="914400" y="4206240"/>
            <a:ext cx="10362895" cy="1463040"/>
          </a:xfrm>
          <a:prstGeom prst="rect">
            <a:avLst/>
          </a:prstGeom>
          <a:noFill/>
          <a:ln/>
        </p:spPr>
        <p:txBody>
          <a:bodyPr wrap="square" lIns="0" tIns="0" rIns="0" bIns="0" rtlCol="0" anchor="ctr"/>
          <a:lstStyle/>
          <a:p>
            <a:pPr indent="0" marL="0">
              <a:buNone/>
            </a:pPr>
            <a:r>
              <a:rPr lang="en-US" sz="2100" b="1" dirty="0">
                <a:solidFill>
                  <a:schemeClr val="tx1"/>
                </a:solidFill>
              </a:rPr>
              <a:t>Merci à l'ANAC et aux organisateurs du CECFD 2026.</a:t>
            </a:r>
            <a:endParaRPr lang="en-US" sz="2100" dirty="0"/>
          </a:p>
          <a:p>
            <a:pPr indent="0" marL="0">
              <a:buNone/>
            </a:pPr>
            <a:r>
              <a:rPr lang="en-US" sz="1700" dirty="0">
                <a:solidFill>
                  <a:schemeClr val="tx2"/>
                </a:solidFill>
              </a:rPr>
              <a:t>Nous sommes prêts à répondre à vos questions.</a:t>
            </a:r>
            <a:endParaRPr lang="en-US" sz="2100" dirty="0"/>
          </a:p>
        </p:txBody>
      </p:sp>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Sentinelle Aerienne">
  <a:themeElements>
    <a:clrScheme name="Sentinelle Aerienne">
      <a:dk1>
        <a:srgbClr val="1F2933"/>
      </a:dk1>
      <a:lt1>
        <a:srgbClr val="FFFFFF"/>
      </a:lt1>
      <a:dk2>
        <a:srgbClr val="5B6770"/>
      </a:dk2>
      <a:lt2>
        <a:srgbClr val="F2F4F6"/>
      </a:lt2>
      <a:accent1>
        <a:srgbClr val="0B6E4F"/>
      </a:accent1>
      <a:accent2>
        <a:srgbClr val="D9A400"/>
      </a:accent2>
      <a:accent3>
        <a:srgbClr val="B5322E"/>
      </a:accent3>
      <a:accent4>
        <a:srgbClr val="2F5D8A"/>
      </a:accent4>
      <a:accent5>
        <a:srgbClr val="D3D9DE"/>
      </a:accent5>
      <a:accent6>
        <a:srgbClr val="8A98A4"/>
      </a:accent6>
      <a:hlink>
        <a:srgbClr val="0B6E4F"/>
      </a:hlink>
      <a:folHlink>
        <a:srgbClr val="2F5D8A"/>
      </a:folHlink>
    </a:clrScheme>
    <a:fontScheme name="Sentinelle Aerienn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SkyVision Togo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Sentinelle Aérienne, SkyVision Togo</dc:title>
  <dc:subject>PptxGenJS Presentation</dc:subject>
  <dc:creator>SkyVision Togo</dc:creator>
  <cp:lastModifiedBy>SkyVision Togo</cp:lastModifiedBy>
  <cp:revision>1</cp:revision>
  <dcterms:created xsi:type="dcterms:W3CDTF">2026-10-15T15:03:19Z</dcterms:created>
  <dcterms:modified xsi:type="dcterms:W3CDTF">2026-10-15T15:03:19Z</dcterms:modified>
</cp:coreProperties>
</file>