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7c95b19-9d17-2d32-07d5-306536f76f99}">
          <p14:sldIdLst>
            <p14:sldId id="256"/>
            <p14:sldId id="257"/>
          </p14:sldIdLst>
        </p14:section>
        <p14:section name="Le drone" id="{cfb6e311-08d7-a796-55ea-1792c787ba13}">
          <p14:sldIdLst>
            <p14:sldId id="258"/>
            <p14:sldId id="259"/>
            <p14:sldId id="260"/>
            <p14:sldId id="261"/>
          </p14:sldIdLst>
        </p14:section>
        <p14:section name="Avionique et station sol" id="{d5af5bd6-fb95-d4a4-45d7-05afda20817b}">
          <p14:sldIdLst>
            <p14:sldId id="262"/>
            <p14:sldId id="263"/>
          </p14:sldIdLst>
        </p14:section>
        <p14:section name="Liaisons et sécurité" id="{911b7475-bbdc-3e97-8e6f-56d53fbd7351}">
          <p14:sldIdLst>
            <p14:sldId id="264"/>
            <p14:sldId id="265"/>
          </p14:sldIdLst>
        </p14:section>
        <p14:section name="Intelligence artificielle" id="{7ee13f6f-374d-98df-f67b-24d4280b4d09}">
          <p14:sldIdLst>
            <p14:sldId id="266"/>
            <p14:sldId id="267"/>
          </p14:sldIdLst>
        </p14:section>
        <p14:section name="Supervision et conformité" id="{f3aa6c57-2271-f170-281e-e806afb61fad}">
          <p14:sldIdLst>
            <p14:sldId id="268"/>
            <p14:sldId id="269"/>
            <p14:sldId id="270"/>
          </p14:sldIdLst>
        </p14:section>
        <p14:section name="Conclusion" id="{4cc75d45-b1b0-d2ba-af32-677a94fe65e1}">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40 s]
Bonjour Mesdames et Messieurs les membres du jury.
Je m'appelle AWADE Constantin Israel, je suis le chef de l'équipe SkyVision Togo. Je m'occupe de la conception mécanique, de la structure du drone, de l'intégration électronique et du contrôle qualité.
Nous sommes cinq passionnés de drones résidant au Togo, et nous avons le plaisir de vous présenter notre projet pour le CECFD 2026 : la Sentinelle Aérienne, un drone hybride à décollage vertical, dédié à la surveillance et à la sécurisation des zones sensibles.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35 s]
Avant d'entrer dans le détail, voici notre équipe et l'ordre dans lequel nous allons intervenir.
Je vais vous présenter le besoin et le drone lui-même. Angelo vous parlera ensuite du logiciel embarqué et de la station au sol. Makafui présentera les liaisons radio et la cybersécurité. Roger vous montrera l'intelligence artificielle embarquée. Enfin, Cédric présentera la supervision, la documentation, notre conformité et notre calendrier.
Chaque membre est responsable d'un lot, mais tout converge vers un seul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45 s]
Partons du besoin. Surveiller un aéroport, une frontière ou un site industriel, c'est couvrir de grandes surfaces, souvent loin de toute piste et sans connexion fiable.
Aujourd'hui, on a deux familles de drones, et chacune a un défaut. Le multirotor décolle n'importe où, mais il consomme énormément pour rester en l'air : 20 à 30 minutes en général. L'avion à voilure fixe vole longtemps et vite, mais il lui faut une piste ou une catapulte.
Et dans les deux cas, les images sont souvent analysées après le vol : quand on découvre l'anomalie, il est déjà trop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45 s]
Notre réponse, c'est la Sentinelle Aérienne SA-1 : un drone hybride VTOL, de type « quadplane ».
Quatre moteurs verticaux le font décoller et atterrir comme un hélicoptère, depuis n'importe quel terrain, même confiné. Une fois en l'air, il bascule en vol horizontal : c'est l'aile qui le porte, et un moteur propulsif à l'arrière le fait avancer. Il couvre alors de grandes zones en économisant son énergie.
Et nous ajoutons deux innovations qui sont au cœur de la thématique Surveillance et Sécurité : une intelligence artificielle qui analyse les images à bord, en temps réel, et une liaison sécurisée dès la conception, chiffrée, authentifiée et résistante au brouillage.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45 s]
Voici la carte d'identité du SA-1, issue de notre dimensionnement.
Deux mètres d'envergure, 6,4 kilos au décollage, marge comprise. Une batterie lithium-polymère 6S de 16 000 milliampères-heure, soit 355 wattheures.
En stationnaire, le drone consomme environ 1 000 watts ; en croisière, moins de 300. C'est tout l'intérêt de l'hybride. Le calcul donne environ 50 minutes de vol théorique ; nous annonçons volontairement 30 à 45 minutes, pour garder une marge face au vent, à la chaleur et au vieillissement de la batterie.
Croisière à 68 kilomètres-heure. Seuls les essais en vol feront foi, et ils sont prévus.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50 s]
Côté structure, la cellule est en fibre de carbone et composite, modélisée sous SolidWorks.
On a un fuselage central qui reçoit la batterie, l'avionique et le module IA ; une aile en trois parties, démontable pour le transport ; deux poutres en carbone qui portent les moteurs verticaux et un empennage en H.
Les zones où passent les antennes sont en fibre de verre, car le carbone bloque les ondes radio.
Ici, vous voyez la vue éclatée : chaque pièce a été dimensionnée, pesée et placée pour que le centre de gravité tombe au bon endroit. Le bilan de masse complet est dans notre dossier technique.
Je passe maintenant la parole à Angelo pour le cerveau du drone.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 ≈ 55 s]
Merci Israel. Bonjour à tous, je m'appelle LOGO ADANTO Angelo. Dans l'équipe, je suis responsable du développement logiciel embarqué et de l'interface de la station de contrôle au sol.
Le cerveau du SA-1, c'est un contrôleur de vol sous ArduPilot, en mode QuadPlane. Il fusionne en permanence les capteurs : centrale inertielle, baromètre, compas, GPS, vitesse air et télémètre laser.
Le moment critique d'un VTOL, c'est la transition. Le drone décolle à la verticale, puis le moteur de croisière accélère. Tant que l'aile ne porte pas assez, les moteurs verticaux continuent d'aider. Quand la vitesse air dépasse le seuil de sécurité, environ 15 mètres par seconde, les moteurs verticaux s'arrêtent et l'aile prend le relais. À l'atterrissage, c'est l'inverse.
Tout cela est automatique et paramétré : le fichier de paramètres est déjà prêt.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 ≈ 45 s]
Au sol, l'opérateur dispose d'une station de contrôle.
Avant le vol, il dessine la mission sur la carte : points de passage, altitude, zone autorisée, point d'atterrissage.
Pendant le vol, il suit la télémétrie : position, vitesse, batterie, état des liaisons.
Et surtout, il reçoit les alertes de l'IA en direct : la classe de l'objet, l'heure, la zone, et une image de preuve. L'opérateur n'a pas à regarder la vidéo en continu : c'est le drone qui lui signale ce qui mérite son attention.
Je laisse la parole à Makafui, qui va vous expliquer comment toutes ces données voyagent en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 ≈ 55 s]
Merci Angelo. Bonjour, je suis de MEDEIROS Makafui Komlan Léopoldo. Je suis responsable des liaisons radio, de la télémétrie, de la sécurisation des communications et de l'architecture réseau.
Notre principe : ne jamais dépendre d'un seul lien. Nous avons trois liaisons indépendantes.
Un lien vidéo HD, pour voir ce que voit le drone, avec les informations de vol, sur 10 à 15 kilomètres.
Une radio longue portée, chiffrée, pour les messages et les ordres, sans vidéo : c'est elle qui porte la télémétrie et les alertes.
Et un canal d'urgence totalement indépendant, de type ExpressLRS, qui sert uniquement à reprendre la main : retour au point de départ ou coupure des moteurs.
Nous avons écarté le satellite et la 4G : trop chers, ou pas disponibles partout dans les zones visées.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 ≈ 50 s]
La sécurité, c'est notre deuxième innovation, et elle est intégrée dès la conception.
Toutes les données sont chiffrées, et chaque message MAVLink est signé : un ordre qui ne porte pas la bonne signature est rejeté par le drone.
Contre le brouillage, nous surveillons la qualité des liaisons et nous basculons sur un autre lien si nécessaire.
Contre le leurrage GPS, nous utilisons deux récepteurs et nous comparons leurs positions avec la centrale inertielle : si une source ment, elle est écartée.
Et si tout tombe, le drone rentre seul au point de départ. En dernier recours, la coupure d'urgence arrête les moteurs.
Je passe la parole à Roger pour l'intelligence artificielle.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 ≈ 60 s]
Merci Makafui. Bonjour à tous, je m'appelle KAINWANG Roger. Dans l'équipe, je suis responsable du traitement des données, de la vision par ordinateur et de la détection d'anomalies par intelligence artificielle.
Notre IA tourne à bord, sur un Raspberry Pi 5 équipé d'un accélérateur AI HAT+ de 26 TOPS. Aucune image n'est envoyée vers un cloud.
La chaîne est simple. La caméra fournit des images horodatées. Un détecteur YOLOv8s, affiné sur nos données, repère trois familles : les personnes, les véhicules et les objets ou débris au sol. On ne garde que ce qui est dans la zone d'intérêt, par exemple la piste et ses abords. Un suivi relie les détections d'une image à l'autre, pour qu'un même objet ne génère qu'une seule alerte. Puis on crée l'alerte avec son image de preuve, on l'enregistre à bord et on l'envoie à la station.
Et si la liaison est coupée, l'IA continue : les alertes sont stockées et envoyées dès que la liaison revient.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 ≈ 50 s]
Quelques points sur la méthode.
Pour les données, nous partons de FOD-A, une base publique de plus de 30 000 objets de piste annotés, complétée par nos propres images filmées avec la caméra du drone. Le modèle est entraîné sur ordinateur, puis compilé pour l'accélérateur.
Pour les objets inconnus, nous sommes honnêtes : un détecteur ne reconnaît que ce qu'il a appris. Donc tout candidat crédible mais sans classe fiable est signalé « à vérifier », avec son image.
Et l'IA reste une aide à l'inspection : elle ne certifie pas qu'une piste est libre, et elle ne pilote jamais le drone. Aucun taux de précision ne sera annoncé avant d'avoir été mesuré.
Le code, les outils et le protocole de test sont déjà dans notre dépôt. Je laisse la parole à Cédric.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 ≈ 50 s]
Merci Roger. Bonjour, je m'appelle KODJOVI Eli Cédric Ankou. Je travaille sur le développement embarqué, le back-end de supervision et la documentation du projet.
Mon rôle, c'est que rien ne se perde. Chaque alerte de l'IA suit un format commun, décrit dans un schéma : classe, score, heure, zone, image de preuve. Le back-end les reçoit, les archive avec la télémétrie, et conserve les journaux de vol, qui sont signés pour garantir qu'ils n'ont pas été modifiés.
Côté documentation, le dossier est déjà fourni : une fiche technique complète qui explique chaque composant, un guide de conception et d'assemblage, les calculs de dimensionnement, les paramètres ArduPilot, les check-lists avant vol, après vol et d'urgence, et des vidéos explicatives.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 ≈ 40 s]
Voici comment nous répondons aux exigences minimales du concours.
La navigation GPS avec retour automatique au point de départ : c'est fait par le contrôleur de vol.
La coupure d'urgence : un interrupteur de coupure moteurs et un mode de descente sécurisée.
Le lien sécurisé : chiffré et authentifié, comme l'a montré Makafui.
L'autonomie : 30 à 45 minutes visées.
La charge utile : une caméra jour et nuit stabilisée, plus le module IA.
Et la documentation technique : c'est le dossier que je viens de vous présenter.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 ≈ 35 s]
Notre calendrier. La candidature a été validée en août, la conception détaillée faite en septembre et le dossier soumis le 30 septembre.
Nous sommes aujourd'hui dans la phase de prototypage : assemblage, intégration électronique, puis essais au sol, en vol et de sécurité jusqu'à fin novembre.
Et nous serons prêts pour la démonstration de la semaine du 7 décembre.
Je rends la parole à Israel pour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35 s]
Merci Cédric. Un mot sur le budget.
Notre budget prévisionnel se situe entre 730 000 et 1 400 000 francs CFA : la cellule et les moteurs, l'avionique, la caméra, l'énergie, les liaisons et les consommables. Le module d'intelligence artificielle embarquée représente 120 000 à 160 000 francs supplémentaires.
Chaque poste est justifié par notre dimensionnement, et nous privilégions des composants standards, disponibles et réparables.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35 s]
Pour conclure : la Sentinelle Aérienne, c'est un drone qui décolle partout, qui vole longtemps, qui voit et comprend ce qu'il voit, et qui communique en sécurité.
C'est une solution pensée au Togo, pour les besoins de surveillance de nos zones sensibles, et extensible demain à la cartographie ou à l'aide humanitaire.
Merci pour votre attention. Toute l'équipe est à votre disposition pour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UVERTUR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U-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tx2"/>
                </a:solidFill>
              </a:rPr>
              <a:t>SkyVision Togo · Sentinelle Aérienne · CECFD 2026 — ANAC</a:t>
            </a:r>
            <a:endParaRPr lang="en-US" sz="1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video-sentinelle-aerienne/pitch/assets/3d_sa1_assemble.png">    </p:cNvPr>
          <p:cNvPicPr>
            <a:picLocks noChangeAspect="1"/>
          </p:cNvPicPr>
          <p:nvPr/>
        </p:nvPicPr>
        <p:blipFill>
          <a:blip r:embed="rId1"/>
          <a:stretch>
            <a:fillRect/>
          </a:stretch>
        </p:blipFill>
        <p:spPr>
          <a:xfrm>
            <a:off x="5852160" y="2651760"/>
            <a:ext cx="5943600" cy="2935224"/>
          </a:xfrm>
          <a:prstGeom prst="rect">
            <a:avLst/>
          </a:prstGeom>
        </p:spPr>
      </p:pic>
      <p:sp>
        <p:nvSpPr>
          <p:cNvPr id="3" name="Text 0"/>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SKYVISION TOGO  ·  CECFD 2026 — ANAC</a:t>
            </a:r>
            <a:endParaRPr lang="en-US" sz="1400" dirty="0"/>
          </a:p>
        </p:txBody>
      </p:sp>
      <p:sp>
        <p:nvSpPr>
          <p:cNvPr id="4" name="Text 1"/>
          <p:cNvSpPr txBox="1"/>
          <p:nvPr/>
        </p:nvSpPr>
        <p:spPr>
          <a:xfrm>
            <a:off x="548640" y="1188720"/>
            <a:ext cx="6400800" cy="1097280"/>
          </a:xfrm>
          <a:prstGeom prst="rect">
            <a:avLst/>
          </a:prstGeom>
          <a:noFill/>
          <a:ln/>
        </p:spPr>
        <p:txBody>
          <a:bodyPr wrap="square" lIns="0" tIns="0" rIns="0" bIns="0" rtlCol="0" anchor="ctr"/>
          <a:lstStyle/>
          <a:p>
            <a:pPr indent="0" marL="0">
              <a:buNone/>
            </a:pPr>
            <a:r>
              <a:rPr lang="en-US" sz="5400" b="1" dirty="0">
                <a:solidFill>
                  <a:schemeClr val="tx1"/>
                </a:solidFill>
              </a:rPr>
              <a:t>Sentinelle Aérienne</a:t>
            </a:r>
            <a:endParaRPr lang="en-US" sz="5400" dirty="0"/>
          </a:p>
        </p:txBody>
      </p:sp>
      <p:sp>
        <p:nvSpPr>
          <p:cNvPr id="5" name="Text 2"/>
          <p:cNvSpPr txBox="1"/>
          <p:nvPr/>
        </p:nvSpPr>
        <p:spPr>
          <a:xfrm>
            <a:off x="548640" y="2331720"/>
            <a:ext cx="5120640" cy="1005840"/>
          </a:xfrm>
          <a:prstGeom prst="rect">
            <a:avLst/>
          </a:prstGeom>
          <a:noFill/>
          <a:ln/>
        </p:spPr>
        <p:txBody>
          <a:bodyPr wrap="square" lIns="0" tIns="0" rIns="0" bIns="0" rtlCol="0" anchor="ctr"/>
          <a:lstStyle/>
          <a:p>
            <a:pPr indent="0" marL="0">
              <a:buNone/>
            </a:pPr>
            <a:r>
              <a:rPr lang="en-US" sz="2000" dirty="0">
                <a:solidFill>
                  <a:schemeClr val="tx2"/>
                </a:solidFill>
              </a:rPr>
              <a:t>Drone hybride VTOL de surveillance des zones sensibles, avec IA embarquée et liaison sécurisée</a:t>
            </a:r>
            <a:endParaRPr lang="en-US" sz="2000" dirty="0"/>
          </a:p>
        </p:txBody>
      </p:sp>
      <p:sp>
        <p:nvSpPr>
          <p:cNvPr id="6" name="Text 3"/>
          <p:cNvSpPr txBox="1"/>
          <p:nvPr/>
        </p:nvSpPr>
        <p:spPr>
          <a:xfrm>
            <a:off x="548640" y="3657600"/>
            <a:ext cx="5486400" cy="365760"/>
          </a:xfrm>
          <a:prstGeom prst="rect">
            <a:avLst/>
          </a:prstGeom>
          <a:noFill/>
          <a:ln/>
        </p:spPr>
        <p:txBody>
          <a:bodyPr wrap="square" lIns="0" tIns="0" rIns="0" bIns="0" rtlCol="0" anchor="ctr"/>
          <a:lstStyle/>
          <a:p>
            <a:pPr indent="0" marL="0">
              <a:buNone/>
            </a:pPr>
            <a:r>
              <a:rPr lang="en-US" sz="1600" b="1" dirty="0">
                <a:solidFill>
                  <a:schemeClr val="accent2"/>
                </a:solidFill>
              </a:rPr>
              <a:t>Thématique : </a:t>
            </a:r>
            <a:pPr indent="0" marL="0">
              <a:buNone/>
            </a:pPr>
            <a:r>
              <a:rPr lang="en-US" sz="1600" dirty="0">
                <a:solidFill>
                  <a:schemeClr val="tx1"/>
                </a:solidFill>
              </a:rPr>
              <a:t>Surveillance &amp; Sécurité</a:t>
            </a:r>
            <a:endParaRPr lang="en-US" sz="1600" dirty="0"/>
          </a:p>
        </p:txBody>
      </p:sp>
      <p:sp>
        <p:nvSpPr>
          <p:cNvPr id="7" name="Text 4"/>
          <p:cNvSpPr txBox="1"/>
          <p:nvPr/>
        </p:nvSpPr>
        <p:spPr>
          <a:xfrm>
            <a:off x="548640" y="4572000"/>
            <a:ext cx="5943600" cy="1554480"/>
          </a:xfrm>
          <a:prstGeom prst="rect">
            <a:avLst/>
          </a:prstGeom>
          <a:noFill/>
          <a:ln/>
        </p:spPr>
        <p:txBody>
          <a:bodyPr wrap="square" lIns="0" tIns="0" rIns="0" bIns="0" rtlCol="0" anchor="ctr"/>
          <a:lstStyle/>
          <a:p>
            <a:pPr indent="0" marL="0">
              <a:spcAft>
                <a:spcPts val="200"/>
              </a:spcAft>
              <a:buNone/>
            </a:pPr>
            <a:r>
              <a:rPr lang="en-US" sz="1400" dirty="0">
                <a:solidFill>
                  <a:schemeClr val="tx2"/>
                </a:solidFill>
              </a:rPr>
              <a:t>AWADE Constantin Israel</a:t>
            </a:r>
            <a:endParaRPr lang="en-US" sz="1400" dirty="0"/>
          </a:p>
          <a:p>
            <a:pPr indent="0" marL="0">
              <a:spcAft>
                <a:spcPts val="200"/>
              </a:spcAft>
              <a:buNone/>
            </a:pPr>
            <a:r>
              <a:rPr lang="en-US" sz="1400" dirty="0">
                <a:solidFill>
                  <a:schemeClr val="tx2"/>
                </a:solidFill>
              </a:rPr>
              <a:t>LOGO ADANTO Angelo</a:t>
            </a:r>
            <a:endParaRPr lang="en-US" sz="1400" dirty="0"/>
          </a:p>
          <a:p>
            <a:pPr indent="0" marL="0">
              <a:spcAft>
                <a:spcPts val="200"/>
              </a:spcAft>
              <a:buNone/>
            </a:pPr>
            <a:r>
              <a:rPr lang="en-US" sz="1400" dirty="0">
                <a:solidFill>
                  <a:schemeClr val="tx2"/>
                </a:solidFill>
              </a:rPr>
              <a:t>de MEDEIROS Makafui Komlan Léopoldo</a:t>
            </a:r>
            <a:endParaRPr lang="en-US" sz="1400" dirty="0"/>
          </a:p>
          <a:p>
            <a:pPr indent="0" marL="0">
              <a:spcAft>
                <a:spcPts val="200"/>
              </a:spcAft>
              <a:buNone/>
            </a:pPr>
            <a:r>
              <a:rPr lang="en-US" sz="1400" dirty="0">
                <a:solidFill>
                  <a:schemeClr val="tx2"/>
                </a:solidFill>
              </a:rPr>
              <a:t>KAINWANG Roger</a:t>
            </a:r>
            <a:endParaRPr lang="en-US" sz="1400" dirty="0"/>
          </a:p>
          <a:p>
            <a:pPr indent="0" marL="0">
              <a:spcAft>
                <a:spcPts val="200"/>
              </a:spcAft>
              <a:buNone/>
            </a:pPr>
            <a:r>
              <a:rPr lang="en-US" sz="1400" dirty="0">
                <a:solidFill>
                  <a:schemeClr val="tx2"/>
                </a:solidFill>
              </a:rPr>
              <a:t>KODJOVI Eli Cédric Ankou</a:t>
            </a:r>
            <a:endParaRPr lang="en-US" sz="1400" dirty="0"/>
          </a:p>
        </p:txBody>
      </p:sp>
      <p:sp>
        <p:nvSpPr>
          <p:cNvPr id="8" name="Text 5"/>
          <p:cNvSpPr txBox="1"/>
          <p:nvPr/>
        </p:nvSpPr>
        <p:spPr>
          <a:xfrm>
            <a:off x="6949440" y="5989320"/>
            <a:ext cx="4663440" cy="320040"/>
          </a:xfrm>
          <a:prstGeom prst="rect">
            <a:avLst/>
          </a:prstGeom>
          <a:noFill/>
          <a:ln/>
        </p:spPr>
        <p:txBody>
          <a:bodyPr wrap="square" lIns="0" tIns="0" rIns="0" bIns="0" rtlCol="0" anchor="ctr"/>
          <a:lstStyle/>
          <a:p>
            <a:pPr algn="r" indent="0" marL="0">
              <a:buNone/>
            </a:pPr>
            <a:r>
              <a:rPr lang="en-US" sz="1200" i="1" dirty="0">
                <a:solidFill>
                  <a:schemeClr val="tx2"/>
                </a:solidFill>
              </a:rPr>
              <a:t>Présenté par Israel (chef d'équipe)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Une équipe, cinq lots, un seul système</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sp>
        <p:nvSpPr>
          <p:cNvPr id="8" name="Membre Israel"/>
          <p:cNvSpPr/>
          <p:nvPr/>
        </p:nvSpPr>
        <p:spPr>
          <a:xfrm>
            <a:off x="548640" y="1600200"/>
            <a:ext cx="2048256" cy="3931920"/>
          </a:xfrm>
          <a:prstGeom prst="roundRect">
            <a:avLst>
              <a:gd name="adj" fmla="val 5357"/>
            </a:avLst>
          </a:prstGeom>
          <a:solidFill>
            <a:schemeClr val="bg2">
              <a:alpha val="90000"/>
            </a:schemeClr>
          </a:solidFill>
          <a:ln w="12700">
            <a:solidFill>
              <a:schemeClr val="accent5"/>
            </a:solidFill>
            <a:prstDash val="solid"/>
          </a:ln>
        </p:spPr>
      </p:sp>
      <p:sp>
        <p:nvSpPr>
          <p:cNvPr id="9" name="Shape 5"/>
          <p:cNvSpPr/>
          <p:nvPr/>
        </p:nvSpPr>
        <p:spPr>
          <a:xfrm>
            <a:off x="1115568" y="1920240"/>
            <a:ext cx="914400" cy="9144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1335024" y="2139696"/>
            <a:ext cx="475488" cy="475488"/>
          </a:xfrm>
          <a:prstGeom prst="rect">
            <a:avLst/>
          </a:prstGeom>
        </p:spPr>
      </p:pic>
      <p:sp>
        <p:nvSpPr>
          <p:cNvPr id="11" name="Text 6"/>
          <p:cNvSpPr txBox="1"/>
          <p:nvPr/>
        </p:nvSpPr>
        <p:spPr>
          <a:xfrm>
            <a:off x="685800" y="1737360"/>
            <a:ext cx="365760" cy="365760"/>
          </a:xfrm>
          <a:prstGeom prst="rect">
            <a:avLst/>
          </a:prstGeom>
          <a:noFill/>
          <a:ln/>
        </p:spPr>
        <p:txBody>
          <a:bodyPr wrap="square" lIns="0" tIns="0" rIns="0" bIns="0" rtlCol="0" anchor="ctr"/>
          <a:lstStyle/>
          <a:p>
            <a:pPr indent="0" marL="0">
              <a:buNone/>
            </a:pPr>
            <a:r>
              <a:rPr lang="en-US" sz="1400" b="1" dirty="0">
                <a:solidFill>
                  <a:schemeClr val="accent2"/>
                </a:solidFill>
              </a:rPr>
              <a:t>1</a:t>
            </a:r>
            <a:endParaRPr lang="en-US" sz="1400" dirty="0"/>
          </a:p>
        </p:txBody>
      </p:sp>
      <p:sp>
        <p:nvSpPr>
          <p:cNvPr id="12" name="Text 7"/>
          <p:cNvSpPr txBox="1"/>
          <p:nvPr/>
        </p:nvSpPr>
        <p:spPr>
          <a:xfrm>
            <a:off x="685800" y="3017520"/>
            <a:ext cx="1773936" cy="914400"/>
          </a:xfrm>
          <a:prstGeom prst="rect">
            <a:avLst/>
          </a:prstGeom>
          <a:noFill/>
          <a:ln/>
        </p:spPr>
        <p:txBody>
          <a:bodyPr wrap="square" lIns="0" tIns="0" rIns="0" bIns="0" rtlCol="0" anchor="t"/>
          <a:lstStyle/>
          <a:p>
            <a:pPr algn="ctr" indent="0" marL="0">
              <a:buNone/>
            </a:pPr>
            <a:r>
              <a:rPr lang="en-US" sz="1500" b="1" dirty="0">
                <a:solidFill>
                  <a:schemeClr val="tx1"/>
                </a:solidFill>
              </a:rPr>
              <a:t>AWADE Constantin Israel</a:t>
            </a:r>
            <a:endParaRPr lang="en-US" sz="1500" dirty="0"/>
          </a:p>
        </p:txBody>
      </p:sp>
      <p:sp>
        <p:nvSpPr>
          <p:cNvPr id="13" name="Text 8"/>
          <p:cNvSpPr txBox="1"/>
          <p:nvPr/>
        </p:nvSpPr>
        <p:spPr>
          <a:xfrm>
            <a:off x="685800" y="3977640"/>
            <a:ext cx="1773936" cy="1645920"/>
          </a:xfrm>
          <a:prstGeom prst="rect">
            <a:avLst/>
          </a:prstGeom>
          <a:noFill/>
          <a:ln/>
        </p:spPr>
        <p:txBody>
          <a:bodyPr wrap="square" lIns="0" tIns="0" rIns="0" bIns="0" rtlCol="0" anchor="t"/>
          <a:lstStyle/>
          <a:p>
            <a:pPr algn="ctr" indent="0" marL="0">
              <a:spcAft>
                <a:spcPts val="400"/>
              </a:spcAft>
              <a:buNone/>
            </a:pPr>
            <a:r>
              <a:rPr lang="en-US" sz="1300" dirty="0">
                <a:solidFill>
                  <a:schemeClr val="tx2"/>
                </a:solidFill>
              </a:rPr>
              <a:t>Chef d'équipe</a:t>
            </a:r>
            <a:endParaRPr lang="en-US" sz="1300" dirty="0"/>
          </a:p>
          <a:p>
            <a:pPr algn="ctr" indent="0" marL="0">
              <a:spcAft>
                <a:spcPts val="400"/>
              </a:spcAft>
              <a:buNone/>
            </a:pPr>
            <a:r>
              <a:rPr lang="en-US" sz="1300" dirty="0">
                <a:solidFill>
                  <a:schemeClr val="tx2"/>
                </a:solidFill>
              </a:rPr>
              <a:t>Mécanique, structure, intégration</a:t>
            </a:r>
            <a:endParaRPr lang="en-US" sz="1300" dirty="0"/>
          </a:p>
        </p:txBody>
      </p:sp>
      <p:sp>
        <p:nvSpPr>
          <p:cNvPr id="14" name="Membre Angelo"/>
          <p:cNvSpPr/>
          <p:nvPr/>
        </p:nvSpPr>
        <p:spPr>
          <a:xfrm>
            <a:off x="2752344" y="1600200"/>
            <a:ext cx="2048256" cy="3931920"/>
          </a:xfrm>
          <a:prstGeom prst="roundRect">
            <a:avLst>
              <a:gd name="adj" fmla="val 5357"/>
            </a:avLst>
          </a:prstGeom>
          <a:solidFill>
            <a:schemeClr val="bg2">
              <a:alpha val="90000"/>
            </a:schemeClr>
          </a:solidFill>
          <a:ln w="12700">
            <a:solidFill>
              <a:schemeClr val="accent5"/>
            </a:solidFill>
            <a:prstDash val="solid"/>
          </a:ln>
        </p:spPr>
      </p:sp>
      <p:sp>
        <p:nvSpPr>
          <p:cNvPr id="15" name="Shape 10"/>
          <p:cNvSpPr/>
          <p:nvPr/>
        </p:nvSpPr>
        <p:spPr>
          <a:xfrm>
            <a:off x="3319272" y="1920240"/>
            <a:ext cx="914400" cy="9144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3538728" y="2139696"/>
            <a:ext cx="475488" cy="475488"/>
          </a:xfrm>
          <a:prstGeom prst="rect">
            <a:avLst/>
          </a:prstGeom>
        </p:spPr>
      </p:pic>
      <p:sp>
        <p:nvSpPr>
          <p:cNvPr id="17" name="Text 11"/>
          <p:cNvSpPr txBox="1"/>
          <p:nvPr/>
        </p:nvSpPr>
        <p:spPr>
          <a:xfrm>
            <a:off x="2889504" y="1737360"/>
            <a:ext cx="365760" cy="365760"/>
          </a:xfrm>
          <a:prstGeom prst="rect">
            <a:avLst/>
          </a:prstGeom>
          <a:noFill/>
          <a:ln/>
        </p:spPr>
        <p:txBody>
          <a:bodyPr wrap="square" lIns="0" tIns="0" rIns="0" bIns="0" rtlCol="0" anchor="ctr"/>
          <a:lstStyle/>
          <a:p>
            <a:pPr indent="0" marL="0">
              <a:buNone/>
            </a:pPr>
            <a:r>
              <a:rPr lang="en-US" sz="1400" b="1" dirty="0">
                <a:solidFill>
                  <a:schemeClr val="accent2"/>
                </a:solidFill>
              </a:rPr>
              <a:t>2</a:t>
            </a:r>
            <a:endParaRPr lang="en-US" sz="1400" dirty="0"/>
          </a:p>
        </p:txBody>
      </p:sp>
      <p:sp>
        <p:nvSpPr>
          <p:cNvPr id="18" name="Text 12"/>
          <p:cNvSpPr txBox="1"/>
          <p:nvPr/>
        </p:nvSpPr>
        <p:spPr>
          <a:xfrm>
            <a:off x="2889504" y="3017520"/>
            <a:ext cx="1773936" cy="914400"/>
          </a:xfrm>
          <a:prstGeom prst="rect">
            <a:avLst/>
          </a:prstGeom>
          <a:noFill/>
          <a:ln/>
        </p:spPr>
        <p:txBody>
          <a:bodyPr wrap="square" lIns="0" tIns="0" rIns="0" bIns="0" rtlCol="0" anchor="t"/>
          <a:lstStyle/>
          <a:p>
            <a:pPr algn="ctr" indent="0" marL="0">
              <a:buNone/>
            </a:pPr>
            <a:r>
              <a:rPr lang="en-US" sz="1500" b="1" dirty="0">
                <a:solidFill>
                  <a:schemeClr val="tx1"/>
                </a:solidFill>
              </a:rPr>
              <a:t>LOGO ADANTO Angelo</a:t>
            </a:r>
            <a:endParaRPr lang="en-US" sz="1500" dirty="0"/>
          </a:p>
        </p:txBody>
      </p:sp>
      <p:sp>
        <p:nvSpPr>
          <p:cNvPr id="19" name="Text 13"/>
          <p:cNvSpPr txBox="1"/>
          <p:nvPr/>
        </p:nvSpPr>
        <p:spPr>
          <a:xfrm>
            <a:off x="2889504" y="3977640"/>
            <a:ext cx="1773936" cy="1645920"/>
          </a:xfrm>
          <a:prstGeom prst="rect">
            <a:avLst/>
          </a:prstGeom>
          <a:noFill/>
          <a:ln/>
        </p:spPr>
        <p:txBody>
          <a:bodyPr wrap="square" lIns="0" tIns="0" rIns="0" bIns="0" rtlCol="0" anchor="t"/>
          <a:lstStyle/>
          <a:p>
            <a:pPr algn="ctr" indent="0" marL="0">
              <a:spcAft>
                <a:spcPts val="400"/>
              </a:spcAft>
              <a:buNone/>
            </a:pPr>
            <a:r>
              <a:rPr lang="en-US" sz="1300" dirty="0">
                <a:solidFill>
                  <a:schemeClr val="tx2"/>
                </a:solidFill>
              </a:rPr>
              <a:t>Logiciel embarqué</a:t>
            </a:r>
            <a:endParaRPr lang="en-US" sz="1300" dirty="0"/>
          </a:p>
          <a:p>
            <a:pPr algn="ctr" indent="0" marL="0">
              <a:spcAft>
                <a:spcPts val="400"/>
              </a:spcAft>
              <a:buNone/>
            </a:pPr>
            <a:r>
              <a:rPr lang="en-US" sz="1300" dirty="0">
                <a:solidFill>
                  <a:schemeClr val="tx2"/>
                </a:solidFill>
              </a:rPr>
              <a:t>Station de contrôle au sol</a:t>
            </a:r>
            <a:endParaRPr lang="en-US" sz="1300" dirty="0"/>
          </a:p>
        </p:txBody>
      </p:sp>
      <p:sp>
        <p:nvSpPr>
          <p:cNvPr id="20" name="Membre Makafui"/>
          <p:cNvSpPr/>
          <p:nvPr/>
        </p:nvSpPr>
        <p:spPr>
          <a:xfrm>
            <a:off x="4956048" y="1600200"/>
            <a:ext cx="2048256" cy="3931920"/>
          </a:xfrm>
          <a:prstGeom prst="roundRect">
            <a:avLst>
              <a:gd name="adj" fmla="val 5357"/>
            </a:avLst>
          </a:prstGeom>
          <a:solidFill>
            <a:schemeClr val="bg2">
              <a:alpha val="90000"/>
            </a:schemeClr>
          </a:solidFill>
          <a:ln w="12700">
            <a:solidFill>
              <a:schemeClr val="accent5"/>
            </a:solidFill>
            <a:prstDash val="solid"/>
          </a:ln>
        </p:spPr>
      </p:sp>
      <p:sp>
        <p:nvSpPr>
          <p:cNvPr id="21" name="Shape 15"/>
          <p:cNvSpPr/>
          <p:nvPr/>
        </p:nvSpPr>
        <p:spPr>
          <a:xfrm>
            <a:off x="5522976" y="1920240"/>
            <a:ext cx="914400" cy="9144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5742432" y="2139696"/>
            <a:ext cx="475488" cy="475488"/>
          </a:xfrm>
          <a:prstGeom prst="rect">
            <a:avLst/>
          </a:prstGeom>
        </p:spPr>
      </p:pic>
      <p:sp>
        <p:nvSpPr>
          <p:cNvPr id="23" name="Text 16"/>
          <p:cNvSpPr txBox="1"/>
          <p:nvPr/>
        </p:nvSpPr>
        <p:spPr>
          <a:xfrm>
            <a:off x="5093208" y="1737360"/>
            <a:ext cx="365760" cy="365760"/>
          </a:xfrm>
          <a:prstGeom prst="rect">
            <a:avLst/>
          </a:prstGeom>
          <a:noFill/>
          <a:ln/>
        </p:spPr>
        <p:txBody>
          <a:bodyPr wrap="square" lIns="0" tIns="0" rIns="0" bIns="0" rtlCol="0" anchor="ctr"/>
          <a:lstStyle/>
          <a:p>
            <a:pPr indent="0" marL="0">
              <a:buNone/>
            </a:pPr>
            <a:r>
              <a:rPr lang="en-US" sz="1400" b="1" dirty="0">
                <a:solidFill>
                  <a:schemeClr val="accent2"/>
                </a:solidFill>
              </a:rPr>
              <a:t>3</a:t>
            </a:r>
            <a:endParaRPr lang="en-US" sz="1400" dirty="0"/>
          </a:p>
        </p:txBody>
      </p:sp>
      <p:sp>
        <p:nvSpPr>
          <p:cNvPr id="24" name="Text 17"/>
          <p:cNvSpPr txBox="1"/>
          <p:nvPr/>
        </p:nvSpPr>
        <p:spPr>
          <a:xfrm>
            <a:off x="5093208" y="3017520"/>
            <a:ext cx="1773936" cy="914400"/>
          </a:xfrm>
          <a:prstGeom prst="rect">
            <a:avLst/>
          </a:prstGeom>
          <a:noFill/>
          <a:ln/>
        </p:spPr>
        <p:txBody>
          <a:bodyPr wrap="square" lIns="0" tIns="0" rIns="0" bIns="0" rtlCol="0" anchor="t"/>
          <a:lstStyle/>
          <a:p>
            <a:pPr algn="ctr" indent="0" marL="0">
              <a:buNone/>
            </a:pPr>
            <a:r>
              <a:rPr lang="en-US" sz="1500" b="1" dirty="0">
                <a:solidFill>
                  <a:schemeClr val="tx1"/>
                </a:solidFill>
              </a:rPr>
              <a:t>de MEDEIROS Makafui Komlan Léopoldo</a:t>
            </a:r>
            <a:endParaRPr lang="en-US" sz="1500" dirty="0"/>
          </a:p>
        </p:txBody>
      </p:sp>
      <p:sp>
        <p:nvSpPr>
          <p:cNvPr id="25" name="Text 18"/>
          <p:cNvSpPr txBox="1"/>
          <p:nvPr/>
        </p:nvSpPr>
        <p:spPr>
          <a:xfrm>
            <a:off x="5093208" y="3977640"/>
            <a:ext cx="1773936" cy="1645920"/>
          </a:xfrm>
          <a:prstGeom prst="rect">
            <a:avLst/>
          </a:prstGeom>
          <a:noFill/>
          <a:ln/>
        </p:spPr>
        <p:txBody>
          <a:bodyPr wrap="square" lIns="0" tIns="0" rIns="0" bIns="0" rtlCol="0" anchor="t"/>
          <a:lstStyle/>
          <a:p>
            <a:pPr algn="ctr" indent="0" marL="0">
              <a:spcAft>
                <a:spcPts val="400"/>
              </a:spcAft>
              <a:buNone/>
            </a:pPr>
            <a:r>
              <a:rPr lang="en-US" sz="1300" dirty="0">
                <a:solidFill>
                  <a:schemeClr val="tx2"/>
                </a:solidFill>
              </a:rPr>
              <a:t>Liaisons radio</a:t>
            </a:r>
            <a:endParaRPr lang="en-US" sz="1300" dirty="0"/>
          </a:p>
          <a:p>
            <a:pPr algn="ctr" indent="0" marL="0">
              <a:spcAft>
                <a:spcPts val="400"/>
              </a:spcAft>
              <a:buNone/>
            </a:pPr>
            <a:r>
              <a:rPr lang="en-US" sz="1300" dirty="0">
                <a:solidFill>
                  <a:schemeClr val="tx2"/>
                </a:solidFill>
              </a:rPr>
              <a:t>Télémétrie</a:t>
            </a:r>
            <a:endParaRPr lang="en-US" sz="1300" dirty="0"/>
          </a:p>
          <a:p>
            <a:pPr algn="ctr" indent="0" marL="0">
              <a:spcAft>
                <a:spcPts val="400"/>
              </a:spcAft>
              <a:buNone/>
            </a:pPr>
            <a:r>
              <a:rPr lang="en-US" sz="1300" dirty="0">
                <a:solidFill>
                  <a:schemeClr val="tx2"/>
                </a:solidFill>
              </a:rPr>
              <a:t>Cybersécurité</a:t>
            </a:r>
            <a:endParaRPr lang="en-US" sz="1300" dirty="0"/>
          </a:p>
        </p:txBody>
      </p:sp>
      <p:sp>
        <p:nvSpPr>
          <p:cNvPr id="26" name="Membre Roger"/>
          <p:cNvSpPr/>
          <p:nvPr/>
        </p:nvSpPr>
        <p:spPr>
          <a:xfrm>
            <a:off x="7159752" y="1600200"/>
            <a:ext cx="2048256" cy="3931920"/>
          </a:xfrm>
          <a:prstGeom prst="roundRect">
            <a:avLst>
              <a:gd name="adj" fmla="val 5357"/>
            </a:avLst>
          </a:prstGeom>
          <a:solidFill>
            <a:schemeClr val="bg2">
              <a:alpha val="90000"/>
            </a:schemeClr>
          </a:solidFill>
          <a:ln w="12700">
            <a:solidFill>
              <a:schemeClr val="accent5"/>
            </a:solidFill>
            <a:prstDash val="solid"/>
          </a:ln>
        </p:spPr>
      </p:sp>
      <p:sp>
        <p:nvSpPr>
          <p:cNvPr id="27" name="Shape 20"/>
          <p:cNvSpPr/>
          <p:nvPr/>
        </p:nvSpPr>
        <p:spPr>
          <a:xfrm>
            <a:off x="7726680" y="1920240"/>
            <a:ext cx="914400" cy="914400"/>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7946136" y="2139696"/>
            <a:ext cx="475488" cy="475488"/>
          </a:xfrm>
          <a:prstGeom prst="rect">
            <a:avLst/>
          </a:prstGeom>
        </p:spPr>
      </p:pic>
      <p:sp>
        <p:nvSpPr>
          <p:cNvPr id="29" name="Text 21"/>
          <p:cNvSpPr txBox="1"/>
          <p:nvPr/>
        </p:nvSpPr>
        <p:spPr>
          <a:xfrm>
            <a:off x="7296912" y="1737360"/>
            <a:ext cx="365760" cy="365760"/>
          </a:xfrm>
          <a:prstGeom prst="rect">
            <a:avLst/>
          </a:prstGeom>
          <a:noFill/>
          <a:ln/>
        </p:spPr>
        <p:txBody>
          <a:bodyPr wrap="square" lIns="0" tIns="0" rIns="0" bIns="0" rtlCol="0" anchor="ctr"/>
          <a:lstStyle/>
          <a:p>
            <a:pPr indent="0" marL="0">
              <a:buNone/>
            </a:pPr>
            <a:r>
              <a:rPr lang="en-US" sz="1400" b="1" dirty="0">
                <a:solidFill>
                  <a:schemeClr val="accent2"/>
                </a:solidFill>
              </a:rPr>
              <a:t>4</a:t>
            </a:r>
            <a:endParaRPr lang="en-US" sz="1400" dirty="0"/>
          </a:p>
        </p:txBody>
      </p:sp>
      <p:sp>
        <p:nvSpPr>
          <p:cNvPr id="30" name="Text 22"/>
          <p:cNvSpPr txBox="1"/>
          <p:nvPr/>
        </p:nvSpPr>
        <p:spPr>
          <a:xfrm>
            <a:off x="7296912" y="3017520"/>
            <a:ext cx="1773936" cy="914400"/>
          </a:xfrm>
          <a:prstGeom prst="rect">
            <a:avLst/>
          </a:prstGeom>
          <a:noFill/>
          <a:ln/>
        </p:spPr>
        <p:txBody>
          <a:bodyPr wrap="square" lIns="0" tIns="0" rIns="0" bIns="0" rtlCol="0" anchor="t"/>
          <a:lstStyle/>
          <a:p>
            <a:pPr algn="ctr" indent="0" marL="0">
              <a:buNone/>
            </a:pPr>
            <a:r>
              <a:rPr lang="en-US" sz="1500" b="1" dirty="0">
                <a:solidFill>
                  <a:schemeClr val="tx1"/>
                </a:solidFill>
              </a:rPr>
              <a:t>KAINWANG Roger</a:t>
            </a:r>
            <a:endParaRPr lang="en-US" sz="1500" dirty="0"/>
          </a:p>
        </p:txBody>
      </p:sp>
      <p:sp>
        <p:nvSpPr>
          <p:cNvPr id="31" name="Text 23"/>
          <p:cNvSpPr txBox="1"/>
          <p:nvPr/>
        </p:nvSpPr>
        <p:spPr>
          <a:xfrm>
            <a:off x="7296912" y="3977640"/>
            <a:ext cx="1773936" cy="1645920"/>
          </a:xfrm>
          <a:prstGeom prst="rect">
            <a:avLst/>
          </a:prstGeom>
          <a:noFill/>
          <a:ln/>
        </p:spPr>
        <p:txBody>
          <a:bodyPr wrap="square" lIns="0" tIns="0" rIns="0" bIns="0" rtlCol="0" anchor="t"/>
          <a:lstStyle/>
          <a:p>
            <a:pPr algn="ctr" indent="0" marL="0">
              <a:spcAft>
                <a:spcPts val="400"/>
              </a:spcAft>
              <a:buNone/>
            </a:pPr>
            <a:r>
              <a:rPr lang="en-US" sz="1300" dirty="0">
                <a:solidFill>
                  <a:schemeClr val="tx2"/>
                </a:solidFill>
              </a:rPr>
              <a:t>Données</a:t>
            </a:r>
            <a:endParaRPr lang="en-US" sz="1300" dirty="0"/>
          </a:p>
          <a:p>
            <a:pPr algn="ctr" indent="0" marL="0">
              <a:spcAft>
                <a:spcPts val="400"/>
              </a:spcAft>
              <a:buNone/>
            </a:pPr>
            <a:r>
              <a:rPr lang="en-US" sz="1300" dirty="0">
                <a:solidFill>
                  <a:schemeClr val="tx2"/>
                </a:solidFill>
              </a:rPr>
              <a:t>Vision par ordinateur</a:t>
            </a:r>
            <a:endParaRPr lang="en-US" sz="1300" dirty="0"/>
          </a:p>
          <a:p>
            <a:pPr algn="ctr" indent="0" marL="0">
              <a:spcAft>
                <a:spcPts val="400"/>
              </a:spcAft>
              <a:buNone/>
            </a:pPr>
            <a:r>
              <a:rPr lang="en-US" sz="1300" dirty="0">
                <a:solidFill>
                  <a:schemeClr val="tx2"/>
                </a:solidFill>
              </a:rPr>
              <a:t>IA embarquée</a:t>
            </a:r>
            <a:endParaRPr lang="en-US" sz="1300" dirty="0"/>
          </a:p>
        </p:txBody>
      </p:sp>
      <p:sp>
        <p:nvSpPr>
          <p:cNvPr id="32" name="Membre Cédric"/>
          <p:cNvSpPr/>
          <p:nvPr/>
        </p:nvSpPr>
        <p:spPr>
          <a:xfrm>
            <a:off x="9363456" y="1600200"/>
            <a:ext cx="2048256" cy="3931920"/>
          </a:xfrm>
          <a:prstGeom prst="roundRect">
            <a:avLst>
              <a:gd name="adj" fmla="val 5357"/>
            </a:avLst>
          </a:prstGeom>
          <a:solidFill>
            <a:schemeClr val="bg2">
              <a:alpha val="90000"/>
            </a:schemeClr>
          </a:solidFill>
          <a:ln w="12700">
            <a:solidFill>
              <a:schemeClr val="accent5"/>
            </a:solidFill>
            <a:prstDash val="solid"/>
          </a:ln>
        </p:spPr>
      </p:sp>
      <p:sp>
        <p:nvSpPr>
          <p:cNvPr id="33" name="Shape 25"/>
          <p:cNvSpPr/>
          <p:nvPr/>
        </p:nvSpPr>
        <p:spPr>
          <a:xfrm>
            <a:off x="9930384" y="1920240"/>
            <a:ext cx="914400" cy="914400"/>
          </a:xfrm>
          <a:prstGeom prst="ellipse">
            <a:avLst/>
          </a:prstGeom>
          <a:solidFill>
            <a:schemeClr val="accent1"/>
          </a:solidFill>
          <a:ln/>
        </p:spPr>
      </p:sp>
      <p:pic>
        <p:nvPicPr>
          <p:cNvPr id="34" name="Image 5" descr="preencoded.png">    </p:cNvPr>
          <p:cNvPicPr>
            <a:picLocks noChangeAspect="1"/>
          </p:cNvPicPr>
          <p:nvPr/>
        </p:nvPicPr>
        <p:blipFill>
          <a:blip r:embed="rId6"/>
          <a:stretch>
            <a:fillRect/>
          </a:stretch>
        </p:blipFill>
        <p:spPr>
          <a:xfrm>
            <a:off x="10149840" y="2139696"/>
            <a:ext cx="475488" cy="475488"/>
          </a:xfrm>
          <a:prstGeom prst="rect">
            <a:avLst/>
          </a:prstGeom>
        </p:spPr>
      </p:pic>
      <p:sp>
        <p:nvSpPr>
          <p:cNvPr id="35" name="Text 26"/>
          <p:cNvSpPr txBox="1"/>
          <p:nvPr/>
        </p:nvSpPr>
        <p:spPr>
          <a:xfrm>
            <a:off x="9500616" y="1737360"/>
            <a:ext cx="365760" cy="365760"/>
          </a:xfrm>
          <a:prstGeom prst="rect">
            <a:avLst/>
          </a:prstGeom>
          <a:noFill/>
          <a:ln/>
        </p:spPr>
        <p:txBody>
          <a:bodyPr wrap="square" lIns="0" tIns="0" rIns="0" bIns="0" rtlCol="0" anchor="ctr"/>
          <a:lstStyle/>
          <a:p>
            <a:pPr indent="0" marL="0">
              <a:buNone/>
            </a:pPr>
            <a:r>
              <a:rPr lang="en-US" sz="1400" b="1" dirty="0">
                <a:solidFill>
                  <a:schemeClr val="accent2"/>
                </a:solidFill>
              </a:rPr>
              <a:t>5</a:t>
            </a:r>
            <a:endParaRPr lang="en-US" sz="1400" dirty="0"/>
          </a:p>
        </p:txBody>
      </p:sp>
      <p:sp>
        <p:nvSpPr>
          <p:cNvPr id="36" name="Text 27"/>
          <p:cNvSpPr txBox="1"/>
          <p:nvPr/>
        </p:nvSpPr>
        <p:spPr>
          <a:xfrm>
            <a:off x="9500616" y="3017520"/>
            <a:ext cx="1773936" cy="914400"/>
          </a:xfrm>
          <a:prstGeom prst="rect">
            <a:avLst/>
          </a:prstGeom>
          <a:noFill/>
          <a:ln/>
        </p:spPr>
        <p:txBody>
          <a:bodyPr wrap="square" lIns="0" tIns="0" rIns="0" bIns="0" rtlCol="0" anchor="t"/>
          <a:lstStyle/>
          <a:p>
            <a:pPr algn="ctr" indent="0" marL="0">
              <a:buNone/>
            </a:pPr>
            <a:r>
              <a:rPr lang="en-US" sz="1500" b="1" dirty="0">
                <a:solidFill>
                  <a:schemeClr val="tx1"/>
                </a:solidFill>
              </a:rPr>
              <a:t>KODJOVI Eli Cédric Ankou</a:t>
            </a:r>
            <a:endParaRPr lang="en-US" sz="1500" dirty="0"/>
          </a:p>
        </p:txBody>
      </p:sp>
      <p:sp>
        <p:nvSpPr>
          <p:cNvPr id="37" name="Text 28"/>
          <p:cNvSpPr txBox="1"/>
          <p:nvPr/>
        </p:nvSpPr>
        <p:spPr>
          <a:xfrm>
            <a:off x="9500616" y="3977640"/>
            <a:ext cx="1773936" cy="1645920"/>
          </a:xfrm>
          <a:prstGeom prst="rect">
            <a:avLst/>
          </a:prstGeom>
          <a:noFill/>
          <a:ln/>
        </p:spPr>
        <p:txBody>
          <a:bodyPr wrap="square" lIns="0" tIns="0" rIns="0" bIns="0" rtlCol="0" anchor="t"/>
          <a:lstStyle/>
          <a:p>
            <a:pPr algn="ctr" indent="0" marL="0">
              <a:spcAft>
                <a:spcPts val="400"/>
              </a:spcAft>
              <a:buNone/>
            </a:pPr>
            <a:r>
              <a:rPr lang="en-US" sz="1300" dirty="0">
                <a:solidFill>
                  <a:schemeClr val="tx2"/>
                </a:solidFill>
              </a:rPr>
              <a:t>Embarqué</a:t>
            </a:r>
            <a:endParaRPr lang="en-US" sz="1300" dirty="0"/>
          </a:p>
          <a:p>
            <a:pPr algn="ctr" indent="0" marL="0">
              <a:spcAft>
                <a:spcPts val="400"/>
              </a:spcAft>
              <a:buNone/>
            </a:pPr>
            <a:r>
              <a:rPr lang="en-US" sz="1300" dirty="0">
                <a:solidFill>
                  <a:schemeClr val="tx2"/>
                </a:solidFill>
              </a:rPr>
              <a:t>Back-end de supervision</a:t>
            </a:r>
            <a:endParaRPr lang="en-US" sz="1300" dirty="0"/>
          </a:p>
          <a:p>
            <a:pPr algn="ctr" indent="0" marL="0">
              <a:spcAft>
                <a:spcPts val="400"/>
              </a:spcAft>
              <a:buNone/>
            </a:pPr>
            <a:r>
              <a:rPr lang="en-US" sz="1300" dirty="0">
                <a:solidFill>
                  <a:schemeClr val="tx2"/>
                </a:solidFill>
              </a:rPr>
              <a:t>Documentation</a:t>
            </a:r>
            <a:endParaRPr lang="en-US" sz="1300" dirty="0"/>
          </a:p>
        </p:txBody>
      </p:sp>
      <p:sp>
        <p:nvSpPr>
          <p:cNvPr id="38" name="Text 29"/>
          <p:cNvSpPr txBox="1"/>
          <p:nvPr/>
        </p:nvSpPr>
        <p:spPr>
          <a:xfrm>
            <a:off x="548640" y="5943600"/>
            <a:ext cx="7315200" cy="274320"/>
          </a:xfrm>
          <a:prstGeom prst="rect">
            <a:avLst/>
          </a:prstGeom>
          <a:noFill/>
          <a:ln/>
        </p:spPr>
        <p:txBody>
          <a:bodyPr wrap="square" lIns="0" tIns="0" rIns="0" bIns="0" rtlCol="0" anchor="ctr"/>
          <a:lstStyle/>
          <a:p>
            <a:pPr indent="0" marL="0">
              <a:buNone/>
            </a:pPr>
            <a:r>
              <a:rPr lang="en-US" sz="1100" i="1" dirty="0">
                <a:solidFill>
                  <a:schemeClr val="tx2"/>
                </a:solidFill>
              </a:rPr>
              <a:t>Les numéros indiquent l'ordre de passage.</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Surveiller loin, longtemps, sans piste</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sp>
        <p:nvSpPr>
          <p:cNvPr id="8" name="Limite 1"/>
          <p:cNvSpPr/>
          <p:nvPr/>
        </p:nvSpPr>
        <p:spPr>
          <a:xfrm>
            <a:off x="548640" y="1645920"/>
            <a:ext cx="3520440" cy="3566160"/>
          </a:xfrm>
          <a:prstGeom prst="roundRect">
            <a:avLst>
              <a:gd name="adj" fmla="val 3117"/>
            </a:avLst>
          </a:prstGeom>
          <a:solidFill>
            <a:schemeClr val="bg2">
              <a:alpha val="90000"/>
            </a:schemeClr>
          </a:solidFill>
          <a:ln w="12700">
            <a:solidFill>
              <a:schemeClr val="accent5"/>
            </a:solidFill>
            <a:prstDash val="solid"/>
          </a:ln>
        </p:spPr>
      </p:sp>
      <p:sp>
        <p:nvSpPr>
          <p:cNvPr id="9" name="Shape 5"/>
          <p:cNvSpPr/>
          <p:nvPr/>
        </p:nvSpPr>
        <p:spPr>
          <a:xfrm>
            <a:off x="868680" y="2011680"/>
            <a:ext cx="822960" cy="82296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1066190" y="2209190"/>
            <a:ext cx="427939" cy="427939"/>
          </a:xfrm>
          <a:prstGeom prst="rect">
            <a:avLst/>
          </a:prstGeom>
        </p:spPr>
      </p:pic>
      <p:sp>
        <p:nvSpPr>
          <p:cNvPr id="11" name="Text 6"/>
          <p:cNvSpPr txBox="1"/>
          <p:nvPr/>
        </p:nvSpPr>
        <p:spPr>
          <a:xfrm>
            <a:off x="868680" y="3017520"/>
            <a:ext cx="2880360" cy="457200"/>
          </a:xfrm>
          <a:prstGeom prst="rect">
            <a:avLst/>
          </a:prstGeom>
          <a:noFill/>
          <a:ln/>
        </p:spPr>
        <p:txBody>
          <a:bodyPr wrap="square" lIns="0" tIns="0" rIns="0" bIns="0" rtlCol="0" anchor="ctr"/>
          <a:lstStyle/>
          <a:p>
            <a:pPr indent="0" marL="0">
              <a:buNone/>
            </a:pPr>
            <a:r>
              <a:rPr lang="en-US" sz="2000" b="1" dirty="0">
                <a:solidFill>
                  <a:schemeClr val="tx1"/>
                </a:solidFill>
              </a:rPr>
              <a:t>Multirotor</a:t>
            </a:r>
            <a:endParaRPr lang="en-US" sz="2000" dirty="0"/>
          </a:p>
        </p:txBody>
      </p:sp>
      <p:sp>
        <p:nvSpPr>
          <p:cNvPr id="12" name="Text 7"/>
          <p:cNvSpPr txBox="1"/>
          <p:nvPr/>
        </p:nvSpPr>
        <p:spPr>
          <a:xfrm>
            <a:off x="868680" y="3566160"/>
            <a:ext cx="2880360" cy="1463040"/>
          </a:xfrm>
          <a:prstGeom prst="rect">
            <a:avLst/>
          </a:prstGeom>
          <a:noFill/>
          <a:ln/>
        </p:spPr>
        <p:txBody>
          <a:bodyPr wrap="square" lIns="0" tIns="0" rIns="0" bIns="0" rtlCol="0" anchor="t"/>
          <a:lstStyle/>
          <a:p>
            <a:pPr indent="0" marL="0">
              <a:buNone/>
            </a:pPr>
            <a:r>
              <a:rPr lang="en-US" sz="1500" dirty="0">
                <a:solidFill>
                  <a:schemeClr val="tx2"/>
                </a:solidFill>
              </a:rPr>
              <a:t>Décolle partout, mais vole peu : 20 à 30 min en général, car il porte tout son poids avec ses moteurs.</a:t>
            </a:r>
            <a:endParaRPr lang="en-US" sz="1500" dirty="0"/>
          </a:p>
        </p:txBody>
      </p:sp>
      <p:sp>
        <p:nvSpPr>
          <p:cNvPr id="13" name="Limite 2"/>
          <p:cNvSpPr/>
          <p:nvPr/>
        </p:nvSpPr>
        <p:spPr>
          <a:xfrm>
            <a:off x="4343400" y="1645920"/>
            <a:ext cx="3520440" cy="3566160"/>
          </a:xfrm>
          <a:prstGeom prst="roundRect">
            <a:avLst>
              <a:gd name="adj" fmla="val 3117"/>
            </a:avLst>
          </a:prstGeom>
          <a:solidFill>
            <a:schemeClr val="bg2">
              <a:alpha val="90000"/>
            </a:schemeClr>
          </a:solidFill>
          <a:ln w="12700">
            <a:solidFill>
              <a:schemeClr val="accent5"/>
            </a:solidFill>
            <a:prstDash val="solid"/>
          </a:ln>
        </p:spPr>
      </p:sp>
      <p:sp>
        <p:nvSpPr>
          <p:cNvPr id="14" name="Shape 9"/>
          <p:cNvSpPr/>
          <p:nvPr/>
        </p:nvSpPr>
        <p:spPr>
          <a:xfrm>
            <a:off x="4663440" y="2011680"/>
            <a:ext cx="822960" cy="82296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4860950" y="2209190"/>
            <a:ext cx="427939" cy="427939"/>
          </a:xfrm>
          <a:prstGeom prst="rect">
            <a:avLst/>
          </a:prstGeom>
        </p:spPr>
      </p:pic>
      <p:sp>
        <p:nvSpPr>
          <p:cNvPr id="16" name="Text 10"/>
          <p:cNvSpPr txBox="1"/>
          <p:nvPr/>
        </p:nvSpPr>
        <p:spPr>
          <a:xfrm>
            <a:off x="4663440" y="3017520"/>
            <a:ext cx="2880360" cy="457200"/>
          </a:xfrm>
          <a:prstGeom prst="rect">
            <a:avLst/>
          </a:prstGeom>
          <a:noFill/>
          <a:ln/>
        </p:spPr>
        <p:txBody>
          <a:bodyPr wrap="square" lIns="0" tIns="0" rIns="0" bIns="0" rtlCol="0" anchor="ctr"/>
          <a:lstStyle/>
          <a:p>
            <a:pPr indent="0" marL="0">
              <a:buNone/>
            </a:pPr>
            <a:r>
              <a:rPr lang="en-US" sz="2000" b="1" dirty="0">
                <a:solidFill>
                  <a:schemeClr val="tx1"/>
                </a:solidFill>
              </a:rPr>
              <a:t>Avion à voilure fixe</a:t>
            </a:r>
            <a:endParaRPr lang="en-US" sz="2000" dirty="0"/>
          </a:p>
        </p:txBody>
      </p:sp>
      <p:sp>
        <p:nvSpPr>
          <p:cNvPr id="17" name="Text 11"/>
          <p:cNvSpPr txBox="1"/>
          <p:nvPr/>
        </p:nvSpPr>
        <p:spPr>
          <a:xfrm>
            <a:off x="4663440" y="3566160"/>
            <a:ext cx="2880360" cy="1463040"/>
          </a:xfrm>
          <a:prstGeom prst="rect">
            <a:avLst/>
          </a:prstGeom>
          <a:noFill/>
          <a:ln/>
        </p:spPr>
        <p:txBody>
          <a:bodyPr wrap="square" lIns="0" tIns="0" rIns="0" bIns="0" rtlCol="0" anchor="t"/>
          <a:lstStyle/>
          <a:p>
            <a:pPr indent="0" marL="0">
              <a:buNone/>
            </a:pPr>
            <a:r>
              <a:rPr lang="en-US" sz="1500" dirty="0">
                <a:solidFill>
                  <a:schemeClr val="tx2"/>
                </a:solidFill>
              </a:rPr>
              <a:t>Vole longtemps et vite, mais a besoin d'une piste ou d'une catapulte pour décoller et se poser.</a:t>
            </a:r>
            <a:endParaRPr lang="en-US" sz="1500" dirty="0"/>
          </a:p>
        </p:txBody>
      </p:sp>
      <p:sp>
        <p:nvSpPr>
          <p:cNvPr id="18" name="Limite 3"/>
          <p:cNvSpPr/>
          <p:nvPr/>
        </p:nvSpPr>
        <p:spPr>
          <a:xfrm>
            <a:off x="8138160" y="1645920"/>
            <a:ext cx="3520440" cy="3566160"/>
          </a:xfrm>
          <a:prstGeom prst="roundRect">
            <a:avLst>
              <a:gd name="adj" fmla="val 3117"/>
            </a:avLst>
          </a:prstGeom>
          <a:solidFill>
            <a:schemeClr val="bg2">
              <a:alpha val="90000"/>
            </a:schemeClr>
          </a:solidFill>
          <a:ln w="12700">
            <a:solidFill>
              <a:schemeClr val="accent5"/>
            </a:solidFill>
            <a:prstDash val="solid"/>
          </a:ln>
        </p:spPr>
      </p:sp>
      <p:sp>
        <p:nvSpPr>
          <p:cNvPr id="19" name="Shape 13"/>
          <p:cNvSpPr/>
          <p:nvPr/>
        </p:nvSpPr>
        <p:spPr>
          <a:xfrm>
            <a:off x="8458200" y="2011680"/>
            <a:ext cx="822960" cy="822960"/>
          </a:xfrm>
          <a:prstGeom prst="ellipse">
            <a:avLst/>
          </a:prstGeom>
          <a:solidFill>
            <a:schemeClr val="accent4"/>
          </a:solidFill>
          <a:ln/>
        </p:spPr>
      </p:sp>
      <p:pic>
        <p:nvPicPr>
          <p:cNvPr id="20" name="Image 3" descr="preencoded.png">    </p:cNvPr>
          <p:cNvPicPr>
            <a:picLocks noChangeAspect="1"/>
          </p:cNvPicPr>
          <p:nvPr/>
        </p:nvPicPr>
        <p:blipFill>
          <a:blip r:embed="rId4"/>
          <a:stretch>
            <a:fillRect/>
          </a:stretch>
        </p:blipFill>
        <p:spPr>
          <a:xfrm>
            <a:off x="8655710" y="2209190"/>
            <a:ext cx="427939" cy="427939"/>
          </a:xfrm>
          <a:prstGeom prst="rect">
            <a:avLst/>
          </a:prstGeom>
        </p:spPr>
      </p:pic>
      <p:sp>
        <p:nvSpPr>
          <p:cNvPr id="21" name="Text 14"/>
          <p:cNvSpPr txBox="1"/>
          <p:nvPr/>
        </p:nvSpPr>
        <p:spPr>
          <a:xfrm>
            <a:off x="8458200" y="3017520"/>
            <a:ext cx="2880360" cy="457200"/>
          </a:xfrm>
          <a:prstGeom prst="rect">
            <a:avLst/>
          </a:prstGeom>
          <a:noFill/>
          <a:ln/>
        </p:spPr>
        <p:txBody>
          <a:bodyPr wrap="square" lIns="0" tIns="0" rIns="0" bIns="0" rtlCol="0" anchor="ctr"/>
          <a:lstStyle/>
          <a:p>
            <a:pPr indent="0" marL="0">
              <a:buNone/>
            </a:pPr>
            <a:r>
              <a:rPr lang="en-US" sz="2000" b="1" dirty="0">
                <a:solidFill>
                  <a:schemeClr val="tx1"/>
                </a:solidFill>
              </a:rPr>
              <a:t>Analyse après le vol</a:t>
            </a:r>
            <a:endParaRPr lang="en-US" sz="2000" dirty="0"/>
          </a:p>
        </p:txBody>
      </p:sp>
      <p:sp>
        <p:nvSpPr>
          <p:cNvPr id="22" name="Text 15"/>
          <p:cNvSpPr txBox="1"/>
          <p:nvPr/>
        </p:nvSpPr>
        <p:spPr>
          <a:xfrm>
            <a:off x="8458200" y="3566160"/>
            <a:ext cx="2880360" cy="1463040"/>
          </a:xfrm>
          <a:prstGeom prst="rect">
            <a:avLst/>
          </a:prstGeom>
          <a:noFill/>
          <a:ln/>
        </p:spPr>
        <p:txBody>
          <a:bodyPr wrap="square" lIns="0" tIns="0" rIns="0" bIns="0" rtlCol="0" anchor="t"/>
          <a:lstStyle/>
          <a:p>
            <a:pPr indent="0" marL="0">
              <a:buNone/>
            </a:pPr>
            <a:r>
              <a:rPr lang="en-US" sz="1500" dirty="0">
                <a:solidFill>
                  <a:schemeClr val="tx2"/>
                </a:solidFill>
              </a:rPr>
              <a:t>Les images sont souvent examinées au retour : l'anomalie est découverte trop tard.</a:t>
            </a:r>
            <a:endParaRPr lang="en-US" sz="1500" dirty="0"/>
          </a:p>
        </p:txBody>
      </p:sp>
      <p:sp>
        <p:nvSpPr>
          <p:cNvPr id="23" name="Text 16"/>
          <p:cNvSpPr txBox="1"/>
          <p:nvPr/>
        </p:nvSpPr>
        <p:spPr>
          <a:xfrm>
            <a:off x="548640" y="5486400"/>
            <a:ext cx="10972800" cy="365760"/>
          </a:xfrm>
          <a:prstGeom prst="rect">
            <a:avLst/>
          </a:prstGeom>
          <a:noFill/>
          <a:ln/>
        </p:spPr>
        <p:txBody>
          <a:bodyPr wrap="square" lIns="0" tIns="0" rIns="0" bIns="0" rtlCol="0" anchor="ctr"/>
          <a:lstStyle/>
          <a:p>
            <a:pPr indent="0" marL="0">
              <a:buNone/>
            </a:pPr>
            <a:r>
              <a:rPr lang="en-US" sz="1500" i="1" dirty="0">
                <a:solidFill>
                  <a:schemeClr val="accent1"/>
                </a:solidFill>
              </a:rPr>
              <a:t>Zones visées : aéroports et pistes, frontières, sites industriels et sensibles du Togo.</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Notre réponse : un hybride VTOL</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pic>
        <p:nvPicPr>
          <p:cNvPr id="8" name="Image 1" descr="/home/user/video-sentinelle-aerienne/pitch/assets/3d_sa1_assemble.png">    </p:cNvPr>
          <p:cNvPicPr>
            <a:picLocks noChangeAspect="1"/>
          </p:cNvPicPr>
          <p:nvPr/>
        </p:nvPicPr>
        <p:blipFill>
          <a:blip r:embed="rId2"/>
          <a:stretch>
            <a:fillRect/>
          </a:stretch>
        </p:blipFill>
        <p:spPr>
          <a:xfrm>
            <a:off x="5394960" y="1417320"/>
            <a:ext cx="6309360" cy="3108960"/>
          </a:xfrm>
          <a:prstGeom prst="rect">
            <a:avLst/>
          </a:prstGeom>
        </p:spPr>
      </p:pic>
      <p:sp>
        <p:nvSpPr>
          <p:cNvPr id="9" name="Shape 4"/>
          <p:cNvSpPr/>
          <p:nvPr/>
        </p:nvSpPr>
        <p:spPr>
          <a:xfrm>
            <a:off x="548640" y="1463040"/>
            <a:ext cx="640080" cy="64008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702259" y="1616659"/>
            <a:ext cx="332842" cy="332842"/>
          </a:xfrm>
          <a:prstGeom prst="rect">
            <a:avLst/>
          </a:prstGeom>
        </p:spPr>
      </p:pic>
      <p:sp>
        <p:nvSpPr>
          <p:cNvPr id="11" name="Text 5"/>
          <p:cNvSpPr txBox="1"/>
          <p:nvPr/>
        </p:nvSpPr>
        <p:spPr>
          <a:xfrm>
            <a:off x="1417320" y="1444752"/>
            <a:ext cx="3657600" cy="365760"/>
          </a:xfrm>
          <a:prstGeom prst="rect">
            <a:avLst/>
          </a:prstGeom>
          <a:noFill/>
          <a:ln/>
        </p:spPr>
        <p:txBody>
          <a:bodyPr wrap="square" lIns="0" tIns="0" rIns="0" bIns="0" rtlCol="0" anchor="ctr"/>
          <a:lstStyle/>
          <a:p>
            <a:pPr indent="0" marL="0">
              <a:buNone/>
            </a:pPr>
            <a:r>
              <a:rPr lang="en-US" sz="1700" b="1" dirty="0">
                <a:solidFill>
                  <a:schemeClr val="tx1"/>
                </a:solidFill>
              </a:rPr>
              <a:t>Décollage et atterrissage verticaux</a:t>
            </a:r>
            <a:endParaRPr lang="en-US" sz="1700" dirty="0"/>
          </a:p>
        </p:txBody>
      </p:sp>
      <p:sp>
        <p:nvSpPr>
          <p:cNvPr id="12" name="Text 6"/>
          <p:cNvSpPr txBox="1"/>
          <p:nvPr/>
        </p:nvSpPr>
        <p:spPr>
          <a:xfrm>
            <a:off x="1417320" y="1810512"/>
            <a:ext cx="3657600" cy="365760"/>
          </a:xfrm>
          <a:prstGeom prst="rect">
            <a:avLst/>
          </a:prstGeom>
          <a:noFill/>
          <a:ln/>
        </p:spPr>
        <p:txBody>
          <a:bodyPr wrap="square" lIns="0" tIns="0" rIns="0" bIns="0" rtlCol="0" anchor="ctr"/>
          <a:lstStyle/>
          <a:p>
            <a:pPr indent="0" marL="0">
              <a:buNone/>
            </a:pPr>
            <a:r>
              <a:rPr lang="en-US" sz="1400" dirty="0">
                <a:solidFill>
                  <a:schemeClr val="tx2"/>
                </a:solidFill>
              </a:rPr>
              <a:t>4 moteurs de sustentation : aucune piste nécessaire.</a:t>
            </a:r>
            <a:endParaRPr lang="en-US" sz="1400" dirty="0"/>
          </a:p>
        </p:txBody>
      </p:sp>
      <p:sp>
        <p:nvSpPr>
          <p:cNvPr id="13" name="Shape 7"/>
          <p:cNvSpPr/>
          <p:nvPr/>
        </p:nvSpPr>
        <p:spPr>
          <a:xfrm>
            <a:off x="548640" y="2514600"/>
            <a:ext cx="640080" cy="64008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702259" y="2668219"/>
            <a:ext cx="332842" cy="332842"/>
          </a:xfrm>
          <a:prstGeom prst="rect">
            <a:avLst/>
          </a:prstGeom>
        </p:spPr>
      </p:pic>
      <p:sp>
        <p:nvSpPr>
          <p:cNvPr id="15" name="Text 8"/>
          <p:cNvSpPr txBox="1"/>
          <p:nvPr/>
        </p:nvSpPr>
        <p:spPr>
          <a:xfrm>
            <a:off x="1417320" y="2496312"/>
            <a:ext cx="3657600" cy="365760"/>
          </a:xfrm>
          <a:prstGeom prst="rect">
            <a:avLst/>
          </a:prstGeom>
          <a:noFill/>
          <a:ln/>
        </p:spPr>
        <p:txBody>
          <a:bodyPr wrap="square" lIns="0" tIns="0" rIns="0" bIns="0" rtlCol="0" anchor="ctr"/>
          <a:lstStyle/>
          <a:p>
            <a:pPr indent="0" marL="0">
              <a:buNone/>
            </a:pPr>
            <a:r>
              <a:rPr lang="en-US" sz="1700" b="1" dirty="0">
                <a:solidFill>
                  <a:schemeClr val="tx1"/>
                </a:solidFill>
              </a:rPr>
              <a:t>Croisière sur l'aile</a:t>
            </a:r>
            <a:endParaRPr lang="en-US" sz="1700" dirty="0"/>
          </a:p>
        </p:txBody>
      </p:sp>
      <p:sp>
        <p:nvSpPr>
          <p:cNvPr id="16" name="Text 9"/>
          <p:cNvSpPr txBox="1"/>
          <p:nvPr/>
        </p:nvSpPr>
        <p:spPr>
          <a:xfrm>
            <a:off x="1417320" y="2862072"/>
            <a:ext cx="3657600" cy="365760"/>
          </a:xfrm>
          <a:prstGeom prst="rect">
            <a:avLst/>
          </a:prstGeom>
          <a:noFill/>
          <a:ln/>
        </p:spPr>
        <p:txBody>
          <a:bodyPr wrap="square" lIns="0" tIns="0" rIns="0" bIns="0" rtlCol="0" anchor="ctr"/>
          <a:lstStyle/>
          <a:p>
            <a:pPr indent="0" marL="0">
              <a:buNone/>
            </a:pPr>
            <a:r>
              <a:rPr lang="en-US" sz="1400" dirty="0">
                <a:solidFill>
                  <a:schemeClr val="tx2"/>
                </a:solidFill>
              </a:rPr>
              <a:t>1 moteur propulsif : grande vitesse, faible consommation.</a:t>
            </a:r>
            <a:endParaRPr lang="en-US" sz="1400" dirty="0"/>
          </a:p>
        </p:txBody>
      </p:sp>
      <p:sp>
        <p:nvSpPr>
          <p:cNvPr id="17" name="Shape 10"/>
          <p:cNvSpPr/>
          <p:nvPr/>
        </p:nvSpPr>
        <p:spPr>
          <a:xfrm>
            <a:off x="548640" y="3566160"/>
            <a:ext cx="640080" cy="640080"/>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702259" y="3719779"/>
            <a:ext cx="332842" cy="332842"/>
          </a:xfrm>
          <a:prstGeom prst="rect">
            <a:avLst/>
          </a:prstGeom>
        </p:spPr>
      </p:pic>
      <p:sp>
        <p:nvSpPr>
          <p:cNvPr id="19" name="Text 11"/>
          <p:cNvSpPr txBox="1"/>
          <p:nvPr/>
        </p:nvSpPr>
        <p:spPr>
          <a:xfrm>
            <a:off x="1417320" y="3547872"/>
            <a:ext cx="3657600" cy="365760"/>
          </a:xfrm>
          <a:prstGeom prst="rect">
            <a:avLst/>
          </a:prstGeom>
          <a:noFill/>
          <a:ln/>
        </p:spPr>
        <p:txBody>
          <a:bodyPr wrap="square" lIns="0" tIns="0" rIns="0" bIns="0" rtlCol="0" anchor="ctr"/>
          <a:lstStyle/>
          <a:p>
            <a:pPr indent="0" marL="0">
              <a:buNone/>
            </a:pPr>
            <a:r>
              <a:rPr lang="en-US" sz="1700" b="1" dirty="0">
                <a:solidFill>
                  <a:schemeClr val="tx1"/>
                </a:solidFill>
              </a:rPr>
              <a:t>Transition automatique</a:t>
            </a:r>
            <a:endParaRPr lang="en-US" sz="1700" dirty="0"/>
          </a:p>
        </p:txBody>
      </p:sp>
      <p:sp>
        <p:nvSpPr>
          <p:cNvPr id="20" name="Text 12"/>
          <p:cNvSpPr txBox="1"/>
          <p:nvPr/>
        </p:nvSpPr>
        <p:spPr>
          <a:xfrm>
            <a:off x="1417320" y="3913632"/>
            <a:ext cx="3657600" cy="365760"/>
          </a:xfrm>
          <a:prstGeom prst="rect">
            <a:avLst/>
          </a:prstGeom>
          <a:noFill/>
          <a:ln/>
        </p:spPr>
        <p:txBody>
          <a:bodyPr wrap="square" lIns="0" tIns="0" rIns="0" bIns="0" rtlCol="0" anchor="ctr"/>
          <a:lstStyle/>
          <a:p>
            <a:pPr indent="0" marL="0">
              <a:buNone/>
            </a:pPr>
            <a:r>
              <a:rPr lang="en-US" sz="1400" dirty="0">
                <a:solidFill>
                  <a:schemeClr val="tx2"/>
                </a:solidFill>
              </a:rPr>
              <a:t>Gérée par le contrôleur de vol.</a:t>
            </a:r>
            <a:endParaRPr lang="en-US" sz="1400" dirty="0"/>
          </a:p>
        </p:txBody>
      </p:sp>
      <p:sp>
        <p:nvSpPr>
          <p:cNvPr id="21" name="Innovation 1"/>
          <p:cNvSpPr/>
          <p:nvPr/>
        </p:nvSpPr>
        <p:spPr>
          <a:xfrm>
            <a:off x="548640" y="4846320"/>
            <a:ext cx="5440680" cy="960120"/>
          </a:xfrm>
          <a:prstGeom prst="roundRect">
            <a:avLst>
              <a:gd name="adj" fmla="val 11429"/>
            </a:avLst>
          </a:prstGeom>
          <a:solidFill>
            <a:schemeClr val="bg2">
              <a:alpha val="90000"/>
            </a:schemeClr>
          </a:solidFill>
          <a:ln w="12700">
            <a:solidFill>
              <a:schemeClr val="accent5"/>
            </a:solidFill>
            <a:prstDash val="solid"/>
          </a:ln>
        </p:spPr>
      </p:sp>
      <p:sp>
        <p:nvSpPr>
          <p:cNvPr id="22" name="Shape 14"/>
          <p:cNvSpPr/>
          <p:nvPr/>
        </p:nvSpPr>
        <p:spPr>
          <a:xfrm>
            <a:off x="777240" y="5029200"/>
            <a:ext cx="594360" cy="594360"/>
          </a:xfrm>
          <a:prstGeom prst="ellipse">
            <a:avLst/>
          </a:prstGeom>
          <a:solidFill>
            <a:schemeClr val="accent2"/>
          </a:solidFill>
          <a:ln/>
        </p:spPr>
      </p:sp>
      <p:pic>
        <p:nvPicPr>
          <p:cNvPr id="23" name="Image 5" descr="preencoded.png">    </p:cNvPr>
          <p:cNvPicPr>
            <a:picLocks noChangeAspect="1"/>
          </p:cNvPicPr>
          <p:nvPr/>
        </p:nvPicPr>
        <p:blipFill>
          <a:blip r:embed="rId6"/>
          <a:stretch>
            <a:fillRect/>
          </a:stretch>
        </p:blipFill>
        <p:spPr>
          <a:xfrm>
            <a:off x="919886" y="5171846"/>
            <a:ext cx="309067" cy="309067"/>
          </a:xfrm>
          <a:prstGeom prst="rect">
            <a:avLst/>
          </a:prstGeom>
        </p:spPr>
      </p:pic>
      <p:sp>
        <p:nvSpPr>
          <p:cNvPr id="24" name="Text 15"/>
          <p:cNvSpPr txBox="1"/>
          <p:nvPr/>
        </p:nvSpPr>
        <p:spPr>
          <a:xfrm>
            <a:off x="1554480" y="4956048"/>
            <a:ext cx="4251960" cy="731520"/>
          </a:xfrm>
          <a:prstGeom prst="rect">
            <a:avLst/>
          </a:prstGeom>
          <a:noFill/>
          <a:ln/>
        </p:spPr>
        <p:txBody>
          <a:bodyPr wrap="square" lIns="0" tIns="0" rIns="0" bIns="0" rtlCol="0" anchor="ctr"/>
          <a:lstStyle/>
          <a:p>
            <a:pPr indent="0" marL="0">
              <a:buNone/>
            </a:pPr>
            <a:r>
              <a:rPr lang="en-US" sz="1200" b="1" dirty="0">
                <a:solidFill>
                  <a:schemeClr val="accent2"/>
                </a:solidFill>
              </a:rPr>
              <a:t>Innovation 1</a:t>
            </a:r>
            <a:endParaRPr lang="en-US" sz="1200" dirty="0"/>
          </a:p>
          <a:p>
            <a:pPr indent="0" marL="0">
              <a:buNone/>
            </a:pPr>
            <a:r>
              <a:rPr lang="en-US" sz="1600" b="1" dirty="0">
                <a:solidFill>
                  <a:schemeClr val="tx1"/>
                </a:solidFill>
              </a:rPr>
              <a:t>IA embarquée de détection en temps réel</a:t>
            </a:r>
            <a:endParaRPr lang="en-US" sz="1200" dirty="0"/>
          </a:p>
        </p:txBody>
      </p:sp>
      <p:sp>
        <p:nvSpPr>
          <p:cNvPr id="25" name="Innovation 2"/>
          <p:cNvSpPr/>
          <p:nvPr/>
        </p:nvSpPr>
        <p:spPr>
          <a:xfrm>
            <a:off x="6172200" y="4846320"/>
            <a:ext cx="5440680" cy="960120"/>
          </a:xfrm>
          <a:prstGeom prst="roundRect">
            <a:avLst>
              <a:gd name="adj" fmla="val 11429"/>
            </a:avLst>
          </a:prstGeom>
          <a:solidFill>
            <a:schemeClr val="bg2">
              <a:alpha val="90000"/>
            </a:schemeClr>
          </a:solidFill>
          <a:ln w="12700">
            <a:solidFill>
              <a:schemeClr val="accent5"/>
            </a:solidFill>
            <a:prstDash val="solid"/>
          </a:ln>
        </p:spPr>
      </p:sp>
      <p:sp>
        <p:nvSpPr>
          <p:cNvPr id="26" name="Shape 17"/>
          <p:cNvSpPr/>
          <p:nvPr/>
        </p:nvSpPr>
        <p:spPr>
          <a:xfrm>
            <a:off x="6400800" y="5029200"/>
            <a:ext cx="594360" cy="594360"/>
          </a:xfrm>
          <a:prstGeom prst="ellipse">
            <a:avLst/>
          </a:prstGeom>
          <a:solidFill>
            <a:schemeClr val="accent2"/>
          </a:solidFill>
          <a:ln/>
        </p:spPr>
      </p:sp>
      <p:pic>
        <p:nvPicPr>
          <p:cNvPr id="27" name="Image 6" descr="preencoded.png">    </p:cNvPr>
          <p:cNvPicPr>
            <a:picLocks noChangeAspect="1"/>
          </p:cNvPicPr>
          <p:nvPr/>
        </p:nvPicPr>
        <p:blipFill>
          <a:blip r:embed="rId7"/>
          <a:stretch>
            <a:fillRect/>
          </a:stretch>
        </p:blipFill>
        <p:spPr>
          <a:xfrm>
            <a:off x="6543446" y="5171846"/>
            <a:ext cx="309067" cy="309067"/>
          </a:xfrm>
          <a:prstGeom prst="rect">
            <a:avLst/>
          </a:prstGeom>
        </p:spPr>
      </p:pic>
      <p:sp>
        <p:nvSpPr>
          <p:cNvPr id="28" name="Text 18"/>
          <p:cNvSpPr txBox="1"/>
          <p:nvPr/>
        </p:nvSpPr>
        <p:spPr>
          <a:xfrm>
            <a:off x="7178040" y="4956048"/>
            <a:ext cx="4251960" cy="731520"/>
          </a:xfrm>
          <a:prstGeom prst="rect">
            <a:avLst/>
          </a:prstGeom>
          <a:noFill/>
          <a:ln/>
        </p:spPr>
        <p:txBody>
          <a:bodyPr wrap="square" lIns="0" tIns="0" rIns="0" bIns="0" rtlCol="0" anchor="ctr"/>
          <a:lstStyle/>
          <a:p>
            <a:pPr indent="0" marL="0">
              <a:buNone/>
            </a:pPr>
            <a:r>
              <a:rPr lang="en-US" sz="1200" b="1" dirty="0">
                <a:solidFill>
                  <a:schemeClr val="accent2"/>
                </a:solidFill>
              </a:rPr>
              <a:t>Innovation 2</a:t>
            </a:r>
            <a:endParaRPr lang="en-US" sz="1200" dirty="0"/>
          </a:p>
          <a:p>
            <a:pPr indent="0" marL="0">
              <a:buNone/>
            </a:pPr>
            <a:r>
              <a:rPr lang="en-US" sz="1600" b="1" dirty="0">
                <a:solidFill>
                  <a:schemeClr val="tx1"/>
                </a:solidFill>
              </a:rPr>
              <a:t>Liaison sécurisée dès la conception</a:t>
            </a:r>
            <a:endParaRPr lang="en-US" sz="12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Le SA-1 en chiffres</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sp>
        <p:nvSpPr>
          <p:cNvPr id="8" name="Chiffre 1"/>
          <p:cNvSpPr/>
          <p:nvPr/>
        </p:nvSpPr>
        <p:spPr>
          <a:xfrm>
            <a:off x="548640" y="1600200"/>
            <a:ext cx="3520440" cy="1965960"/>
          </a:xfrm>
          <a:prstGeom prst="roundRect">
            <a:avLst>
              <a:gd name="adj" fmla="val 5581"/>
            </a:avLst>
          </a:prstGeom>
          <a:solidFill>
            <a:schemeClr val="bg2">
              <a:alpha val="90000"/>
            </a:schemeClr>
          </a:solidFill>
          <a:ln w="12700">
            <a:solidFill>
              <a:schemeClr val="accent5"/>
            </a:solidFill>
            <a:prstDash val="solid"/>
          </a:ln>
        </p:spPr>
      </p:sp>
      <p:sp>
        <p:nvSpPr>
          <p:cNvPr id="9" name="Text 5"/>
          <p:cNvSpPr txBox="1"/>
          <p:nvPr/>
        </p:nvSpPr>
        <p:spPr>
          <a:xfrm>
            <a:off x="822960" y="1874520"/>
            <a:ext cx="2971800" cy="914400"/>
          </a:xfrm>
          <a:prstGeom prst="rect">
            <a:avLst/>
          </a:prstGeom>
          <a:noFill/>
          <a:ln/>
        </p:spPr>
        <p:txBody>
          <a:bodyPr wrap="square" lIns="0" tIns="0" rIns="0" bIns="0" rtlCol="0" anchor="ctr"/>
          <a:lstStyle/>
          <a:p>
            <a:pPr indent="0" marL="0">
              <a:buNone/>
            </a:pPr>
            <a:r>
              <a:rPr lang="en-US" sz="4400" b="1" dirty="0">
                <a:solidFill>
                  <a:schemeClr val="accent1"/>
                </a:solidFill>
              </a:rPr>
              <a:t>2,0 m</a:t>
            </a:r>
            <a:endParaRPr lang="en-US" sz="4400" dirty="0"/>
          </a:p>
        </p:txBody>
      </p:sp>
      <p:sp>
        <p:nvSpPr>
          <p:cNvPr id="10" name="Text 6"/>
          <p:cNvSpPr txBox="1"/>
          <p:nvPr/>
        </p:nvSpPr>
        <p:spPr>
          <a:xfrm>
            <a:off x="822960" y="2834640"/>
            <a:ext cx="2971800" cy="548640"/>
          </a:xfrm>
          <a:prstGeom prst="rect">
            <a:avLst/>
          </a:prstGeom>
          <a:noFill/>
          <a:ln/>
        </p:spPr>
        <p:txBody>
          <a:bodyPr wrap="square" lIns="0" tIns="0" rIns="0" bIns="0" rtlCol="0" anchor="ctr"/>
          <a:lstStyle/>
          <a:p>
            <a:pPr indent="0" marL="0">
              <a:buNone/>
            </a:pPr>
            <a:r>
              <a:rPr lang="en-US" sz="1500" dirty="0">
                <a:solidFill>
                  <a:schemeClr val="tx2"/>
                </a:solidFill>
              </a:rPr>
              <a:t>d'envergure</a:t>
            </a:r>
            <a:endParaRPr lang="en-US" sz="1500" dirty="0"/>
          </a:p>
        </p:txBody>
      </p:sp>
      <p:sp>
        <p:nvSpPr>
          <p:cNvPr id="11" name="Chiffre 2"/>
          <p:cNvSpPr/>
          <p:nvPr/>
        </p:nvSpPr>
        <p:spPr>
          <a:xfrm>
            <a:off x="4343400" y="1600200"/>
            <a:ext cx="3520440" cy="1965960"/>
          </a:xfrm>
          <a:prstGeom prst="roundRect">
            <a:avLst>
              <a:gd name="adj" fmla="val 5581"/>
            </a:avLst>
          </a:prstGeom>
          <a:solidFill>
            <a:schemeClr val="bg2">
              <a:alpha val="90000"/>
            </a:schemeClr>
          </a:solidFill>
          <a:ln w="12700">
            <a:solidFill>
              <a:schemeClr val="accent5"/>
            </a:solidFill>
            <a:prstDash val="solid"/>
          </a:ln>
        </p:spPr>
      </p:sp>
      <p:sp>
        <p:nvSpPr>
          <p:cNvPr id="12" name="Text 8"/>
          <p:cNvSpPr txBox="1"/>
          <p:nvPr/>
        </p:nvSpPr>
        <p:spPr>
          <a:xfrm>
            <a:off x="4617720" y="1874520"/>
            <a:ext cx="2971800" cy="914400"/>
          </a:xfrm>
          <a:prstGeom prst="rect">
            <a:avLst/>
          </a:prstGeom>
          <a:noFill/>
          <a:ln/>
        </p:spPr>
        <p:txBody>
          <a:bodyPr wrap="square" lIns="0" tIns="0" rIns="0" bIns="0" rtlCol="0" anchor="ctr"/>
          <a:lstStyle/>
          <a:p>
            <a:pPr indent="0" marL="0">
              <a:buNone/>
            </a:pPr>
            <a:r>
              <a:rPr lang="en-US" sz="4400" b="1" dirty="0">
                <a:solidFill>
                  <a:schemeClr val="accent1"/>
                </a:solidFill>
              </a:rPr>
              <a:t>6,4 kg</a:t>
            </a:r>
            <a:endParaRPr lang="en-US" sz="4400" dirty="0"/>
          </a:p>
        </p:txBody>
      </p:sp>
      <p:sp>
        <p:nvSpPr>
          <p:cNvPr id="13" name="Text 9"/>
          <p:cNvSpPr txBox="1"/>
          <p:nvPr/>
        </p:nvSpPr>
        <p:spPr>
          <a:xfrm>
            <a:off x="4617720" y="2834640"/>
            <a:ext cx="2971800" cy="548640"/>
          </a:xfrm>
          <a:prstGeom prst="rect">
            <a:avLst/>
          </a:prstGeom>
          <a:noFill/>
          <a:ln/>
        </p:spPr>
        <p:txBody>
          <a:bodyPr wrap="square" lIns="0" tIns="0" rIns="0" bIns="0" rtlCol="0" anchor="ctr"/>
          <a:lstStyle/>
          <a:p>
            <a:pPr indent="0" marL="0">
              <a:buNone/>
            </a:pPr>
            <a:r>
              <a:rPr lang="en-US" sz="1500" dirty="0">
                <a:solidFill>
                  <a:schemeClr val="tx2"/>
                </a:solidFill>
              </a:rPr>
              <a:t>au décollage (marge comprise)</a:t>
            </a:r>
            <a:endParaRPr lang="en-US" sz="1500" dirty="0"/>
          </a:p>
        </p:txBody>
      </p:sp>
      <p:sp>
        <p:nvSpPr>
          <p:cNvPr id="14" name="Chiffre 3"/>
          <p:cNvSpPr/>
          <p:nvPr/>
        </p:nvSpPr>
        <p:spPr>
          <a:xfrm>
            <a:off x="8138160" y="1600200"/>
            <a:ext cx="3520440" cy="1965960"/>
          </a:xfrm>
          <a:prstGeom prst="roundRect">
            <a:avLst>
              <a:gd name="adj" fmla="val 5581"/>
            </a:avLst>
          </a:prstGeom>
          <a:solidFill>
            <a:schemeClr val="bg2">
              <a:alpha val="90000"/>
            </a:schemeClr>
          </a:solidFill>
          <a:ln w="12700">
            <a:solidFill>
              <a:schemeClr val="accent5"/>
            </a:solidFill>
            <a:prstDash val="solid"/>
          </a:ln>
        </p:spPr>
      </p:sp>
      <p:sp>
        <p:nvSpPr>
          <p:cNvPr id="15" name="Text 11"/>
          <p:cNvSpPr txBox="1"/>
          <p:nvPr/>
        </p:nvSpPr>
        <p:spPr>
          <a:xfrm>
            <a:off x="8412480" y="1874520"/>
            <a:ext cx="2971800" cy="914400"/>
          </a:xfrm>
          <a:prstGeom prst="rect">
            <a:avLst/>
          </a:prstGeom>
          <a:noFill/>
          <a:ln/>
        </p:spPr>
        <p:txBody>
          <a:bodyPr wrap="square" lIns="0" tIns="0" rIns="0" bIns="0" rtlCol="0" anchor="ctr"/>
          <a:lstStyle/>
          <a:p>
            <a:pPr indent="0" marL="0">
              <a:buNone/>
            </a:pPr>
            <a:r>
              <a:rPr lang="en-US" sz="4400" b="1" dirty="0">
                <a:solidFill>
                  <a:schemeClr val="accent2"/>
                </a:solidFill>
              </a:rPr>
              <a:t>30–45 min</a:t>
            </a:r>
            <a:endParaRPr lang="en-US" sz="4400" dirty="0"/>
          </a:p>
        </p:txBody>
      </p:sp>
      <p:sp>
        <p:nvSpPr>
          <p:cNvPr id="16" name="Text 12"/>
          <p:cNvSpPr txBox="1"/>
          <p:nvPr/>
        </p:nvSpPr>
        <p:spPr>
          <a:xfrm>
            <a:off x="8412480" y="2834640"/>
            <a:ext cx="2971800" cy="548640"/>
          </a:xfrm>
          <a:prstGeom prst="rect">
            <a:avLst/>
          </a:prstGeom>
          <a:noFill/>
          <a:ln/>
        </p:spPr>
        <p:txBody>
          <a:bodyPr wrap="square" lIns="0" tIns="0" rIns="0" bIns="0" rtlCol="0" anchor="ctr"/>
          <a:lstStyle/>
          <a:p>
            <a:pPr indent="0" marL="0">
              <a:buNone/>
            </a:pPr>
            <a:r>
              <a:rPr lang="en-US" sz="1500" dirty="0">
                <a:solidFill>
                  <a:schemeClr val="tx2"/>
                </a:solidFill>
              </a:rPr>
              <a:t>d'autonomie visée (≈ 50 min calculées)</a:t>
            </a:r>
            <a:endParaRPr lang="en-US" sz="1500" dirty="0"/>
          </a:p>
        </p:txBody>
      </p:sp>
      <p:sp>
        <p:nvSpPr>
          <p:cNvPr id="17" name="Chiffre 4"/>
          <p:cNvSpPr/>
          <p:nvPr/>
        </p:nvSpPr>
        <p:spPr>
          <a:xfrm>
            <a:off x="548640" y="3840480"/>
            <a:ext cx="3520440" cy="1965960"/>
          </a:xfrm>
          <a:prstGeom prst="roundRect">
            <a:avLst>
              <a:gd name="adj" fmla="val 5581"/>
            </a:avLst>
          </a:prstGeom>
          <a:solidFill>
            <a:schemeClr val="bg2">
              <a:alpha val="90000"/>
            </a:schemeClr>
          </a:solidFill>
          <a:ln w="12700">
            <a:solidFill>
              <a:schemeClr val="accent5"/>
            </a:solidFill>
            <a:prstDash val="solid"/>
          </a:ln>
        </p:spPr>
      </p:sp>
      <p:sp>
        <p:nvSpPr>
          <p:cNvPr id="18" name="Text 14"/>
          <p:cNvSpPr txBox="1"/>
          <p:nvPr/>
        </p:nvSpPr>
        <p:spPr>
          <a:xfrm>
            <a:off x="822960" y="4114800"/>
            <a:ext cx="2971800" cy="914400"/>
          </a:xfrm>
          <a:prstGeom prst="rect">
            <a:avLst/>
          </a:prstGeom>
          <a:noFill/>
          <a:ln/>
        </p:spPr>
        <p:txBody>
          <a:bodyPr wrap="square" lIns="0" tIns="0" rIns="0" bIns="0" rtlCol="0" anchor="ctr"/>
          <a:lstStyle/>
          <a:p>
            <a:pPr indent="0" marL="0">
              <a:buNone/>
            </a:pPr>
            <a:r>
              <a:rPr lang="en-US" sz="4400" b="1" dirty="0">
                <a:solidFill>
                  <a:schemeClr val="accent1"/>
                </a:solidFill>
              </a:rPr>
              <a:t>68 km/h</a:t>
            </a:r>
            <a:endParaRPr lang="en-US" sz="4400" dirty="0"/>
          </a:p>
        </p:txBody>
      </p:sp>
      <p:sp>
        <p:nvSpPr>
          <p:cNvPr id="19" name="Text 15"/>
          <p:cNvSpPr txBox="1"/>
          <p:nvPr/>
        </p:nvSpPr>
        <p:spPr>
          <a:xfrm>
            <a:off x="822960" y="5074920"/>
            <a:ext cx="2971800" cy="548640"/>
          </a:xfrm>
          <a:prstGeom prst="rect">
            <a:avLst/>
          </a:prstGeom>
          <a:noFill/>
          <a:ln/>
        </p:spPr>
        <p:txBody>
          <a:bodyPr wrap="square" lIns="0" tIns="0" rIns="0" bIns="0" rtlCol="0" anchor="ctr"/>
          <a:lstStyle/>
          <a:p>
            <a:pPr indent="0" marL="0">
              <a:buNone/>
            </a:pPr>
            <a:r>
              <a:rPr lang="en-US" sz="1500" dirty="0">
                <a:solidFill>
                  <a:schemeClr val="tx2"/>
                </a:solidFill>
              </a:rPr>
              <a:t>vitesse de croisière</a:t>
            </a:r>
            <a:endParaRPr lang="en-US" sz="1500" dirty="0"/>
          </a:p>
        </p:txBody>
      </p:sp>
      <p:sp>
        <p:nvSpPr>
          <p:cNvPr id="20" name="Chiffre 5"/>
          <p:cNvSpPr/>
          <p:nvPr/>
        </p:nvSpPr>
        <p:spPr>
          <a:xfrm>
            <a:off x="4343400" y="3840480"/>
            <a:ext cx="3520440" cy="1965960"/>
          </a:xfrm>
          <a:prstGeom prst="roundRect">
            <a:avLst>
              <a:gd name="adj" fmla="val 5581"/>
            </a:avLst>
          </a:prstGeom>
          <a:solidFill>
            <a:schemeClr val="bg2">
              <a:alpha val="90000"/>
            </a:schemeClr>
          </a:solidFill>
          <a:ln w="12700">
            <a:solidFill>
              <a:schemeClr val="accent5"/>
            </a:solidFill>
            <a:prstDash val="solid"/>
          </a:ln>
        </p:spPr>
      </p:sp>
      <p:sp>
        <p:nvSpPr>
          <p:cNvPr id="21" name="Text 17"/>
          <p:cNvSpPr txBox="1"/>
          <p:nvPr/>
        </p:nvSpPr>
        <p:spPr>
          <a:xfrm>
            <a:off x="4617720" y="4114800"/>
            <a:ext cx="2971800" cy="914400"/>
          </a:xfrm>
          <a:prstGeom prst="rect">
            <a:avLst/>
          </a:prstGeom>
          <a:noFill/>
          <a:ln/>
        </p:spPr>
        <p:txBody>
          <a:bodyPr wrap="square" lIns="0" tIns="0" rIns="0" bIns="0" rtlCol="0" anchor="ctr"/>
          <a:lstStyle/>
          <a:p>
            <a:pPr indent="0" marL="0">
              <a:buNone/>
            </a:pPr>
            <a:r>
              <a:rPr lang="en-US" sz="4400" b="1" dirty="0">
                <a:solidFill>
                  <a:schemeClr val="accent1"/>
                </a:solidFill>
              </a:rPr>
              <a:t>355 Wh</a:t>
            </a:r>
            <a:endParaRPr lang="en-US" sz="4400" dirty="0"/>
          </a:p>
        </p:txBody>
      </p:sp>
      <p:sp>
        <p:nvSpPr>
          <p:cNvPr id="22" name="Text 18"/>
          <p:cNvSpPr txBox="1"/>
          <p:nvPr/>
        </p:nvSpPr>
        <p:spPr>
          <a:xfrm>
            <a:off x="4617720" y="5074920"/>
            <a:ext cx="2971800" cy="548640"/>
          </a:xfrm>
          <a:prstGeom prst="rect">
            <a:avLst/>
          </a:prstGeom>
          <a:noFill/>
          <a:ln/>
        </p:spPr>
        <p:txBody>
          <a:bodyPr wrap="square" lIns="0" tIns="0" rIns="0" bIns="0" rtlCol="0" anchor="ctr"/>
          <a:lstStyle/>
          <a:p>
            <a:pPr indent="0" marL="0">
              <a:buNone/>
            </a:pPr>
            <a:r>
              <a:rPr lang="en-US" sz="1500" dirty="0">
                <a:solidFill>
                  <a:schemeClr val="tx2"/>
                </a:solidFill>
              </a:rPr>
              <a:t>batterie LiPo 6S 16 000 mAh</a:t>
            </a:r>
            <a:endParaRPr lang="en-US" sz="1500" dirty="0"/>
          </a:p>
        </p:txBody>
      </p:sp>
      <p:sp>
        <p:nvSpPr>
          <p:cNvPr id="23" name="Chiffre 6"/>
          <p:cNvSpPr/>
          <p:nvPr/>
        </p:nvSpPr>
        <p:spPr>
          <a:xfrm>
            <a:off x="8138160" y="3840480"/>
            <a:ext cx="3520440" cy="1965960"/>
          </a:xfrm>
          <a:prstGeom prst="roundRect">
            <a:avLst>
              <a:gd name="adj" fmla="val 5581"/>
            </a:avLst>
          </a:prstGeom>
          <a:solidFill>
            <a:schemeClr val="bg2">
              <a:alpha val="90000"/>
            </a:schemeClr>
          </a:solidFill>
          <a:ln w="12700">
            <a:solidFill>
              <a:schemeClr val="accent5"/>
            </a:solidFill>
            <a:prstDash val="solid"/>
          </a:ln>
        </p:spPr>
      </p:sp>
      <p:sp>
        <p:nvSpPr>
          <p:cNvPr id="24" name="Text 20"/>
          <p:cNvSpPr txBox="1"/>
          <p:nvPr/>
        </p:nvSpPr>
        <p:spPr>
          <a:xfrm>
            <a:off x="8412480" y="4114800"/>
            <a:ext cx="2971800" cy="914400"/>
          </a:xfrm>
          <a:prstGeom prst="rect">
            <a:avLst/>
          </a:prstGeom>
          <a:noFill/>
          <a:ln/>
        </p:spPr>
        <p:txBody>
          <a:bodyPr wrap="square" lIns="0" tIns="0" rIns="0" bIns="0" rtlCol="0" anchor="ctr"/>
          <a:lstStyle/>
          <a:p>
            <a:pPr indent="0" marL="0">
              <a:buNone/>
            </a:pPr>
            <a:r>
              <a:rPr lang="en-US" sz="3400" b="1" dirty="0">
                <a:solidFill>
                  <a:schemeClr val="accent3"/>
                </a:solidFill>
              </a:rPr>
              <a:t>1 000 → 280 W</a:t>
            </a:r>
            <a:endParaRPr lang="en-US" sz="3400" dirty="0"/>
          </a:p>
        </p:txBody>
      </p:sp>
      <p:sp>
        <p:nvSpPr>
          <p:cNvPr id="25" name="Text 21"/>
          <p:cNvSpPr txBox="1"/>
          <p:nvPr/>
        </p:nvSpPr>
        <p:spPr>
          <a:xfrm>
            <a:off x="8412480" y="5074920"/>
            <a:ext cx="2971800" cy="548640"/>
          </a:xfrm>
          <a:prstGeom prst="rect">
            <a:avLst/>
          </a:prstGeom>
          <a:noFill/>
          <a:ln/>
        </p:spPr>
        <p:txBody>
          <a:bodyPr wrap="square" lIns="0" tIns="0" rIns="0" bIns="0" rtlCol="0" anchor="ctr"/>
          <a:lstStyle/>
          <a:p>
            <a:pPr indent="0" marL="0">
              <a:buNone/>
            </a:pPr>
            <a:r>
              <a:rPr lang="en-US" sz="1500" dirty="0">
                <a:solidFill>
                  <a:schemeClr val="tx2"/>
                </a:solidFill>
              </a:rPr>
              <a:t>stationnaire → croisière</a:t>
            </a:r>
            <a:endParaRPr lang="en-US" sz="1500" dirty="0"/>
          </a:p>
        </p:txBody>
      </p:sp>
      <p:sp>
        <p:nvSpPr>
          <p:cNvPr id="26" name="Text 22"/>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1100" i="1" dirty="0">
                <a:solidFill>
                  <a:schemeClr val="tx2"/>
                </a:solidFill>
              </a:rPr>
              <a:t>Estimations de dimensionnement : seuls les essais en vol font foi.</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Structure et assemblage</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pic>
        <p:nvPicPr>
          <p:cNvPr id="8" name="Image 1" descr="/home/user/video-sentinelle-aerienne/pitch/assets/3d_vue_eclatee.png">    </p:cNvPr>
          <p:cNvPicPr>
            <a:picLocks noChangeAspect="1"/>
          </p:cNvPicPr>
          <p:nvPr/>
        </p:nvPicPr>
        <p:blipFill>
          <a:blip r:embed="rId2"/>
          <a:stretch>
            <a:fillRect/>
          </a:stretch>
        </p:blipFill>
        <p:spPr>
          <a:xfrm>
            <a:off x="1097280" y="1325880"/>
            <a:ext cx="4937760" cy="3822192"/>
          </a:xfrm>
          <a:prstGeom prst="rect">
            <a:avLst/>
          </a:prstGeom>
        </p:spPr>
      </p:pic>
      <p:sp>
        <p:nvSpPr>
          <p:cNvPr id="9" name="Text 4"/>
          <p:cNvSpPr txBox="1"/>
          <p:nvPr/>
        </p:nvSpPr>
        <p:spPr>
          <a:xfrm>
            <a:off x="7680960" y="1463040"/>
            <a:ext cx="3977640" cy="42062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Cellule</a:t>
            </a:r>
            <a:endParaRPr lang="en-US" sz="1600" dirty="0"/>
          </a:p>
          <a:p>
            <a:pPr indent="0" marL="0">
              <a:spcAft>
                <a:spcPts val="600"/>
              </a:spcAft>
              <a:buNone/>
            </a:pPr>
            <a:r>
              <a:rPr lang="en-US" sz="1400" dirty="0">
                <a:solidFill>
                  <a:schemeClr val="tx2"/>
                </a:solidFill>
              </a:rPr>
              <a:t>Fibre de carbone et composite, modélisée sous SolidWorks</a:t>
            </a:r>
            <a:endParaRPr lang="en-US" sz="1600" dirty="0"/>
          </a:p>
          <a:p>
            <a:pPr indent="0" marL="0">
              <a:spcAft>
                <a:spcPts val="600"/>
              </a:spcAft>
              <a:buNone/>
            </a:pPr>
            <a:r>
              <a:rPr lang="en-US" sz="1600" b="1" dirty="0">
                <a:solidFill>
                  <a:schemeClr val="tx1"/>
                </a:solidFill>
              </a:rPr>
              <a:t>Fuselage</a:t>
            </a:r>
            <a:endParaRPr lang="en-US" sz="1600" dirty="0"/>
          </a:p>
          <a:p>
            <a:pPr indent="0" marL="0">
              <a:spcAft>
                <a:spcPts val="600"/>
              </a:spcAft>
              <a:buNone/>
            </a:pPr>
            <a:r>
              <a:rPr lang="en-US" sz="1400" dirty="0">
                <a:solidFill>
                  <a:schemeClr val="tx2"/>
                </a:solidFill>
              </a:rPr>
              <a:t>Batterie, avionique et module IA ; trappe d'accès</a:t>
            </a:r>
            <a:endParaRPr lang="en-US" sz="1600" dirty="0"/>
          </a:p>
          <a:p>
            <a:pPr indent="0" marL="0">
              <a:spcAft>
                <a:spcPts val="600"/>
              </a:spcAft>
              <a:buNone/>
            </a:pPr>
            <a:r>
              <a:rPr lang="en-US" sz="1600" b="1" dirty="0">
                <a:solidFill>
                  <a:schemeClr val="tx1"/>
                </a:solidFill>
              </a:rPr>
              <a:t>Aile en 3 parties</a:t>
            </a:r>
            <a:endParaRPr lang="en-US" sz="1600" dirty="0"/>
          </a:p>
          <a:p>
            <a:pPr indent="0" marL="0">
              <a:spcAft>
                <a:spcPts val="600"/>
              </a:spcAft>
              <a:buNone/>
            </a:pPr>
            <a:r>
              <a:rPr lang="en-US" sz="1400" dirty="0">
                <a:solidFill>
                  <a:schemeClr val="tx2"/>
                </a:solidFill>
              </a:rPr>
              <a:t>Démontable pour le transport ; 0,56 m²</a:t>
            </a:r>
            <a:endParaRPr lang="en-US" sz="1600" dirty="0"/>
          </a:p>
          <a:p>
            <a:pPr indent="0" marL="0">
              <a:spcAft>
                <a:spcPts val="600"/>
              </a:spcAft>
              <a:buNone/>
            </a:pPr>
            <a:r>
              <a:rPr lang="en-US" sz="1600" b="1" dirty="0">
                <a:solidFill>
                  <a:schemeClr val="tx1"/>
                </a:solidFill>
              </a:rPr>
              <a:t>Double poutre</a:t>
            </a:r>
            <a:endParaRPr lang="en-US" sz="1600" dirty="0"/>
          </a:p>
          <a:p>
            <a:pPr indent="0" marL="0">
              <a:spcAft>
                <a:spcPts val="600"/>
              </a:spcAft>
              <a:buNone/>
            </a:pPr>
            <a:r>
              <a:rPr lang="en-US" sz="1400" dirty="0">
                <a:solidFill>
                  <a:schemeClr val="tx2"/>
                </a:solidFill>
              </a:rPr>
              <a:t>Porte les 4 moteurs verticaux et l'empennage en H</a:t>
            </a:r>
            <a:endParaRPr lang="en-US" sz="1600" dirty="0"/>
          </a:p>
          <a:p>
            <a:pPr indent="0" marL="0">
              <a:spcAft>
                <a:spcPts val="600"/>
              </a:spcAft>
              <a:buNone/>
            </a:pPr>
            <a:r>
              <a:rPr lang="en-US" sz="1600" b="1" dirty="0">
                <a:solidFill>
                  <a:schemeClr val="tx1"/>
                </a:solidFill>
              </a:rPr>
              <a:t>Antennes</a:t>
            </a:r>
            <a:endParaRPr lang="en-US" sz="1600" dirty="0"/>
          </a:p>
          <a:p>
            <a:pPr indent="0" marL="0">
              <a:spcAft>
                <a:spcPts val="600"/>
              </a:spcAft>
              <a:buNone/>
            </a:pPr>
            <a:r>
              <a:rPr lang="en-US" sz="1400" dirty="0">
                <a:solidFill>
                  <a:schemeClr val="tx2"/>
                </a:solidFill>
              </a:rPr>
              <a:t>Zones en fibre de verre : le carbone bloque les ondes</a:t>
            </a:r>
            <a:endParaRPr lang="en-US" sz="1600" dirty="0"/>
          </a:p>
        </p:txBody>
      </p:sp>
      <p:sp>
        <p:nvSpPr>
          <p:cNvPr id="10" name="Text 5"/>
          <p:cNvSpPr txBox="1"/>
          <p:nvPr/>
        </p:nvSpPr>
        <p:spPr>
          <a:xfrm>
            <a:off x="548640" y="5257800"/>
            <a:ext cx="6766560" cy="274320"/>
          </a:xfrm>
          <a:prstGeom prst="rect">
            <a:avLst/>
          </a:prstGeom>
          <a:noFill/>
          <a:ln/>
        </p:spPr>
        <p:txBody>
          <a:bodyPr wrap="square" lIns="0" tIns="0" rIns="0" bIns="0" rtlCol="0" anchor="ctr"/>
          <a:lstStyle/>
          <a:p>
            <a:pPr indent="0" marL="0">
              <a:buNone/>
            </a:pPr>
            <a:r>
              <a:rPr lang="en-US" sz="1100" i="1" dirty="0">
                <a:solidFill>
                  <a:schemeClr val="tx2"/>
                </a:solidFill>
              </a:rPr>
              <a:t>Vue éclatée issue de notre maquette 3D (guide de conception et d'assemblage).</a:t>
            </a:r>
            <a:endParaRPr lang="en-US" sz="1100" dirty="0"/>
          </a:p>
        </p:txBody>
      </p:sp>
      <p:sp>
        <p:nvSpPr>
          <p:cNvPr id="11" name="Text 6"/>
          <p:cNvSpPr txBox="1"/>
          <p:nvPr/>
        </p:nvSpPr>
        <p:spPr>
          <a:xfrm>
            <a:off x="548640" y="5623560"/>
            <a:ext cx="6766560" cy="320040"/>
          </a:xfrm>
          <a:prstGeom prst="rect">
            <a:avLst/>
          </a:prstGeom>
          <a:noFill/>
          <a:ln/>
        </p:spPr>
        <p:txBody>
          <a:bodyPr wrap="square" lIns="0" tIns="0" rIns="0" bIns="0" rtlCol="0" anchor="ctr"/>
          <a:lstStyle/>
          <a:p>
            <a:pPr indent="0" marL="0">
              <a:buNone/>
            </a:pPr>
            <a:r>
              <a:rPr lang="en-US" sz="1400" dirty="0">
                <a:solidFill>
                  <a:schemeClr val="accent1"/>
                </a:solidFill>
              </a:rPr>
              <a:t>→ Bilan de masse détaillé, pièce par pièce, dans le dossier technique.</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Le cerveau : ArduPilot QuadPlane</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Angelo</a:t>
            </a:r>
            <a:endParaRPr lang="en-US" sz="1400" dirty="0"/>
          </a:p>
          <a:p>
            <a:pPr indent="0" marL="0">
              <a:buNone/>
            </a:pPr>
            <a:r>
              <a:rPr lang="en-US" sz="1000" dirty="0">
                <a:solidFill>
                  <a:schemeClr val="tx2"/>
                </a:solidFill>
              </a:rPr>
              <a:t>Logiciel et station sol</a:t>
            </a:r>
            <a:endParaRPr lang="en-US" sz="1400" dirty="0"/>
          </a:p>
        </p:txBody>
      </p:sp>
      <p:sp>
        <p:nvSpPr>
          <p:cNvPr id="8" name="Cadre transition"/>
          <p:cNvSpPr/>
          <p:nvPr/>
        </p:nvSpPr>
        <p:spPr>
          <a:xfrm>
            <a:off x="5166360" y="1371600"/>
            <a:ext cx="6473952" cy="3200400"/>
          </a:xfrm>
          <a:prstGeom prst="roundRect">
            <a:avLst>
              <a:gd name="adj" fmla="val 3429"/>
            </a:avLst>
          </a:prstGeom>
          <a:solidFill>
            <a:schemeClr val="bg2">
              <a:alpha val="90000"/>
            </a:schemeClr>
          </a:solidFill>
          <a:ln w="12700">
            <a:solidFill>
              <a:schemeClr val="accent5"/>
            </a:solidFill>
            <a:prstDash val="solid"/>
          </a:ln>
        </p:spPr>
      </p:sp>
      <p:pic>
        <p:nvPicPr>
          <p:cNvPr id="9" name="Image 1" descr="/home/user/video-sentinelle-aerienne/pitch/assets/transition.png">    </p:cNvPr>
          <p:cNvPicPr>
            <a:picLocks noChangeAspect="1"/>
          </p:cNvPicPr>
          <p:nvPr/>
        </p:nvPicPr>
        <p:blipFill>
          <a:blip r:embed="rId2"/>
          <a:stretch>
            <a:fillRect/>
          </a:stretch>
        </p:blipFill>
        <p:spPr>
          <a:xfrm>
            <a:off x="5257800" y="1463040"/>
            <a:ext cx="6291072" cy="2715768"/>
          </a:xfrm>
          <a:prstGeom prst="rect">
            <a:avLst/>
          </a:prstGeom>
        </p:spPr>
      </p:pic>
      <p:sp>
        <p:nvSpPr>
          <p:cNvPr id="10" name="Text 5"/>
          <p:cNvSpPr txBox="1"/>
          <p:nvPr/>
        </p:nvSpPr>
        <p:spPr>
          <a:xfrm>
            <a:off x="548640" y="1463040"/>
            <a:ext cx="4480560" cy="365760"/>
          </a:xfrm>
          <a:prstGeom prst="rect">
            <a:avLst/>
          </a:prstGeom>
          <a:noFill/>
          <a:ln/>
        </p:spPr>
        <p:txBody>
          <a:bodyPr wrap="square" lIns="0" tIns="0" rIns="0" bIns="0" rtlCol="0" anchor="ctr"/>
          <a:lstStyle/>
          <a:p>
            <a:pPr indent="0" marL="0">
              <a:buNone/>
            </a:pPr>
            <a:r>
              <a:rPr lang="en-US" sz="1700" b="1" dirty="0">
                <a:solidFill>
                  <a:schemeClr val="tx1"/>
                </a:solidFill>
              </a:rPr>
              <a:t>Capteurs fusionnés en permanence</a:t>
            </a:r>
            <a:endParaRPr lang="en-US" sz="1700" dirty="0"/>
          </a:p>
        </p:txBody>
      </p:sp>
      <p:sp>
        <p:nvSpPr>
          <p:cNvPr id="11" name="Text 6"/>
          <p:cNvSpPr txBox="1"/>
          <p:nvPr/>
        </p:nvSpPr>
        <p:spPr>
          <a:xfrm>
            <a:off x="548640" y="1874520"/>
            <a:ext cx="4480560" cy="201168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chemeClr val="tx2"/>
                </a:solidFill>
              </a:rPr>
              <a:t>Centrale inertielle (IMU)</a:t>
            </a:r>
            <a:endParaRPr lang="en-US" sz="1500" dirty="0"/>
          </a:p>
          <a:p>
            <a:pPr marL="342900" indent="-342900">
              <a:spcAft>
                <a:spcPts val="400"/>
              </a:spcAft>
              <a:buSzPct val="100000"/>
              <a:buChar char="•"/>
            </a:pPr>
            <a:r>
              <a:rPr lang="en-US" sz="1500" dirty="0">
                <a:solidFill>
                  <a:schemeClr val="tx2"/>
                </a:solidFill>
              </a:rPr>
              <a:t>Baromètre et compas</a:t>
            </a:r>
            <a:endParaRPr lang="en-US" sz="1500" dirty="0"/>
          </a:p>
          <a:p>
            <a:pPr marL="342900" indent="-342900">
              <a:spcAft>
                <a:spcPts val="400"/>
              </a:spcAft>
              <a:buSzPct val="100000"/>
              <a:buChar char="•"/>
            </a:pPr>
            <a:r>
              <a:rPr lang="en-US" sz="1500" dirty="0">
                <a:solidFill>
                  <a:schemeClr val="tx2"/>
                </a:solidFill>
              </a:rPr>
              <a:t>GNSS multi-constellation</a:t>
            </a:r>
            <a:endParaRPr lang="en-US" sz="1500" dirty="0"/>
          </a:p>
          <a:p>
            <a:pPr marL="342900" indent="-342900">
              <a:spcAft>
                <a:spcPts val="400"/>
              </a:spcAft>
              <a:buSzPct val="100000"/>
              <a:buChar char="•"/>
            </a:pPr>
            <a:r>
              <a:rPr lang="en-US" sz="1500" dirty="0">
                <a:solidFill>
                  <a:schemeClr val="tx2"/>
                </a:solidFill>
              </a:rPr>
              <a:t>Vitesse air (Pitot)</a:t>
            </a:r>
            <a:endParaRPr lang="en-US" sz="1500" dirty="0"/>
          </a:p>
          <a:p>
            <a:pPr marL="342900" indent="-342900">
              <a:spcAft>
                <a:spcPts val="400"/>
              </a:spcAft>
              <a:buSzPct val="100000"/>
              <a:buChar char="•"/>
            </a:pPr>
            <a:r>
              <a:rPr lang="en-US" sz="1500" dirty="0">
                <a:solidFill>
                  <a:schemeClr val="tx2"/>
                </a:solidFill>
              </a:rPr>
              <a:t>Télémètre laser</a:t>
            </a:r>
            <a:endParaRPr lang="en-US" sz="1500" dirty="0"/>
          </a:p>
        </p:txBody>
      </p:sp>
      <p:sp>
        <p:nvSpPr>
          <p:cNvPr id="12" name="Phase 1"/>
          <p:cNvSpPr/>
          <p:nvPr/>
        </p:nvSpPr>
        <p:spPr>
          <a:xfrm>
            <a:off x="548640" y="4846320"/>
            <a:ext cx="3520440" cy="1005840"/>
          </a:xfrm>
          <a:prstGeom prst="roundRect">
            <a:avLst>
              <a:gd name="adj" fmla="val 10909"/>
            </a:avLst>
          </a:prstGeom>
          <a:solidFill>
            <a:schemeClr val="bg2">
              <a:alpha val="90000"/>
            </a:schemeClr>
          </a:solidFill>
          <a:ln w="12700">
            <a:solidFill>
              <a:schemeClr val="accent5"/>
            </a:solidFill>
            <a:prstDash val="solid"/>
          </a:ln>
        </p:spPr>
      </p:sp>
      <p:sp>
        <p:nvSpPr>
          <p:cNvPr id="13" name="Shape 8"/>
          <p:cNvSpPr/>
          <p:nvPr/>
        </p:nvSpPr>
        <p:spPr>
          <a:xfrm>
            <a:off x="777240" y="5074920"/>
            <a:ext cx="548640" cy="548640"/>
          </a:xfrm>
          <a:prstGeom prst="ellipse">
            <a:avLst/>
          </a:prstGeom>
          <a:solidFill>
            <a:schemeClr val="accent1"/>
          </a:solidFill>
          <a:ln/>
        </p:spPr>
      </p:sp>
      <p:sp>
        <p:nvSpPr>
          <p:cNvPr id="14" name="Text 9"/>
          <p:cNvSpPr txBox="1"/>
          <p:nvPr/>
        </p:nvSpPr>
        <p:spPr>
          <a:xfrm>
            <a:off x="777240" y="5074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5" name="Text 10"/>
          <p:cNvSpPr txBox="1"/>
          <p:nvPr/>
        </p:nvSpPr>
        <p:spPr>
          <a:xfrm>
            <a:off x="1508760" y="4956048"/>
            <a:ext cx="2423160" cy="786384"/>
          </a:xfrm>
          <a:prstGeom prst="rect">
            <a:avLst/>
          </a:prstGeom>
          <a:noFill/>
          <a:ln/>
        </p:spPr>
        <p:txBody>
          <a:bodyPr wrap="square" lIns="0" tIns="0" rIns="0" bIns="0" rtlCol="0" anchor="ctr"/>
          <a:lstStyle/>
          <a:p>
            <a:pPr indent="0" marL="0">
              <a:buNone/>
            </a:pPr>
            <a:r>
              <a:rPr lang="en-US" sz="1600" b="1" dirty="0">
                <a:solidFill>
                  <a:schemeClr val="tx1"/>
                </a:solidFill>
              </a:rPr>
              <a:t>Stationnaire</a:t>
            </a:r>
            <a:endParaRPr lang="en-US" sz="1600" dirty="0"/>
          </a:p>
          <a:p>
            <a:pPr indent="0" marL="0">
              <a:buNone/>
            </a:pPr>
            <a:r>
              <a:rPr lang="en-US" sz="1300" dirty="0">
                <a:solidFill>
                  <a:schemeClr val="tx2"/>
                </a:solidFill>
              </a:rPr>
              <a:t>moteurs verticaux</a:t>
            </a:r>
            <a:endParaRPr lang="en-US" sz="1600" dirty="0"/>
          </a:p>
        </p:txBody>
      </p:sp>
      <p:sp>
        <p:nvSpPr>
          <p:cNvPr id="16" name="Phase 2"/>
          <p:cNvSpPr/>
          <p:nvPr/>
        </p:nvSpPr>
        <p:spPr>
          <a:xfrm>
            <a:off x="4343400" y="4846320"/>
            <a:ext cx="3520440" cy="1005840"/>
          </a:xfrm>
          <a:prstGeom prst="roundRect">
            <a:avLst>
              <a:gd name="adj" fmla="val 10909"/>
            </a:avLst>
          </a:prstGeom>
          <a:solidFill>
            <a:schemeClr val="bg2">
              <a:alpha val="90000"/>
            </a:schemeClr>
          </a:solidFill>
          <a:ln w="12700">
            <a:solidFill>
              <a:schemeClr val="accent5"/>
            </a:solidFill>
            <a:prstDash val="solid"/>
          </a:ln>
        </p:spPr>
      </p:sp>
      <p:sp>
        <p:nvSpPr>
          <p:cNvPr id="17" name="Shape 12"/>
          <p:cNvSpPr/>
          <p:nvPr/>
        </p:nvSpPr>
        <p:spPr>
          <a:xfrm>
            <a:off x="4572000" y="5074920"/>
            <a:ext cx="548640" cy="548640"/>
          </a:xfrm>
          <a:prstGeom prst="ellipse">
            <a:avLst/>
          </a:prstGeom>
          <a:solidFill>
            <a:schemeClr val="accent2"/>
          </a:solidFill>
          <a:ln/>
        </p:spPr>
      </p:sp>
      <p:sp>
        <p:nvSpPr>
          <p:cNvPr id="18" name="Text 13"/>
          <p:cNvSpPr txBox="1"/>
          <p:nvPr/>
        </p:nvSpPr>
        <p:spPr>
          <a:xfrm>
            <a:off x="4572000" y="5074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9" name="Text 14"/>
          <p:cNvSpPr txBox="1"/>
          <p:nvPr/>
        </p:nvSpPr>
        <p:spPr>
          <a:xfrm>
            <a:off x="5303520" y="4956048"/>
            <a:ext cx="2423160" cy="786384"/>
          </a:xfrm>
          <a:prstGeom prst="rect">
            <a:avLst/>
          </a:prstGeom>
          <a:noFill/>
          <a:ln/>
        </p:spPr>
        <p:txBody>
          <a:bodyPr wrap="square" lIns="0" tIns="0" rIns="0" bIns="0" rtlCol="0" anchor="ctr"/>
          <a:lstStyle/>
          <a:p>
            <a:pPr indent="0" marL="0">
              <a:buNone/>
            </a:pPr>
            <a:r>
              <a:rPr lang="en-US" sz="1600" b="1" dirty="0">
                <a:solidFill>
                  <a:schemeClr val="tx1"/>
                </a:solidFill>
              </a:rPr>
              <a:t>Transition</a:t>
            </a:r>
            <a:endParaRPr lang="en-US" sz="1600" dirty="0"/>
          </a:p>
          <a:p>
            <a:pPr indent="0" marL="0">
              <a:buNone/>
            </a:pPr>
            <a:r>
              <a:rPr lang="en-US" sz="1300" dirty="0">
                <a:solidFill>
                  <a:schemeClr val="tx2"/>
                </a:solidFill>
              </a:rPr>
              <a:t>l'aile prend le relais vers ≈ 15 m/s</a:t>
            </a:r>
            <a:endParaRPr lang="en-US" sz="1600" dirty="0"/>
          </a:p>
        </p:txBody>
      </p:sp>
      <p:sp>
        <p:nvSpPr>
          <p:cNvPr id="20" name="Phase 3"/>
          <p:cNvSpPr/>
          <p:nvPr/>
        </p:nvSpPr>
        <p:spPr>
          <a:xfrm>
            <a:off x="8138160" y="4846320"/>
            <a:ext cx="3520440" cy="1005840"/>
          </a:xfrm>
          <a:prstGeom prst="roundRect">
            <a:avLst>
              <a:gd name="adj" fmla="val 10909"/>
            </a:avLst>
          </a:prstGeom>
          <a:solidFill>
            <a:schemeClr val="bg2">
              <a:alpha val="90000"/>
            </a:schemeClr>
          </a:solidFill>
          <a:ln w="12700">
            <a:solidFill>
              <a:schemeClr val="accent5"/>
            </a:solidFill>
            <a:prstDash val="solid"/>
          </a:ln>
        </p:spPr>
      </p:sp>
      <p:sp>
        <p:nvSpPr>
          <p:cNvPr id="21" name="Shape 16"/>
          <p:cNvSpPr/>
          <p:nvPr/>
        </p:nvSpPr>
        <p:spPr>
          <a:xfrm>
            <a:off x="8366760" y="5074920"/>
            <a:ext cx="548640" cy="548640"/>
          </a:xfrm>
          <a:prstGeom prst="ellipse">
            <a:avLst/>
          </a:prstGeom>
          <a:solidFill>
            <a:schemeClr val="accent1"/>
          </a:solidFill>
          <a:ln/>
        </p:spPr>
      </p:sp>
      <p:sp>
        <p:nvSpPr>
          <p:cNvPr id="22" name="Text 17"/>
          <p:cNvSpPr txBox="1"/>
          <p:nvPr/>
        </p:nvSpPr>
        <p:spPr>
          <a:xfrm>
            <a:off x="8366760" y="5074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3" name="Text 18"/>
          <p:cNvSpPr txBox="1"/>
          <p:nvPr/>
        </p:nvSpPr>
        <p:spPr>
          <a:xfrm>
            <a:off x="9098280" y="4956048"/>
            <a:ext cx="2423160" cy="786384"/>
          </a:xfrm>
          <a:prstGeom prst="rect">
            <a:avLst/>
          </a:prstGeom>
          <a:noFill/>
          <a:ln/>
        </p:spPr>
        <p:txBody>
          <a:bodyPr wrap="square" lIns="0" tIns="0" rIns="0" bIns="0" rtlCol="0" anchor="ctr"/>
          <a:lstStyle/>
          <a:p>
            <a:pPr indent="0" marL="0">
              <a:buNone/>
            </a:pPr>
            <a:r>
              <a:rPr lang="en-US" sz="1600" b="1" dirty="0">
                <a:solidFill>
                  <a:schemeClr val="tx1"/>
                </a:solidFill>
              </a:rPr>
              <a:t>Croisière</a:t>
            </a:r>
            <a:endParaRPr lang="en-US" sz="1600" dirty="0"/>
          </a:p>
          <a:p>
            <a:pPr indent="0" marL="0">
              <a:buNone/>
            </a:pPr>
            <a:r>
              <a:rPr lang="en-US" sz="1300" dirty="0">
                <a:solidFill>
                  <a:schemeClr val="tx2"/>
                </a:solidFill>
              </a:rPr>
              <a:t>moteur propulsif seul</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La station de contrôle au sol</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Angelo</a:t>
            </a:r>
            <a:endParaRPr lang="en-US" sz="1400" dirty="0"/>
          </a:p>
          <a:p>
            <a:pPr indent="0" marL="0">
              <a:buNone/>
            </a:pPr>
            <a:r>
              <a:rPr lang="en-US" sz="1000" dirty="0">
                <a:solidFill>
                  <a:schemeClr val="tx2"/>
                </a:solidFill>
              </a:rPr>
              <a:t>Logiciel et station sol</a:t>
            </a:r>
            <a:endParaRPr lang="en-US" sz="1400" dirty="0"/>
          </a:p>
        </p:txBody>
      </p:sp>
      <p:sp>
        <p:nvSpPr>
          <p:cNvPr id="8" name="Cadre simulation"/>
          <p:cNvSpPr/>
          <p:nvPr/>
        </p:nvSpPr>
        <p:spPr>
          <a:xfrm>
            <a:off x="548640" y="1371600"/>
            <a:ext cx="6583680" cy="2880360"/>
          </a:xfrm>
          <a:prstGeom prst="roundRect">
            <a:avLst>
              <a:gd name="adj" fmla="val 3810"/>
            </a:avLst>
          </a:prstGeom>
          <a:solidFill>
            <a:schemeClr val="bg2">
              <a:alpha val="90000"/>
            </a:schemeClr>
          </a:solidFill>
          <a:ln w="12700">
            <a:solidFill>
              <a:schemeClr val="accent5"/>
            </a:solidFill>
            <a:prstDash val="solid"/>
          </a:ln>
        </p:spPr>
      </p:sp>
      <p:pic>
        <p:nvPicPr>
          <p:cNvPr id="9" name="Image 1" descr="/home/user/video-sentinelle-aerienne/pitch/assets/simulation_detection.png">    </p:cNvPr>
          <p:cNvPicPr>
            <a:picLocks noChangeAspect="1"/>
          </p:cNvPicPr>
          <p:nvPr/>
        </p:nvPicPr>
        <p:blipFill>
          <a:blip r:embed="rId2"/>
          <a:stretch>
            <a:fillRect/>
          </a:stretch>
        </p:blipFill>
        <p:spPr>
          <a:xfrm>
            <a:off x="640080" y="1463040"/>
            <a:ext cx="6400800" cy="2578608"/>
          </a:xfrm>
          <a:prstGeom prst="rect">
            <a:avLst/>
          </a:prstGeom>
        </p:spPr>
      </p:pic>
      <p:sp>
        <p:nvSpPr>
          <p:cNvPr id="10" name="Shape 5"/>
          <p:cNvSpPr/>
          <p:nvPr/>
        </p:nvSpPr>
        <p:spPr>
          <a:xfrm>
            <a:off x="7406640" y="1417320"/>
            <a:ext cx="685800" cy="68580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7571232" y="1581912"/>
            <a:ext cx="356616" cy="356616"/>
          </a:xfrm>
          <a:prstGeom prst="rect">
            <a:avLst/>
          </a:prstGeom>
        </p:spPr>
      </p:pic>
      <p:sp>
        <p:nvSpPr>
          <p:cNvPr id="12" name="Text 6"/>
          <p:cNvSpPr txBox="1"/>
          <p:nvPr/>
        </p:nvSpPr>
        <p:spPr>
          <a:xfrm>
            <a:off x="8275320" y="1371600"/>
            <a:ext cx="3383280" cy="365760"/>
          </a:xfrm>
          <a:prstGeom prst="rect">
            <a:avLst/>
          </a:prstGeom>
          <a:noFill/>
          <a:ln/>
        </p:spPr>
        <p:txBody>
          <a:bodyPr wrap="square" lIns="0" tIns="0" rIns="0" bIns="0" rtlCol="0" anchor="ctr"/>
          <a:lstStyle/>
          <a:p>
            <a:pPr indent="0" marL="0">
              <a:buNone/>
            </a:pPr>
            <a:r>
              <a:rPr lang="en-US" sz="1700" b="1" dirty="0">
                <a:solidFill>
                  <a:schemeClr val="tx1"/>
                </a:solidFill>
              </a:rPr>
              <a:t>Avant le vol</a:t>
            </a:r>
            <a:endParaRPr lang="en-US" sz="1700" dirty="0"/>
          </a:p>
        </p:txBody>
      </p:sp>
      <p:sp>
        <p:nvSpPr>
          <p:cNvPr id="13" name="Text 7"/>
          <p:cNvSpPr txBox="1"/>
          <p:nvPr/>
        </p:nvSpPr>
        <p:spPr>
          <a:xfrm>
            <a:off x="8275320" y="1737360"/>
            <a:ext cx="3383280" cy="685800"/>
          </a:xfrm>
          <a:prstGeom prst="rect">
            <a:avLst/>
          </a:prstGeom>
          <a:noFill/>
          <a:ln/>
        </p:spPr>
        <p:txBody>
          <a:bodyPr wrap="square" lIns="0" tIns="0" rIns="0" bIns="0" rtlCol="0" anchor="t"/>
          <a:lstStyle/>
          <a:p>
            <a:pPr indent="0" marL="0">
              <a:buNone/>
            </a:pPr>
            <a:r>
              <a:rPr lang="en-US" sz="1300" dirty="0">
                <a:solidFill>
                  <a:schemeClr val="tx2"/>
                </a:solidFill>
              </a:rPr>
              <a:t>Planifier : points de passage, altitude, zone autorisée, atterrissage</a:t>
            </a:r>
            <a:endParaRPr lang="en-US" sz="1300" dirty="0"/>
          </a:p>
        </p:txBody>
      </p:sp>
      <p:sp>
        <p:nvSpPr>
          <p:cNvPr id="14" name="Shape 8"/>
          <p:cNvSpPr/>
          <p:nvPr/>
        </p:nvSpPr>
        <p:spPr>
          <a:xfrm>
            <a:off x="7406640" y="2606040"/>
            <a:ext cx="685800" cy="685800"/>
          </a:xfrm>
          <a:prstGeom prst="ellipse">
            <a:avLst/>
          </a:prstGeom>
          <a:solidFill>
            <a:schemeClr val="accent1"/>
          </a:solidFill>
          <a:ln/>
        </p:spPr>
      </p:sp>
      <p:pic>
        <p:nvPicPr>
          <p:cNvPr id="15" name="Image 3" descr="preencoded.png">    </p:cNvPr>
          <p:cNvPicPr>
            <a:picLocks noChangeAspect="1"/>
          </p:cNvPicPr>
          <p:nvPr/>
        </p:nvPicPr>
        <p:blipFill>
          <a:blip r:embed="rId4"/>
          <a:stretch>
            <a:fillRect/>
          </a:stretch>
        </p:blipFill>
        <p:spPr>
          <a:xfrm>
            <a:off x="7571232" y="2770632"/>
            <a:ext cx="356616" cy="356616"/>
          </a:xfrm>
          <a:prstGeom prst="rect">
            <a:avLst/>
          </a:prstGeom>
        </p:spPr>
      </p:pic>
      <p:sp>
        <p:nvSpPr>
          <p:cNvPr id="16" name="Text 9"/>
          <p:cNvSpPr txBox="1"/>
          <p:nvPr/>
        </p:nvSpPr>
        <p:spPr>
          <a:xfrm>
            <a:off x="8275320" y="2560320"/>
            <a:ext cx="3383280" cy="365760"/>
          </a:xfrm>
          <a:prstGeom prst="rect">
            <a:avLst/>
          </a:prstGeom>
          <a:noFill/>
          <a:ln/>
        </p:spPr>
        <p:txBody>
          <a:bodyPr wrap="square" lIns="0" tIns="0" rIns="0" bIns="0" rtlCol="0" anchor="ctr"/>
          <a:lstStyle/>
          <a:p>
            <a:pPr indent="0" marL="0">
              <a:buNone/>
            </a:pPr>
            <a:r>
              <a:rPr lang="en-US" sz="1700" b="1" dirty="0">
                <a:solidFill>
                  <a:schemeClr val="tx1"/>
                </a:solidFill>
              </a:rPr>
              <a:t>Pendant le vol</a:t>
            </a:r>
            <a:endParaRPr lang="en-US" sz="1700" dirty="0"/>
          </a:p>
        </p:txBody>
      </p:sp>
      <p:sp>
        <p:nvSpPr>
          <p:cNvPr id="17" name="Text 10"/>
          <p:cNvSpPr txBox="1"/>
          <p:nvPr/>
        </p:nvSpPr>
        <p:spPr>
          <a:xfrm>
            <a:off x="8275320" y="2926080"/>
            <a:ext cx="3383280" cy="685800"/>
          </a:xfrm>
          <a:prstGeom prst="rect">
            <a:avLst/>
          </a:prstGeom>
          <a:noFill/>
          <a:ln/>
        </p:spPr>
        <p:txBody>
          <a:bodyPr wrap="square" lIns="0" tIns="0" rIns="0" bIns="0" rtlCol="0" anchor="t"/>
          <a:lstStyle/>
          <a:p>
            <a:pPr indent="0" marL="0">
              <a:buNone/>
            </a:pPr>
            <a:r>
              <a:rPr lang="en-US" sz="1300" dirty="0">
                <a:solidFill>
                  <a:schemeClr val="tx2"/>
                </a:solidFill>
              </a:rPr>
              <a:t>Suivre la télémétrie : position, vitesse, batterie, liaisons</a:t>
            </a:r>
            <a:endParaRPr lang="en-US" sz="1300" dirty="0"/>
          </a:p>
        </p:txBody>
      </p:sp>
      <p:sp>
        <p:nvSpPr>
          <p:cNvPr id="18" name="Shape 11"/>
          <p:cNvSpPr/>
          <p:nvPr/>
        </p:nvSpPr>
        <p:spPr>
          <a:xfrm>
            <a:off x="7406640" y="3794760"/>
            <a:ext cx="685800" cy="685800"/>
          </a:xfrm>
          <a:prstGeom prst="ellipse">
            <a:avLst/>
          </a:prstGeom>
          <a:solidFill>
            <a:schemeClr val="accent2"/>
          </a:solidFill>
          <a:ln/>
        </p:spPr>
      </p:sp>
      <p:pic>
        <p:nvPicPr>
          <p:cNvPr id="19" name="Image 4" descr="preencoded.png">    </p:cNvPr>
          <p:cNvPicPr>
            <a:picLocks noChangeAspect="1"/>
          </p:cNvPicPr>
          <p:nvPr/>
        </p:nvPicPr>
        <p:blipFill>
          <a:blip r:embed="rId5"/>
          <a:stretch>
            <a:fillRect/>
          </a:stretch>
        </p:blipFill>
        <p:spPr>
          <a:xfrm>
            <a:off x="7571232" y="3959352"/>
            <a:ext cx="356616" cy="356616"/>
          </a:xfrm>
          <a:prstGeom prst="rect">
            <a:avLst/>
          </a:prstGeom>
        </p:spPr>
      </p:pic>
      <p:sp>
        <p:nvSpPr>
          <p:cNvPr id="20" name="Text 12"/>
          <p:cNvSpPr txBox="1"/>
          <p:nvPr/>
        </p:nvSpPr>
        <p:spPr>
          <a:xfrm>
            <a:off x="8275320" y="3749040"/>
            <a:ext cx="3383280" cy="365760"/>
          </a:xfrm>
          <a:prstGeom prst="rect">
            <a:avLst/>
          </a:prstGeom>
          <a:noFill/>
          <a:ln/>
        </p:spPr>
        <p:txBody>
          <a:bodyPr wrap="square" lIns="0" tIns="0" rIns="0" bIns="0" rtlCol="0" anchor="ctr"/>
          <a:lstStyle/>
          <a:p>
            <a:pPr indent="0" marL="0">
              <a:buNone/>
            </a:pPr>
            <a:r>
              <a:rPr lang="en-US" sz="1700" b="1" dirty="0">
                <a:solidFill>
                  <a:schemeClr val="tx1"/>
                </a:solidFill>
              </a:rPr>
              <a:t>Alertes IA en direct</a:t>
            </a:r>
            <a:endParaRPr lang="en-US" sz="1700" dirty="0"/>
          </a:p>
        </p:txBody>
      </p:sp>
      <p:sp>
        <p:nvSpPr>
          <p:cNvPr id="21" name="Text 13"/>
          <p:cNvSpPr txBox="1"/>
          <p:nvPr/>
        </p:nvSpPr>
        <p:spPr>
          <a:xfrm>
            <a:off x="8275320" y="4114800"/>
            <a:ext cx="3383280" cy="685800"/>
          </a:xfrm>
          <a:prstGeom prst="rect">
            <a:avLst/>
          </a:prstGeom>
          <a:noFill/>
          <a:ln/>
        </p:spPr>
        <p:txBody>
          <a:bodyPr wrap="square" lIns="0" tIns="0" rIns="0" bIns="0" rtlCol="0" anchor="t"/>
          <a:lstStyle/>
          <a:p>
            <a:pPr indent="0" marL="0">
              <a:buNone/>
            </a:pPr>
            <a:r>
              <a:rPr lang="en-US" sz="1300" dirty="0">
                <a:solidFill>
                  <a:schemeClr val="tx2"/>
                </a:solidFill>
              </a:rPr>
              <a:t>Classe, heure, zone et image de preuve</a:t>
            </a:r>
            <a:endParaRPr lang="en-US" sz="1300" dirty="0"/>
          </a:p>
        </p:txBody>
      </p:sp>
      <p:sp>
        <p:nvSpPr>
          <p:cNvPr id="22" name="Text 14"/>
          <p:cNvSpPr txBox="1"/>
          <p:nvPr/>
        </p:nvSpPr>
        <p:spPr>
          <a:xfrm>
            <a:off x="548640" y="5120640"/>
            <a:ext cx="10972800" cy="457200"/>
          </a:xfrm>
          <a:prstGeom prst="rect">
            <a:avLst/>
          </a:prstGeom>
          <a:noFill/>
          <a:ln/>
        </p:spPr>
        <p:txBody>
          <a:bodyPr wrap="square" lIns="0" tIns="0" rIns="0" bIns="0" rtlCol="0" anchor="ctr"/>
          <a:lstStyle/>
          <a:p>
            <a:pPr indent="0" marL="0">
              <a:buNone/>
            </a:pPr>
            <a:r>
              <a:rPr lang="en-US" sz="1800" i="1" dirty="0">
                <a:solidFill>
                  <a:schemeClr val="accent1"/>
                </a:solidFill>
              </a:rPr>
              <a:t>L'opérateur ne surveille plus la vidéo en continu : le drone lui signale ce qui compte.</a:t>
            </a:r>
            <a:endParaRPr lang="en-US" sz="1800" dirty="0"/>
          </a:p>
        </p:txBody>
      </p:sp>
      <p:sp>
        <p:nvSpPr>
          <p:cNvPr id="23" name="Text 15"/>
          <p:cNvSpPr txBox="1"/>
          <p:nvPr/>
        </p:nvSpPr>
        <p:spPr>
          <a:xfrm>
            <a:off x="548640" y="5623560"/>
            <a:ext cx="10972800" cy="274320"/>
          </a:xfrm>
          <a:prstGeom prst="rect">
            <a:avLst/>
          </a:prstGeom>
          <a:noFill/>
          <a:ln/>
        </p:spPr>
        <p:txBody>
          <a:bodyPr wrap="square" lIns="0" tIns="0" rIns="0" bIns="0" rtlCol="0" anchor="ctr"/>
          <a:lstStyle/>
          <a:p>
            <a:pPr indent="0" marL="0">
              <a:buNone/>
            </a:pPr>
            <a:r>
              <a:rPr lang="en-US" sz="1100" dirty="0">
                <a:solidFill>
                  <a:schemeClr val="tx2"/>
                </a:solidFill>
              </a:rPr>
              <a:t>Logiciel de vol Mission Planner / QGroundControl + application de supervision web/mobile. Image : simulation, valeurs illustratives.</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Trois liaisons indépendantes</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Makafui</a:t>
            </a:r>
            <a:endParaRPr lang="en-US" sz="1400" dirty="0"/>
          </a:p>
          <a:p>
            <a:pPr indent="0" marL="0">
              <a:buNone/>
            </a:pPr>
            <a:r>
              <a:rPr lang="en-US" sz="1000" dirty="0">
                <a:solidFill>
                  <a:schemeClr val="tx2"/>
                </a:solidFill>
              </a:rPr>
              <a:t>Réseau et sécurité</a:t>
            </a:r>
            <a:endParaRPr lang="en-US" sz="1400" dirty="0"/>
          </a:p>
        </p:txBody>
      </p:sp>
      <p:sp>
        <p:nvSpPr>
          <p:cNvPr id="8" name="Vidéo HD"/>
          <p:cNvSpPr/>
          <p:nvPr/>
        </p:nvSpPr>
        <p:spPr>
          <a:xfrm>
            <a:off x="548640" y="1600200"/>
            <a:ext cx="3520440" cy="3566160"/>
          </a:xfrm>
          <a:prstGeom prst="roundRect">
            <a:avLst>
              <a:gd name="adj" fmla="val 3117"/>
            </a:avLst>
          </a:prstGeom>
          <a:solidFill>
            <a:schemeClr val="bg2">
              <a:alpha val="90000"/>
            </a:schemeClr>
          </a:solidFill>
          <a:ln w="12700">
            <a:solidFill>
              <a:schemeClr val="accent5"/>
            </a:solidFill>
            <a:prstDash val="solid"/>
          </a:ln>
        </p:spPr>
      </p:sp>
      <p:sp>
        <p:nvSpPr>
          <p:cNvPr id="9" name="Shape 5"/>
          <p:cNvSpPr/>
          <p:nvPr/>
        </p:nvSpPr>
        <p:spPr>
          <a:xfrm>
            <a:off x="868680" y="1965960"/>
            <a:ext cx="822960" cy="82296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1066190" y="2163470"/>
            <a:ext cx="427939" cy="427939"/>
          </a:xfrm>
          <a:prstGeom prst="rect">
            <a:avLst/>
          </a:prstGeom>
        </p:spPr>
      </p:pic>
      <p:sp>
        <p:nvSpPr>
          <p:cNvPr id="11" name="Text 6"/>
          <p:cNvSpPr txBox="1"/>
          <p:nvPr/>
        </p:nvSpPr>
        <p:spPr>
          <a:xfrm>
            <a:off x="868680" y="2971800"/>
            <a:ext cx="2880360" cy="731520"/>
          </a:xfrm>
          <a:prstGeom prst="rect">
            <a:avLst/>
          </a:prstGeom>
          <a:noFill/>
          <a:ln/>
        </p:spPr>
        <p:txBody>
          <a:bodyPr wrap="square" lIns="0" tIns="0" rIns="0" bIns="0" rtlCol="0" anchor="t"/>
          <a:lstStyle/>
          <a:p>
            <a:pPr indent="0" marL="0">
              <a:buNone/>
            </a:pPr>
            <a:r>
              <a:rPr lang="en-US" sz="2000" b="1" dirty="0">
                <a:solidFill>
                  <a:schemeClr val="tx1"/>
                </a:solidFill>
              </a:rPr>
              <a:t>Vidéo HD</a:t>
            </a:r>
            <a:endParaRPr lang="en-US" sz="2000" dirty="0"/>
          </a:p>
        </p:txBody>
      </p:sp>
      <p:sp>
        <p:nvSpPr>
          <p:cNvPr id="12" name="Text 7"/>
          <p:cNvSpPr txBox="1"/>
          <p:nvPr/>
        </p:nvSpPr>
        <p:spPr>
          <a:xfrm>
            <a:off x="868680" y="3703320"/>
            <a:ext cx="2880360" cy="411480"/>
          </a:xfrm>
          <a:prstGeom prst="rect">
            <a:avLst/>
          </a:prstGeom>
          <a:noFill/>
          <a:ln/>
        </p:spPr>
        <p:txBody>
          <a:bodyPr wrap="square" lIns="0" tIns="0" rIns="0" bIns="0" rtlCol="0" anchor="ctr"/>
          <a:lstStyle/>
          <a:p>
            <a:pPr indent="0" marL="0">
              <a:buNone/>
            </a:pPr>
            <a:r>
              <a:rPr lang="en-US" sz="1800" b="1" dirty="0">
                <a:solidFill>
                  <a:schemeClr val="accent2"/>
                </a:solidFill>
              </a:rPr>
              <a:t>10 – 15 km</a:t>
            </a:r>
            <a:endParaRPr lang="en-US" sz="1800" dirty="0"/>
          </a:p>
        </p:txBody>
      </p:sp>
      <p:sp>
        <p:nvSpPr>
          <p:cNvPr id="13" name="Text 8"/>
          <p:cNvSpPr txBox="1"/>
          <p:nvPr/>
        </p:nvSpPr>
        <p:spPr>
          <a:xfrm>
            <a:off x="868680" y="4160520"/>
            <a:ext cx="2880360" cy="868680"/>
          </a:xfrm>
          <a:prstGeom prst="rect">
            <a:avLst/>
          </a:prstGeom>
          <a:noFill/>
          <a:ln/>
        </p:spPr>
        <p:txBody>
          <a:bodyPr wrap="square" lIns="0" tIns="0" rIns="0" bIns="0" rtlCol="0" anchor="t"/>
          <a:lstStyle/>
          <a:p>
            <a:pPr indent="0" marL="0">
              <a:buNone/>
            </a:pPr>
            <a:r>
              <a:rPr lang="en-US" sz="1400" dirty="0">
                <a:solidFill>
                  <a:schemeClr val="tx2"/>
                </a:solidFill>
              </a:rPr>
              <a:t>Image de la caméra et informations de vol.</a:t>
            </a:r>
            <a:endParaRPr lang="en-US" sz="1400" dirty="0"/>
          </a:p>
        </p:txBody>
      </p:sp>
      <p:sp>
        <p:nvSpPr>
          <p:cNvPr id="14" name="Radio longue portée chiffrée"/>
          <p:cNvSpPr/>
          <p:nvPr/>
        </p:nvSpPr>
        <p:spPr>
          <a:xfrm>
            <a:off x="4343400" y="1600200"/>
            <a:ext cx="3520440" cy="3566160"/>
          </a:xfrm>
          <a:prstGeom prst="roundRect">
            <a:avLst>
              <a:gd name="adj" fmla="val 3117"/>
            </a:avLst>
          </a:prstGeom>
          <a:solidFill>
            <a:schemeClr val="bg2">
              <a:alpha val="90000"/>
            </a:schemeClr>
          </a:solidFill>
          <a:ln w="12700">
            <a:solidFill>
              <a:schemeClr val="accent5"/>
            </a:solidFill>
            <a:prstDash val="solid"/>
          </a:ln>
        </p:spPr>
      </p:sp>
      <p:sp>
        <p:nvSpPr>
          <p:cNvPr id="15" name="Shape 10"/>
          <p:cNvSpPr/>
          <p:nvPr/>
        </p:nvSpPr>
        <p:spPr>
          <a:xfrm>
            <a:off x="4663440" y="1965960"/>
            <a:ext cx="822960" cy="82296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860950" y="2163470"/>
            <a:ext cx="427939" cy="427939"/>
          </a:xfrm>
          <a:prstGeom prst="rect">
            <a:avLst/>
          </a:prstGeom>
        </p:spPr>
      </p:pic>
      <p:sp>
        <p:nvSpPr>
          <p:cNvPr id="17" name="Text 11"/>
          <p:cNvSpPr txBox="1"/>
          <p:nvPr/>
        </p:nvSpPr>
        <p:spPr>
          <a:xfrm>
            <a:off x="4663440" y="2971800"/>
            <a:ext cx="2880360" cy="731520"/>
          </a:xfrm>
          <a:prstGeom prst="rect">
            <a:avLst/>
          </a:prstGeom>
          <a:noFill/>
          <a:ln/>
        </p:spPr>
        <p:txBody>
          <a:bodyPr wrap="square" lIns="0" tIns="0" rIns="0" bIns="0" rtlCol="0" anchor="t"/>
          <a:lstStyle/>
          <a:p>
            <a:pPr indent="0" marL="0">
              <a:buNone/>
            </a:pPr>
            <a:r>
              <a:rPr lang="en-US" sz="2000" b="1" dirty="0">
                <a:solidFill>
                  <a:schemeClr val="tx1"/>
                </a:solidFill>
              </a:rPr>
              <a:t>Radio longue portée chiffrée</a:t>
            </a:r>
            <a:endParaRPr lang="en-US" sz="2000" dirty="0"/>
          </a:p>
        </p:txBody>
      </p:sp>
      <p:sp>
        <p:nvSpPr>
          <p:cNvPr id="18" name="Text 12"/>
          <p:cNvSpPr txBox="1"/>
          <p:nvPr/>
        </p:nvSpPr>
        <p:spPr>
          <a:xfrm>
            <a:off x="4663440" y="3703320"/>
            <a:ext cx="2880360" cy="411480"/>
          </a:xfrm>
          <a:prstGeom prst="rect">
            <a:avLst/>
          </a:prstGeom>
          <a:noFill/>
          <a:ln/>
        </p:spPr>
        <p:txBody>
          <a:bodyPr wrap="square" lIns="0" tIns="0" rIns="0" bIns="0" rtlCol="0" anchor="ctr"/>
          <a:lstStyle/>
          <a:p>
            <a:pPr indent="0" marL="0">
              <a:buNone/>
            </a:pPr>
            <a:r>
              <a:rPr lang="en-US" sz="1800" b="1" dirty="0">
                <a:solidFill>
                  <a:schemeClr val="accent2"/>
                </a:solidFill>
              </a:rPr>
              <a:t>30 – 50 km (théorique)</a:t>
            </a:r>
            <a:endParaRPr lang="en-US" sz="1800" dirty="0"/>
          </a:p>
        </p:txBody>
      </p:sp>
      <p:sp>
        <p:nvSpPr>
          <p:cNvPr id="19" name="Text 13"/>
          <p:cNvSpPr txBox="1"/>
          <p:nvPr/>
        </p:nvSpPr>
        <p:spPr>
          <a:xfrm>
            <a:off x="4663440" y="4160520"/>
            <a:ext cx="2880360" cy="868680"/>
          </a:xfrm>
          <a:prstGeom prst="rect">
            <a:avLst/>
          </a:prstGeom>
          <a:noFill/>
          <a:ln/>
        </p:spPr>
        <p:txBody>
          <a:bodyPr wrap="square" lIns="0" tIns="0" rIns="0" bIns="0" rtlCol="0" anchor="t"/>
          <a:lstStyle/>
          <a:p>
            <a:pPr indent="0" marL="0">
              <a:buNone/>
            </a:pPr>
            <a:r>
              <a:rPr lang="en-US" sz="1400" dirty="0">
                <a:solidFill>
                  <a:schemeClr val="tx2"/>
                </a:solidFill>
              </a:rPr>
              <a:t>Télémétrie, ordres et alertes. Sans vidéo.</a:t>
            </a:r>
            <a:endParaRPr lang="en-US" sz="1400" dirty="0"/>
          </a:p>
        </p:txBody>
      </p:sp>
      <p:sp>
        <p:nvSpPr>
          <p:cNvPr id="20" name="Canal d'urgence ELRS"/>
          <p:cNvSpPr/>
          <p:nvPr/>
        </p:nvSpPr>
        <p:spPr>
          <a:xfrm>
            <a:off x="8138160" y="1600200"/>
            <a:ext cx="3520440" cy="3566160"/>
          </a:xfrm>
          <a:prstGeom prst="roundRect">
            <a:avLst>
              <a:gd name="adj" fmla="val 3117"/>
            </a:avLst>
          </a:prstGeom>
          <a:solidFill>
            <a:schemeClr val="bg2">
              <a:alpha val="90000"/>
            </a:schemeClr>
          </a:solidFill>
          <a:ln w="12700">
            <a:solidFill>
              <a:schemeClr val="accent5"/>
            </a:solidFill>
            <a:prstDash val="solid"/>
          </a:ln>
        </p:spPr>
      </p:sp>
      <p:sp>
        <p:nvSpPr>
          <p:cNvPr id="21" name="Shape 15"/>
          <p:cNvSpPr/>
          <p:nvPr/>
        </p:nvSpPr>
        <p:spPr>
          <a:xfrm>
            <a:off x="8458200" y="1965960"/>
            <a:ext cx="822960" cy="822960"/>
          </a:xfrm>
          <a:prstGeom prst="ellipse">
            <a:avLst/>
          </a:prstGeom>
          <a:solidFill>
            <a:schemeClr val="accent4"/>
          </a:solidFill>
          <a:ln/>
        </p:spPr>
      </p:sp>
      <p:pic>
        <p:nvPicPr>
          <p:cNvPr id="22" name="Image 3" descr="preencoded.png">    </p:cNvPr>
          <p:cNvPicPr>
            <a:picLocks noChangeAspect="1"/>
          </p:cNvPicPr>
          <p:nvPr/>
        </p:nvPicPr>
        <p:blipFill>
          <a:blip r:embed="rId4"/>
          <a:stretch>
            <a:fillRect/>
          </a:stretch>
        </p:blipFill>
        <p:spPr>
          <a:xfrm>
            <a:off x="8655710" y="2163470"/>
            <a:ext cx="427939" cy="427939"/>
          </a:xfrm>
          <a:prstGeom prst="rect">
            <a:avLst/>
          </a:prstGeom>
        </p:spPr>
      </p:pic>
      <p:sp>
        <p:nvSpPr>
          <p:cNvPr id="23" name="Text 16"/>
          <p:cNvSpPr txBox="1"/>
          <p:nvPr/>
        </p:nvSpPr>
        <p:spPr>
          <a:xfrm>
            <a:off x="8458200" y="2971800"/>
            <a:ext cx="2880360" cy="731520"/>
          </a:xfrm>
          <a:prstGeom prst="rect">
            <a:avLst/>
          </a:prstGeom>
          <a:noFill/>
          <a:ln/>
        </p:spPr>
        <p:txBody>
          <a:bodyPr wrap="square" lIns="0" tIns="0" rIns="0" bIns="0" rtlCol="0" anchor="t"/>
          <a:lstStyle/>
          <a:p>
            <a:pPr indent="0" marL="0">
              <a:buNone/>
            </a:pPr>
            <a:r>
              <a:rPr lang="en-US" sz="2000" b="1" dirty="0">
                <a:solidFill>
                  <a:schemeClr val="tx1"/>
                </a:solidFill>
              </a:rPr>
              <a:t>Canal d'urgence ELRS</a:t>
            </a:r>
            <a:endParaRPr lang="en-US" sz="2000" dirty="0"/>
          </a:p>
        </p:txBody>
      </p:sp>
      <p:sp>
        <p:nvSpPr>
          <p:cNvPr id="24" name="Text 17"/>
          <p:cNvSpPr txBox="1"/>
          <p:nvPr/>
        </p:nvSpPr>
        <p:spPr>
          <a:xfrm>
            <a:off x="8458200" y="3703320"/>
            <a:ext cx="2880360" cy="411480"/>
          </a:xfrm>
          <a:prstGeom prst="rect">
            <a:avLst/>
          </a:prstGeom>
          <a:noFill/>
          <a:ln/>
        </p:spPr>
        <p:txBody>
          <a:bodyPr wrap="square" lIns="0" tIns="0" rIns="0" bIns="0" rtlCol="0" anchor="ctr"/>
          <a:lstStyle/>
          <a:p>
            <a:pPr indent="0" marL="0">
              <a:buNone/>
            </a:pPr>
            <a:r>
              <a:rPr lang="en-US" sz="1800" b="1" dirty="0">
                <a:solidFill>
                  <a:schemeClr val="accent2"/>
                </a:solidFill>
              </a:rPr>
              <a:t>Indépendant</a:t>
            </a:r>
            <a:endParaRPr lang="en-US" sz="1800" dirty="0"/>
          </a:p>
        </p:txBody>
      </p:sp>
      <p:sp>
        <p:nvSpPr>
          <p:cNvPr id="25" name="Text 18"/>
          <p:cNvSpPr txBox="1"/>
          <p:nvPr/>
        </p:nvSpPr>
        <p:spPr>
          <a:xfrm>
            <a:off x="8458200" y="4160520"/>
            <a:ext cx="2880360" cy="868680"/>
          </a:xfrm>
          <a:prstGeom prst="rect">
            <a:avLst/>
          </a:prstGeom>
          <a:noFill/>
          <a:ln/>
        </p:spPr>
        <p:txBody>
          <a:bodyPr wrap="square" lIns="0" tIns="0" rIns="0" bIns="0" rtlCol="0" anchor="t"/>
          <a:lstStyle/>
          <a:p>
            <a:pPr indent="0" marL="0">
              <a:buNone/>
            </a:pPr>
            <a:r>
              <a:rPr lang="en-US" sz="1400" dirty="0">
                <a:solidFill>
                  <a:schemeClr val="tx2"/>
                </a:solidFill>
              </a:rPr>
              <a:t>Reprise en main : retour au point de départ ou coupure moteurs.</a:t>
            </a:r>
            <a:endParaRPr lang="en-US" sz="1400" dirty="0"/>
          </a:p>
        </p:txBody>
      </p:sp>
      <p:sp>
        <p:nvSpPr>
          <p:cNvPr id="26" name="Text 19"/>
          <p:cNvSpPr txBox="1"/>
          <p:nvPr/>
        </p:nvSpPr>
        <p:spPr>
          <a:xfrm>
            <a:off x="548640" y="5486400"/>
            <a:ext cx="10972800" cy="365760"/>
          </a:xfrm>
          <a:prstGeom prst="rect">
            <a:avLst/>
          </a:prstGeom>
          <a:noFill/>
          <a:ln/>
        </p:spPr>
        <p:txBody>
          <a:bodyPr wrap="square" lIns="0" tIns="0" rIns="0" bIns="0" rtlCol="0" anchor="ctr"/>
          <a:lstStyle/>
          <a:p>
            <a:pPr indent="0" marL="0">
              <a:buNone/>
            </a:pPr>
            <a:r>
              <a:rPr lang="en-US" sz="1500" i="1" dirty="0">
                <a:solidFill>
                  <a:schemeClr val="tx2"/>
                </a:solidFill>
              </a:rPr>
              <a:t>Écartés : satellite (coût) et 4G (couverture incertaine dans les zones visées).</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La sécurité dès la conception</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Makafui</a:t>
            </a:r>
            <a:endParaRPr lang="en-US" sz="1400" dirty="0"/>
          </a:p>
          <a:p>
            <a:pPr indent="0" marL="0">
              <a:buNone/>
            </a:pPr>
            <a:r>
              <a:rPr lang="en-US" sz="1000" dirty="0">
                <a:solidFill>
                  <a:schemeClr val="tx2"/>
                </a:solidFill>
              </a:rPr>
              <a:t>Réseau et sécurité</a:t>
            </a:r>
            <a:endParaRPr lang="en-US" sz="1400" dirty="0"/>
          </a:p>
        </p:txBody>
      </p:sp>
      <p:sp>
        <p:nvSpPr>
          <p:cNvPr id="8" name="Chiffrement et authentification"/>
          <p:cNvSpPr/>
          <p:nvPr/>
        </p:nvSpPr>
        <p:spPr>
          <a:xfrm>
            <a:off x="548640" y="1463040"/>
            <a:ext cx="11094415" cy="749808"/>
          </a:xfrm>
          <a:prstGeom prst="roundRect">
            <a:avLst>
              <a:gd name="adj" fmla="val 14634"/>
            </a:avLst>
          </a:prstGeom>
          <a:solidFill>
            <a:schemeClr val="bg2">
              <a:alpha val="90000"/>
            </a:schemeClr>
          </a:solidFill>
          <a:ln w="12700">
            <a:solidFill>
              <a:schemeClr val="accent5"/>
            </a:solidFill>
            <a:prstDash val="solid"/>
          </a:ln>
        </p:spPr>
      </p:sp>
      <p:sp>
        <p:nvSpPr>
          <p:cNvPr id="9" name="Shape 5"/>
          <p:cNvSpPr/>
          <p:nvPr/>
        </p:nvSpPr>
        <p:spPr>
          <a:xfrm>
            <a:off x="731520" y="1563624"/>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863194" y="1695298"/>
            <a:ext cx="285293" cy="285293"/>
          </a:xfrm>
          <a:prstGeom prst="rect">
            <a:avLst/>
          </a:prstGeom>
        </p:spPr>
      </p:pic>
      <p:sp>
        <p:nvSpPr>
          <p:cNvPr id="11" name="Text 6"/>
          <p:cNvSpPr txBox="1"/>
          <p:nvPr/>
        </p:nvSpPr>
        <p:spPr>
          <a:xfrm>
            <a:off x="1508760" y="1554480"/>
            <a:ext cx="3566160" cy="566928"/>
          </a:xfrm>
          <a:prstGeom prst="rect">
            <a:avLst/>
          </a:prstGeom>
          <a:noFill/>
          <a:ln/>
        </p:spPr>
        <p:txBody>
          <a:bodyPr wrap="square" lIns="0" tIns="0" rIns="0" bIns="0" rtlCol="0" anchor="ctr"/>
          <a:lstStyle/>
          <a:p>
            <a:pPr indent="0" marL="0">
              <a:buNone/>
            </a:pPr>
            <a:r>
              <a:rPr lang="en-US" sz="1700" b="1" dirty="0">
                <a:solidFill>
                  <a:schemeClr val="tx1"/>
                </a:solidFill>
              </a:rPr>
              <a:t>Chiffrement et authentification</a:t>
            </a:r>
            <a:endParaRPr lang="en-US" sz="1700" dirty="0"/>
          </a:p>
        </p:txBody>
      </p:sp>
      <p:sp>
        <p:nvSpPr>
          <p:cNvPr id="12" name="Text 7"/>
          <p:cNvSpPr txBox="1"/>
          <p:nvPr/>
        </p:nvSpPr>
        <p:spPr>
          <a:xfrm>
            <a:off x="5120640" y="1554480"/>
            <a:ext cx="6339535" cy="566928"/>
          </a:xfrm>
          <a:prstGeom prst="rect">
            <a:avLst/>
          </a:prstGeom>
          <a:noFill/>
          <a:ln/>
        </p:spPr>
        <p:txBody>
          <a:bodyPr wrap="square" lIns="0" tIns="0" rIns="0" bIns="0" rtlCol="0" anchor="ctr"/>
          <a:lstStyle/>
          <a:p>
            <a:pPr indent="0" marL="0">
              <a:buNone/>
            </a:pPr>
            <a:r>
              <a:rPr lang="en-US" sz="1500" dirty="0">
                <a:solidFill>
                  <a:schemeClr val="tx2"/>
                </a:solidFill>
              </a:rPr>
              <a:t>Données chiffrées ; messages MAVLink 2 signés : un ordre non signé est rejeté.</a:t>
            </a:r>
            <a:endParaRPr lang="en-US" sz="1500" dirty="0"/>
          </a:p>
        </p:txBody>
      </p:sp>
      <p:sp>
        <p:nvSpPr>
          <p:cNvPr id="13" name="Anti-brouillage"/>
          <p:cNvSpPr/>
          <p:nvPr/>
        </p:nvSpPr>
        <p:spPr>
          <a:xfrm>
            <a:off x="548640" y="2359152"/>
            <a:ext cx="11094415" cy="749808"/>
          </a:xfrm>
          <a:prstGeom prst="roundRect">
            <a:avLst>
              <a:gd name="adj" fmla="val 14634"/>
            </a:avLst>
          </a:prstGeom>
          <a:solidFill>
            <a:schemeClr val="bg2">
              <a:alpha val="90000"/>
            </a:schemeClr>
          </a:solidFill>
          <a:ln w="12700">
            <a:solidFill>
              <a:schemeClr val="accent5"/>
            </a:solidFill>
            <a:prstDash val="solid"/>
          </a:ln>
        </p:spPr>
      </p:sp>
      <p:sp>
        <p:nvSpPr>
          <p:cNvPr id="14" name="Shape 9"/>
          <p:cNvSpPr/>
          <p:nvPr/>
        </p:nvSpPr>
        <p:spPr>
          <a:xfrm>
            <a:off x="731520" y="2459736"/>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63194" y="2591410"/>
            <a:ext cx="285293" cy="285293"/>
          </a:xfrm>
          <a:prstGeom prst="rect">
            <a:avLst/>
          </a:prstGeom>
        </p:spPr>
      </p:pic>
      <p:sp>
        <p:nvSpPr>
          <p:cNvPr id="16" name="Text 10"/>
          <p:cNvSpPr txBox="1"/>
          <p:nvPr/>
        </p:nvSpPr>
        <p:spPr>
          <a:xfrm>
            <a:off x="1508760" y="2450592"/>
            <a:ext cx="3566160" cy="566928"/>
          </a:xfrm>
          <a:prstGeom prst="rect">
            <a:avLst/>
          </a:prstGeom>
          <a:noFill/>
          <a:ln/>
        </p:spPr>
        <p:txBody>
          <a:bodyPr wrap="square" lIns="0" tIns="0" rIns="0" bIns="0" rtlCol="0" anchor="ctr"/>
          <a:lstStyle/>
          <a:p>
            <a:pPr indent="0" marL="0">
              <a:buNone/>
            </a:pPr>
            <a:r>
              <a:rPr lang="en-US" sz="1700" b="1" dirty="0">
                <a:solidFill>
                  <a:schemeClr val="tx1"/>
                </a:solidFill>
              </a:rPr>
              <a:t>Anti-brouillage</a:t>
            </a:r>
            <a:endParaRPr lang="en-US" sz="1700" dirty="0"/>
          </a:p>
        </p:txBody>
      </p:sp>
      <p:sp>
        <p:nvSpPr>
          <p:cNvPr id="17" name="Text 11"/>
          <p:cNvSpPr txBox="1"/>
          <p:nvPr/>
        </p:nvSpPr>
        <p:spPr>
          <a:xfrm>
            <a:off x="5120640" y="2450592"/>
            <a:ext cx="6339535" cy="566928"/>
          </a:xfrm>
          <a:prstGeom prst="rect">
            <a:avLst/>
          </a:prstGeom>
          <a:noFill/>
          <a:ln/>
        </p:spPr>
        <p:txBody>
          <a:bodyPr wrap="square" lIns="0" tIns="0" rIns="0" bIns="0" rtlCol="0" anchor="ctr"/>
          <a:lstStyle/>
          <a:p>
            <a:pPr indent="0" marL="0">
              <a:buNone/>
            </a:pPr>
            <a:r>
              <a:rPr lang="en-US" sz="1500" dirty="0">
                <a:solidFill>
                  <a:schemeClr val="tx2"/>
                </a:solidFill>
              </a:rPr>
              <a:t>Surveillance de la qualité des liens et bascule automatique.</a:t>
            </a:r>
            <a:endParaRPr lang="en-US" sz="1500" dirty="0"/>
          </a:p>
        </p:txBody>
      </p:sp>
      <p:sp>
        <p:nvSpPr>
          <p:cNvPr id="18" name="Anti-leurrage GPS"/>
          <p:cNvSpPr/>
          <p:nvPr/>
        </p:nvSpPr>
        <p:spPr>
          <a:xfrm>
            <a:off x="548640" y="3255264"/>
            <a:ext cx="11094415" cy="749808"/>
          </a:xfrm>
          <a:prstGeom prst="roundRect">
            <a:avLst>
              <a:gd name="adj" fmla="val 14634"/>
            </a:avLst>
          </a:prstGeom>
          <a:solidFill>
            <a:schemeClr val="bg2">
              <a:alpha val="90000"/>
            </a:schemeClr>
          </a:solidFill>
          <a:ln w="12700">
            <a:solidFill>
              <a:schemeClr val="accent5"/>
            </a:solidFill>
            <a:prstDash val="solid"/>
          </a:ln>
        </p:spPr>
      </p:sp>
      <p:sp>
        <p:nvSpPr>
          <p:cNvPr id="19" name="Shape 13"/>
          <p:cNvSpPr/>
          <p:nvPr/>
        </p:nvSpPr>
        <p:spPr>
          <a:xfrm>
            <a:off x="731520" y="3355848"/>
            <a:ext cx="548640" cy="54864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863194" y="3487522"/>
            <a:ext cx="285293" cy="285293"/>
          </a:xfrm>
          <a:prstGeom prst="rect">
            <a:avLst/>
          </a:prstGeom>
        </p:spPr>
      </p:pic>
      <p:sp>
        <p:nvSpPr>
          <p:cNvPr id="21" name="Text 14"/>
          <p:cNvSpPr txBox="1"/>
          <p:nvPr/>
        </p:nvSpPr>
        <p:spPr>
          <a:xfrm>
            <a:off x="1508760" y="3346704"/>
            <a:ext cx="3566160" cy="566928"/>
          </a:xfrm>
          <a:prstGeom prst="rect">
            <a:avLst/>
          </a:prstGeom>
          <a:noFill/>
          <a:ln/>
        </p:spPr>
        <p:txBody>
          <a:bodyPr wrap="square" lIns="0" tIns="0" rIns="0" bIns="0" rtlCol="0" anchor="ctr"/>
          <a:lstStyle/>
          <a:p>
            <a:pPr indent="0" marL="0">
              <a:buNone/>
            </a:pPr>
            <a:r>
              <a:rPr lang="en-US" sz="1700" b="1" dirty="0">
                <a:solidFill>
                  <a:schemeClr val="tx1"/>
                </a:solidFill>
              </a:rPr>
              <a:t>Anti-leurrage GPS</a:t>
            </a:r>
            <a:endParaRPr lang="en-US" sz="1700" dirty="0"/>
          </a:p>
        </p:txBody>
      </p:sp>
      <p:sp>
        <p:nvSpPr>
          <p:cNvPr id="22" name="Text 15"/>
          <p:cNvSpPr txBox="1"/>
          <p:nvPr/>
        </p:nvSpPr>
        <p:spPr>
          <a:xfrm>
            <a:off x="5120640" y="3346704"/>
            <a:ext cx="6339535" cy="566928"/>
          </a:xfrm>
          <a:prstGeom prst="rect">
            <a:avLst/>
          </a:prstGeom>
          <a:noFill/>
          <a:ln/>
        </p:spPr>
        <p:txBody>
          <a:bodyPr wrap="square" lIns="0" tIns="0" rIns="0" bIns="0" rtlCol="0" anchor="ctr"/>
          <a:lstStyle/>
          <a:p>
            <a:pPr indent="0" marL="0">
              <a:buNone/>
            </a:pPr>
            <a:r>
              <a:rPr lang="en-US" sz="1500" dirty="0">
                <a:solidFill>
                  <a:schemeClr val="tx2"/>
                </a:solidFill>
              </a:rPr>
              <a:t>Deux récepteurs comparés à la centrale inertielle : la source qui ment est écartée.</a:t>
            </a:r>
            <a:endParaRPr lang="en-US" sz="1500" dirty="0"/>
          </a:p>
        </p:txBody>
      </p:sp>
      <p:sp>
        <p:nvSpPr>
          <p:cNvPr id="23" name="Retour automatique (RTH)"/>
          <p:cNvSpPr/>
          <p:nvPr/>
        </p:nvSpPr>
        <p:spPr>
          <a:xfrm>
            <a:off x="548640" y="4151376"/>
            <a:ext cx="11094415" cy="749808"/>
          </a:xfrm>
          <a:prstGeom prst="roundRect">
            <a:avLst>
              <a:gd name="adj" fmla="val 14634"/>
            </a:avLst>
          </a:prstGeom>
          <a:solidFill>
            <a:schemeClr val="bg2">
              <a:alpha val="90000"/>
            </a:schemeClr>
          </a:solidFill>
          <a:ln w="12700">
            <a:solidFill>
              <a:schemeClr val="accent5"/>
            </a:solidFill>
            <a:prstDash val="solid"/>
          </a:ln>
        </p:spPr>
      </p:sp>
      <p:sp>
        <p:nvSpPr>
          <p:cNvPr id="24" name="Shape 17"/>
          <p:cNvSpPr/>
          <p:nvPr/>
        </p:nvSpPr>
        <p:spPr>
          <a:xfrm>
            <a:off x="731520" y="4251960"/>
            <a:ext cx="548640" cy="548640"/>
          </a:xfrm>
          <a:prstGeom prst="ellipse">
            <a:avLst/>
          </a:prstGeom>
          <a:solidFill>
            <a:schemeClr val="accent3"/>
          </a:solidFill>
          <a:ln/>
        </p:spPr>
      </p:sp>
      <p:pic>
        <p:nvPicPr>
          <p:cNvPr id="25" name="Image 4" descr="preencoded.png">    </p:cNvPr>
          <p:cNvPicPr>
            <a:picLocks noChangeAspect="1"/>
          </p:cNvPicPr>
          <p:nvPr/>
        </p:nvPicPr>
        <p:blipFill>
          <a:blip r:embed="rId5"/>
          <a:stretch>
            <a:fillRect/>
          </a:stretch>
        </p:blipFill>
        <p:spPr>
          <a:xfrm>
            <a:off x="863194" y="4383634"/>
            <a:ext cx="285293" cy="285293"/>
          </a:xfrm>
          <a:prstGeom prst="rect">
            <a:avLst/>
          </a:prstGeom>
        </p:spPr>
      </p:pic>
      <p:sp>
        <p:nvSpPr>
          <p:cNvPr id="26" name="Text 18"/>
          <p:cNvSpPr txBox="1"/>
          <p:nvPr/>
        </p:nvSpPr>
        <p:spPr>
          <a:xfrm>
            <a:off x="1508760" y="4242816"/>
            <a:ext cx="3566160" cy="566928"/>
          </a:xfrm>
          <a:prstGeom prst="rect">
            <a:avLst/>
          </a:prstGeom>
          <a:noFill/>
          <a:ln/>
        </p:spPr>
        <p:txBody>
          <a:bodyPr wrap="square" lIns="0" tIns="0" rIns="0" bIns="0" rtlCol="0" anchor="ctr"/>
          <a:lstStyle/>
          <a:p>
            <a:pPr indent="0" marL="0">
              <a:buNone/>
            </a:pPr>
            <a:r>
              <a:rPr lang="en-US" sz="1700" b="1" dirty="0">
                <a:solidFill>
                  <a:schemeClr val="tx1"/>
                </a:solidFill>
              </a:rPr>
              <a:t>Retour automatique (RTH)</a:t>
            </a:r>
            <a:endParaRPr lang="en-US" sz="1700" dirty="0"/>
          </a:p>
        </p:txBody>
      </p:sp>
      <p:sp>
        <p:nvSpPr>
          <p:cNvPr id="27" name="Text 19"/>
          <p:cNvSpPr txBox="1"/>
          <p:nvPr/>
        </p:nvSpPr>
        <p:spPr>
          <a:xfrm>
            <a:off x="5120640" y="4242816"/>
            <a:ext cx="6339535" cy="566928"/>
          </a:xfrm>
          <a:prstGeom prst="rect">
            <a:avLst/>
          </a:prstGeom>
          <a:noFill/>
          <a:ln/>
        </p:spPr>
        <p:txBody>
          <a:bodyPr wrap="square" lIns="0" tIns="0" rIns="0" bIns="0" rtlCol="0" anchor="ctr"/>
          <a:lstStyle/>
          <a:p>
            <a:pPr indent="0" marL="0">
              <a:buNone/>
            </a:pPr>
            <a:r>
              <a:rPr lang="en-US" sz="1500" dirty="0">
                <a:solidFill>
                  <a:schemeClr val="tx2"/>
                </a:solidFill>
              </a:rPr>
              <a:t>Perte de liaison, batterie faible ou GPS dégradé : le drone rentre seul.</a:t>
            </a:r>
            <a:endParaRPr lang="en-US" sz="1500" dirty="0"/>
          </a:p>
        </p:txBody>
      </p:sp>
      <p:sp>
        <p:nvSpPr>
          <p:cNvPr id="28" name="Coupure d'urgence"/>
          <p:cNvSpPr/>
          <p:nvPr/>
        </p:nvSpPr>
        <p:spPr>
          <a:xfrm>
            <a:off x="548640" y="5047488"/>
            <a:ext cx="11094415" cy="749808"/>
          </a:xfrm>
          <a:prstGeom prst="roundRect">
            <a:avLst>
              <a:gd name="adj" fmla="val 14634"/>
            </a:avLst>
          </a:prstGeom>
          <a:solidFill>
            <a:schemeClr val="bg2">
              <a:alpha val="90000"/>
            </a:schemeClr>
          </a:solidFill>
          <a:ln w="12700">
            <a:solidFill>
              <a:schemeClr val="accent5"/>
            </a:solidFill>
            <a:prstDash val="solid"/>
          </a:ln>
        </p:spPr>
      </p:sp>
      <p:sp>
        <p:nvSpPr>
          <p:cNvPr id="29" name="Shape 21"/>
          <p:cNvSpPr/>
          <p:nvPr/>
        </p:nvSpPr>
        <p:spPr>
          <a:xfrm>
            <a:off x="731520" y="5148072"/>
            <a:ext cx="548640" cy="548640"/>
          </a:xfrm>
          <a:prstGeom prst="ellipse">
            <a:avLst/>
          </a:prstGeom>
          <a:solidFill>
            <a:schemeClr val="accent4"/>
          </a:solidFill>
          <a:ln/>
        </p:spPr>
      </p:sp>
      <p:pic>
        <p:nvPicPr>
          <p:cNvPr id="30" name="Image 5" descr="preencoded.png">    </p:cNvPr>
          <p:cNvPicPr>
            <a:picLocks noChangeAspect="1"/>
          </p:cNvPicPr>
          <p:nvPr/>
        </p:nvPicPr>
        <p:blipFill>
          <a:blip r:embed="rId6"/>
          <a:stretch>
            <a:fillRect/>
          </a:stretch>
        </p:blipFill>
        <p:spPr>
          <a:xfrm>
            <a:off x="863194" y="5279746"/>
            <a:ext cx="285293" cy="285293"/>
          </a:xfrm>
          <a:prstGeom prst="rect">
            <a:avLst/>
          </a:prstGeom>
        </p:spPr>
      </p:pic>
      <p:sp>
        <p:nvSpPr>
          <p:cNvPr id="31" name="Text 22"/>
          <p:cNvSpPr txBox="1"/>
          <p:nvPr/>
        </p:nvSpPr>
        <p:spPr>
          <a:xfrm>
            <a:off x="1508760" y="5138928"/>
            <a:ext cx="3566160" cy="566928"/>
          </a:xfrm>
          <a:prstGeom prst="rect">
            <a:avLst/>
          </a:prstGeom>
          <a:noFill/>
          <a:ln/>
        </p:spPr>
        <p:txBody>
          <a:bodyPr wrap="square" lIns="0" tIns="0" rIns="0" bIns="0" rtlCol="0" anchor="ctr"/>
          <a:lstStyle/>
          <a:p>
            <a:pPr indent="0" marL="0">
              <a:buNone/>
            </a:pPr>
            <a:r>
              <a:rPr lang="en-US" sz="1700" b="1" dirty="0">
                <a:solidFill>
                  <a:schemeClr val="tx1"/>
                </a:solidFill>
              </a:rPr>
              <a:t>Coupure d'urgence</a:t>
            </a:r>
            <a:endParaRPr lang="en-US" sz="1700" dirty="0"/>
          </a:p>
        </p:txBody>
      </p:sp>
      <p:sp>
        <p:nvSpPr>
          <p:cNvPr id="32" name="Text 23"/>
          <p:cNvSpPr txBox="1"/>
          <p:nvPr/>
        </p:nvSpPr>
        <p:spPr>
          <a:xfrm>
            <a:off x="5120640" y="5138928"/>
            <a:ext cx="6339535" cy="566928"/>
          </a:xfrm>
          <a:prstGeom prst="rect">
            <a:avLst/>
          </a:prstGeom>
          <a:noFill/>
          <a:ln/>
        </p:spPr>
        <p:txBody>
          <a:bodyPr wrap="square" lIns="0" tIns="0" rIns="0" bIns="0" rtlCol="0" anchor="ctr"/>
          <a:lstStyle/>
          <a:p>
            <a:pPr indent="0" marL="0">
              <a:buNone/>
            </a:pPr>
            <a:r>
              <a:rPr lang="en-US" sz="1500" dirty="0">
                <a:solidFill>
                  <a:schemeClr val="tx2"/>
                </a:solidFill>
              </a:rPr>
              <a:t>En dernier recours, arrêt des moteurs sur ordre du canal d'urgence.</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L'IA analyse les images à bord</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Roger</a:t>
            </a:r>
            <a:endParaRPr lang="en-US" sz="1400" dirty="0"/>
          </a:p>
          <a:p>
            <a:pPr indent="0" marL="0">
              <a:buNone/>
            </a:pPr>
            <a:r>
              <a:rPr lang="en-US" sz="1000" dirty="0">
                <a:solidFill>
                  <a:schemeClr val="tx2"/>
                </a:solidFill>
              </a:rPr>
              <a:t>IA embarquée</a:t>
            </a:r>
            <a:endParaRPr lang="en-US" sz="1400" dirty="0"/>
          </a:p>
        </p:txBody>
      </p:sp>
      <p:pic>
        <p:nvPicPr>
          <p:cNvPr id="8" name="Image 1" descr="/home/user/video-sentinelle-aerienne/pitch/assets/chaine_ia_bande.png">    </p:cNvPr>
          <p:cNvPicPr>
            <a:picLocks noChangeAspect="1"/>
          </p:cNvPicPr>
          <p:nvPr/>
        </p:nvPicPr>
        <p:blipFill>
          <a:blip r:embed="rId2"/>
          <a:stretch>
            <a:fillRect/>
          </a:stretch>
        </p:blipFill>
        <p:spPr>
          <a:xfrm>
            <a:off x="182880" y="1417320"/>
            <a:ext cx="11795760" cy="2084832"/>
          </a:xfrm>
          <a:prstGeom prst="rect">
            <a:avLst/>
          </a:prstGeom>
        </p:spPr>
      </p:pic>
      <p:sp>
        <p:nvSpPr>
          <p:cNvPr id="9" name="26 TOPS"/>
          <p:cNvSpPr/>
          <p:nvPr/>
        </p:nvSpPr>
        <p:spPr>
          <a:xfrm>
            <a:off x="548640" y="3977640"/>
            <a:ext cx="2615184" cy="1600200"/>
          </a:xfrm>
          <a:prstGeom prst="roundRect">
            <a:avLst>
              <a:gd name="adj" fmla="val 6857"/>
            </a:avLst>
          </a:prstGeom>
          <a:solidFill>
            <a:schemeClr val="bg2">
              <a:alpha val="90000"/>
            </a:schemeClr>
          </a:solidFill>
          <a:ln w="12700">
            <a:solidFill>
              <a:schemeClr val="accent5"/>
            </a:solidFill>
            <a:prstDash val="solid"/>
          </a:ln>
        </p:spPr>
      </p:sp>
      <p:sp>
        <p:nvSpPr>
          <p:cNvPr id="10" name="Text 5"/>
          <p:cNvSpPr txBox="1"/>
          <p:nvPr/>
        </p:nvSpPr>
        <p:spPr>
          <a:xfrm>
            <a:off x="777240" y="4160520"/>
            <a:ext cx="2157984" cy="685800"/>
          </a:xfrm>
          <a:prstGeom prst="rect">
            <a:avLst/>
          </a:prstGeom>
          <a:noFill/>
          <a:ln/>
        </p:spPr>
        <p:txBody>
          <a:bodyPr wrap="square" lIns="0" tIns="0" rIns="0" bIns="0" rtlCol="0" anchor="ctr"/>
          <a:lstStyle/>
          <a:p>
            <a:pPr indent="0" marL="0">
              <a:buNone/>
            </a:pPr>
            <a:r>
              <a:rPr lang="en-US" sz="3200" b="1" dirty="0">
                <a:solidFill>
                  <a:schemeClr val="accent1"/>
                </a:solidFill>
              </a:rPr>
              <a:t>26 TOPS</a:t>
            </a:r>
            <a:endParaRPr lang="en-US" sz="3200" dirty="0"/>
          </a:p>
        </p:txBody>
      </p:sp>
      <p:sp>
        <p:nvSpPr>
          <p:cNvPr id="11" name="Text 6"/>
          <p:cNvSpPr txBox="1"/>
          <p:nvPr/>
        </p:nvSpPr>
        <p:spPr>
          <a:xfrm>
            <a:off x="777240" y="4846320"/>
            <a:ext cx="2157984" cy="594360"/>
          </a:xfrm>
          <a:prstGeom prst="rect">
            <a:avLst/>
          </a:prstGeom>
          <a:noFill/>
          <a:ln/>
        </p:spPr>
        <p:txBody>
          <a:bodyPr wrap="square" lIns="0" tIns="0" rIns="0" bIns="0" rtlCol="0" anchor="t"/>
          <a:lstStyle/>
          <a:p>
            <a:pPr indent="0" marL="0">
              <a:buNone/>
            </a:pPr>
            <a:r>
              <a:rPr lang="en-US" sz="1300" dirty="0">
                <a:solidFill>
                  <a:schemeClr val="tx2"/>
                </a:solidFill>
              </a:rPr>
              <a:t>Raspberry Pi 5 + AI HAT+ (Hailo-8)</a:t>
            </a:r>
            <a:endParaRPr lang="en-US" sz="1300" dirty="0"/>
          </a:p>
        </p:txBody>
      </p:sp>
      <p:sp>
        <p:nvSpPr>
          <p:cNvPr id="12" name="YOLOv8s"/>
          <p:cNvSpPr/>
          <p:nvPr/>
        </p:nvSpPr>
        <p:spPr>
          <a:xfrm>
            <a:off x="3346704" y="3977640"/>
            <a:ext cx="2615184" cy="1600200"/>
          </a:xfrm>
          <a:prstGeom prst="roundRect">
            <a:avLst>
              <a:gd name="adj" fmla="val 6857"/>
            </a:avLst>
          </a:prstGeom>
          <a:solidFill>
            <a:schemeClr val="bg2">
              <a:alpha val="90000"/>
            </a:schemeClr>
          </a:solidFill>
          <a:ln w="12700">
            <a:solidFill>
              <a:schemeClr val="accent5"/>
            </a:solidFill>
            <a:prstDash val="solid"/>
          </a:ln>
        </p:spPr>
      </p:sp>
      <p:sp>
        <p:nvSpPr>
          <p:cNvPr id="13" name="Text 8"/>
          <p:cNvSpPr txBox="1"/>
          <p:nvPr/>
        </p:nvSpPr>
        <p:spPr>
          <a:xfrm>
            <a:off x="3575304" y="4160520"/>
            <a:ext cx="2157984" cy="685800"/>
          </a:xfrm>
          <a:prstGeom prst="rect">
            <a:avLst/>
          </a:prstGeom>
          <a:noFill/>
          <a:ln/>
        </p:spPr>
        <p:txBody>
          <a:bodyPr wrap="square" lIns="0" tIns="0" rIns="0" bIns="0" rtlCol="0" anchor="ctr"/>
          <a:lstStyle/>
          <a:p>
            <a:pPr indent="0" marL="0">
              <a:buNone/>
            </a:pPr>
            <a:r>
              <a:rPr lang="en-US" sz="3200" b="1" dirty="0">
                <a:solidFill>
                  <a:schemeClr val="accent1"/>
                </a:solidFill>
              </a:rPr>
              <a:t>YOLOv8s</a:t>
            </a:r>
            <a:endParaRPr lang="en-US" sz="3200" dirty="0"/>
          </a:p>
        </p:txBody>
      </p:sp>
      <p:sp>
        <p:nvSpPr>
          <p:cNvPr id="14" name="Text 9"/>
          <p:cNvSpPr txBox="1"/>
          <p:nvPr/>
        </p:nvSpPr>
        <p:spPr>
          <a:xfrm>
            <a:off x="3575304" y="4846320"/>
            <a:ext cx="2157984" cy="594360"/>
          </a:xfrm>
          <a:prstGeom prst="rect">
            <a:avLst/>
          </a:prstGeom>
          <a:noFill/>
          <a:ln/>
        </p:spPr>
        <p:txBody>
          <a:bodyPr wrap="square" lIns="0" tIns="0" rIns="0" bIns="0" rtlCol="0" anchor="t"/>
          <a:lstStyle/>
          <a:p>
            <a:pPr indent="0" marL="0">
              <a:buNone/>
            </a:pPr>
            <a:r>
              <a:rPr lang="en-US" sz="1300" dirty="0">
                <a:solidFill>
                  <a:schemeClr val="tx2"/>
                </a:solidFill>
              </a:rPr>
              <a:t>détecteur affiné sur nos données</a:t>
            </a:r>
            <a:endParaRPr lang="en-US" sz="1300" dirty="0"/>
          </a:p>
        </p:txBody>
      </p:sp>
      <p:sp>
        <p:nvSpPr>
          <p:cNvPr id="15" name="3 classes"/>
          <p:cNvSpPr/>
          <p:nvPr/>
        </p:nvSpPr>
        <p:spPr>
          <a:xfrm>
            <a:off x="6144768" y="3977640"/>
            <a:ext cx="2615184" cy="1600200"/>
          </a:xfrm>
          <a:prstGeom prst="roundRect">
            <a:avLst>
              <a:gd name="adj" fmla="val 6857"/>
            </a:avLst>
          </a:prstGeom>
          <a:solidFill>
            <a:schemeClr val="bg2">
              <a:alpha val="90000"/>
            </a:schemeClr>
          </a:solidFill>
          <a:ln w="12700">
            <a:solidFill>
              <a:schemeClr val="accent5"/>
            </a:solidFill>
            <a:prstDash val="solid"/>
          </a:ln>
        </p:spPr>
      </p:sp>
      <p:sp>
        <p:nvSpPr>
          <p:cNvPr id="16" name="Text 11"/>
          <p:cNvSpPr txBox="1"/>
          <p:nvPr/>
        </p:nvSpPr>
        <p:spPr>
          <a:xfrm>
            <a:off x="6373368" y="4160520"/>
            <a:ext cx="2157984" cy="685800"/>
          </a:xfrm>
          <a:prstGeom prst="rect">
            <a:avLst/>
          </a:prstGeom>
          <a:noFill/>
          <a:ln/>
        </p:spPr>
        <p:txBody>
          <a:bodyPr wrap="square" lIns="0" tIns="0" rIns="0" bIns="0" rtlCol="0" anchor="ctr"/>
          <a:lstStyle/>
          <a:p>
            <a:pPr indent="0" marL="0">
              <a:buNone/>
            </a:pPr>
            <a:r>
              <a:rPr lang="en-US" sz="3200" b="1" dirty="0">
                <a:solidFill>
                  <a:schemeClr val="accent1"/>
                </a:solidFill>
              </a:rPr>
              <a:t>3 classes</a:t>
            </a:r>
            <a:endParaRPr lang="en-US" sz="3200" dirty="0"/>
          </a:p>
        </p:txBody>
      </p:sp>
      <p:sp>
        <p:nvSpPr>
          <p:cNvPr id="17" name="Text 12"/>
          <p:cNvSpPr txBox="1"/>
          <p:nvPr/>
        </p:nvSpPr>
        <p:spPr>
          <a:xfrm>
            <a:off x="6373368" y="4846320"/>
            <a:ext cx="2157984" cy="594360"/>
          </a:xfrm>
          <a:prstGeom prst="rect">
            <a:avLst/>
          </a:prstGeom>
          <a:noFill/>
          <a:ln/>
        </p:spPr>
        <p:txBody>
          <a:bodyPr wrap="square" lIns="0" tIns="0" rIns="0" bIns="0" rtlCol="0" anchor="t"/>
          <a:lstStyle/>
          <a:p>
            <a:pPr indent="0" marL="0">
              <a:buNone/>
            </a:pPr>
            <a:r>
              <a:rPr lang="en-US" sz="1300" dirty="0">
                <a:solidFill>
                  <a:schemeClr val="tx2"/>
                </a:solidFill>
              </a:rPr>
              <a:t>personnes, véhicules, débris au sol</a:t>
            </a:r>
            <a:endParaRPr lang="en-US" sz="1300" dirty="0"/>
          </a:p>
        </p:txBody>
      </p:sp>
      <p:sp>
        <p:nvSpPr>
          <p:cNvPr id="18" name="0 cloud"/>
          <p:cNvSpPr/>
          <p:nvPr/>
        </p:nvSpPr>
        <p:spPr>
          <a:xfrm>
            <a:off x="8942832" y="3977640"/>
            <a:ext cx="2615184" cy="1600200"/>
          </a:xfrm>
          <a:prstGeom prst="roundRect">
            <a:avLst>
              <a:gd name="adj" fmla="val 6857"/>
            </a:avLst>
          </a:prstGeom>
          <a:solidFill>
            <a:schemeClr val="bg2">
              <a:alpha val="90000"/>
            </a:schemeClr>
          </a:solidFill>
          <a:ln w="12700">
            <a:solidFill>
              <a:schemeClr val="accent5"/>
            </a:solidFill>
            <a:prstDash val="solid"/>
          </a:ln>
        </p:spPr>
      </p:sp>
      <p:sp>
        <p:nvSpPr>
          <p:cNvPr id="19" name="Text 14"/>
          <p:cNvSpPr txBox="1"/>
          <p:nvPr/>
        </p:nvSpPr>
        <p:spPr>
          <a:xfrm>
            <a:off x="9171432" y="4160520"/>
            <a:ext cx="2157984" cy="685800"/>
          </a:xfrm>
          <a:prstGeom prst="rect">
            <a:avLst/>
          </a:prstGeom>
          <a:noFill/>
          <a:ln/>
        </p:spPr>
        <p:txBody>
          <a:bodyPr wrap="square" lIns="0" tIns="0" rIns="0" bIns="0" rtlCol="0" anchor="ctr"/>
          <a:lstStyle/>
          <a:p>
            <a:pPr indent="0" marL="0">
              <a:buNone/>
            </a:pPr>
            <a:r>
              <a:rPr lang="en-US" sz="3200" b="1" dirty="0">
                <a:solidFill>
                  <a:schemeClr val="accent3"/>
                </a:solidFill>
              </a:rPr>
              <a:t>0 cloud</a:t>
            </a:r>
            <a:endParaRPr lang="en-US" sz="3200" dirty="0"/>
          </a:p>
        </p:txBody>
      </p:sp>
      <p:sp>
        <p:nvSpPr>
          <p:cNvPr id="20" name="Text 15"/>
          <p:cNvSpPr txBox="1"/>
          <p:nvPr/>
        </p:nvSpPr>
        <p:spPr>
          <a:xfrm>
            <a:off x="9171432" y="4846320"/>
            <a:ext cx="2157984" cy="594360"/>
          </a:xfrm>
          <a:prstGeom prst="rect">
            <a:avLst/>
          </a:prstGeom>
          <a:noFill/>
          <a:ln/>
        </p:spPr>
        <p:txBody>
          <a:bodyPr wrap="square" lIns="0" tIns="0" rIns="0" bIns="0" rtlCol="0" anchor="t"/>
          <a:lstStyle/>
          <a:p>
            <a:pPr indent="0" marL="0">
              <a:buNone/>
            </a:pPr>
            <a:r>
              <a:rPr lang="en-US" sz="1300" dirty="0">
                <a:solidFill>
                  <a:schemeClr val="tx2"/>
                </a:solidFill>
              </a:rPr>
              <a:t>tout à bord ; stockage si liaison coupée</a:t>
            </a:r>
            <a:endParaRPr lang="en-US" sz="1300" dirty="0"/>
          </a:p>
        </p:txBody>
      </p:sp>
      <p:sp>
        <p:nvSpPr>
          <p:cNvPr id="21" name="Text 16"/>
          <p:cNvSpPr txBox="1"/>
          <p:nvPr/>
        </p:nvSpPr>
        <p:spPr>
          <a:xfrm>
            <a:off x="548640" y="5760720"/>
            <a:ext cx="10972800" cy="365760"/>
          </a:xfrm>
          <a:prstGeom prst="rect">
            <a:avLst/>
          </a:prstGeom>
          <a:noFill/>
          <a:ln/>
        </p:spPr>
        <p:txBody>
          <a:bodyPr wrap="square" lIns="0" tIns="0" rIns="0" bIns="0" rtlCol="0" anchor="ctr"/>
          <a:lstStyle/>
          <a:p>
            <a:pPr indent="0" marL="0">
              <a:buNone/>
            </a:pPr>
            <a:r>
              <a:rPr lang="en-US" sz="1400" i="1" dirty="0">
                <a:solidFill>
                  <a:schemeClr val="accent1"/>
                </a:solidFill>
              </a:rPr>
              <a:t>Une alerte = classe, score, heure, zone et image de preuve. Un même objet suivi ne déclenche qu'une alerte.</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Une IA mesurée et honnête</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Roger</a:t>
            </a:r>
            <a:endParaRPr lang="en-US" sz="1400" dirty="0"/>
          </a:p>
          <a:p>
            <a:pPr indent="0" marL="0">
              <a:buNone/>
            </a:pPr>
            <a:r>
              <a:rPr lang="en-US" sz="1000" dirty="0">
                <a:solidFill>
                  <a:schemeClr val="tx2"/>
                </a:solidFill>
              </a:rPr>
              <a:t>IA embarquée</a:t>
            </a:r>
            <a:endParaRPr lang="en-US" sz="1400" dirty="0"/>
          </a:p>
        </p:txBody>
      </p:sp>
      <p:sp>
        <p:nvSpPr>
          <p:cNvPr id="8" name="Données"/>
          <p:cNvSpPr/>
          <p:nvPr/>
        </p:nvSpPr>
        <p:spPr>
          <a:xfrm>
            <a:off x="548640" y="1600200"/>
            <a:ext cx="3520440" cy="3931920"/>
          </a:xfrm>
          <a:prstGeom prst="roundRect">
            <a:avLst>
              <a:gd name="adj" fmla="val 3117"/>
            </a:avLst>
          </a:prstGeom>
          <a:solidFill>
            <a:schemeClr val="bg2">
              <a:alpha val="90000"/>
            </a:schemeClr>
          </a:solidFill>
          <a:ln w="12700">
            <a:solidFill>
              <a:schemeClr val="accent5"/>
            </a:solidFill>
            <a:prstDash val="solid"/>
          </a:ln>
        </p:spPr>
      </p:sp>
      <p:sp>
        <p:nvSpPr>
          <p:cNvPr id="9" name="Shape 5"/>
          <p:cNvSpPr/>
          <p:nvPr/>
        </p:nvSpPr>
        <p:spPr>
          <a:xfrm>
            <a:off x="868680" y="192024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1044245" y="2095805"/>
            <a:ext cx="380390" cy="380390"/>
          </a:xfrm>
          <a:prstGeom prst="rect">
            <a:avLst/>
          </a:prstGeom>
        </p:spPr>
      </p:pic>
      <p:sp>
        <p:nvSpPr>
          <p:cNvPr id="11" name="Text 6"/>
          <p:cNvSpPr txBox="1"/>
          <p:nvPr/>
        </p:nvSpPr>
        <p:spPr>
          <a:xfrm>
            <a:off x="1783080" y="2057400"/>
            <a:ext cx="2057400" cy="457200"/>
          </a:xfrm>
          <a:prstGeom prst="rect">
            <a:avLst/>
          </a:prstGeom>
          <a:noFill/>
          <a:ln/>
        </p:spPr>
        <p:txBody>
          <a:bodyPr wrap="square" lIns="0" tIns="0" rIns="0" bIns="0" rtlCol="0" anchor="ctr"/>
          <a:lstStyle/>
          <a:p>
            <a:pPr indent="0" marL="0">
              <a:buNone/>
            </a:pPr>
            <a:r>
              <a:rPr lang="en-US" sz="2000" b="1" dirty="0">
                <a:solidFill>
                  <a:schemeClr val="tx1"/>
                </a:solidFill>
              </a:rPr>
              <a:t>Données</a:t>
            </a:r>
            <a:endParaRPr lang="en-US" sz="2000" dirty="0"/>
          </a:p>
        </p:txBody>
      </p:sp>
      <p:sp>
        <p:nvSpPr>
          <p:cNvPr id="12" name="Text 7"/>
          <p:cNvSpPr txBox="1"/>
          <p:nvPr/>
        </p:nvSpPr>
        <p:spPr>
          <a:xfrm>
            <a:off x="868680" y="2926080"/>
            <a:ext cx="29718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FOD-A : plus de 30 000 objets de piste annotés</a:t>
            </a:r>
            <a:endParaRPr lang="en-US" sz="1500" dirty="0"/>
          </a:p>
          <a:p>
            <a:pPr marL="342900" indent="-342900">
              <a:spcAft>
                <a:spcPts val="800"/>
              </a:spcAft>
              <a:buSzPct val="100000"/>
              <a:buChar char="•"/>
            </a:pPr>
            <a:r>
              <a:rPr lang="en-US" sz="1500" dirty="0">
                <a:solidFill>
                  <a:schemeClr val="tx2"/>
                </a:solidFill>
              </a:rPr>
              <a:t>Images filmées avec la caméra du drone</a:t>
            </a:r>
            <a:endParaRPr lang="en-US" sz="1500" dirty="0"/>
          </a:p>
          <a:p>
            <a:pPr marL="342900" indent="-342900">
              <a:spcAft>
                <a:spcPts val="800"/>
              </a:spcAft>
              <a:buSzPct val="100000"/>
              <a:buChar char="•"/>
            </a:pPr>
            <a:r>
              <a:rPr lang="en-US" sz="1500" dirty="0">
                <a:solidFill>
                  <a:schemeClr val="tx2"/>
                </a:solidFill>
              </a:rPr>
              <a:t>Scènes vides et pièges (ombres, marquages) contre les fausses alertes</a:t>
            </a:r>
            <a:endParaRPr lang="en-US" sz="1500" dirty="0"/>
          </a:p>
        </p:txBody>
      </p:sp>
      <p:sp>
        <p:nvSpPr>
          <p:cNvPr id="13" name="Objets inconnus"/>
          <p:cNvSpPr/>
          <p:nvPr/>
        </p:nvSpPr>
        <p:spPr>
          <a:xfrm>
            <a:off x="4343400" y="1600200"/>
            <a:ext cx="3520440" cy="3931920"/>
          </a:xfrm>
          <a:prstGeom prst="roundRect">
            <a:avLst>
              <a:gd name="adj" fmla="val 3117"/>
            </a:avLst>
          </a:prstGeom>
          <a:solidFill>
            <a:schemeClr val="bg2">
              <a:alpha val="90000"/>
            </a:schemeClr>
          </a:solidFill>
          <a:ln w="12700">
            <a:solidFill>
              <a:schemeClr val="accent5"/>
            </a:solidFill>
            <a:prstDash val="solid"/>
          </a:ln>
        </p:spPr>
      </p:sp>
      <p:sp>
        <p:nvSpPr>
          <p:cNvPr id="14" name="Shape 9"/>
          <p:cNvSpPr/>
          <p:nvPr/>
        </p:nvSpPr>
        <p:spPr>
          <a:xfrm>
            <a:off x="4663440" y="1920240"/>
            <a:ext cx="731520" cy="73152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4839005" y="2095805"/>
            <a:ext cx="380390" cy="380390"/>
          </a:xfrm>
          <a:prstGeom prst="rect">
            <a:avLst/>
          </a:prstGeom>
        </p:spPr>
      </p:pic>
      <p:sp>
        <p:nvSpPr>
          <p:cNvPr id="16" name="Text 10"/>
          <p:cNvSpPr txBox="1"/>
          <p:nvPr/>
        </p:nvSpPr>
        <p:spPr>
          <a:xfrm>
            <a:off x="5577840" y="2057400"/>
            <a:ext cx="2057400" cy="457200"/>
          </a:xfrm>
          <a:prstGeom prst="rect">
            <a:avLst/>
          </a:prstGeom>
          <a:noFill/>
          <a:ln/>
        </p:spPr>
        <p:txBody>
          <a:bodyPr wrap="square" lIns="0" tIns="0" rIns="0" bIns="0" rtlCol="0" anchor="ctr"/>
          <a:lstStyle/>
          <a:p>
            <a:pPr indent="0" marL="0">
              <a:buNone/>
            </a:pPr>
            <a:r>
              <a:rPr lang="en-US" sz="2000" b="1" dirty="0">
                <a:solidFill>
                  <a:schemeClr val="tx1"/>
                </a:solidFill>
              </a:rPr>
              <a:t>Objets inconnus</a:t>
            </a:r>
            <a:endParaRPr lang="en-US" sz="2000" dirty="0"/>
          </a:p>
        </p:txBody>
      </p:sp>
      <p:sp>
        <p:nvSpPr>
          <p:cNvPr id="17" name="Text 11"/>
          <p:cNvSpPr txBox="1"/>
          <p:nvPr/>
        </p:nvSpPr>
        <p:spPr>
          <a:xfrm>
            <a:off x="4663440" y="2926080"/>
            <a:ext cx="29718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Candidat crédible sans classe fiable → « à vérifier »</a:t>
            </a:r>
            <a:endParaRPr lang="en-US" sz="1500" dirty="0"/>
          </a:p>
          <a:p>
            <a:pPr marL="342900" indent="-342900">
              <a:spcAft>
                <a:spcPts val="800"/>
              </a:spcAft>
              <a:buSzPct val="100000"/>
              <a:buChar char="•"/>
            </a:pPr>
            <a:r>
              <a:rPr lang="en-US" sz="1500" dirty="0">
                <a:solidFill>
                  <a:schemeClr val="tx2"/>
                </a:solidFill>
              </a:rPr>
              <a:t>Image de preuve jointe</a:t>
            </a:r>
            <a:endParaRPr lang="en-US" sz="1500" dirty="0"/>
          </a:p>
          <a:p>
            <a:pPr marL="342900" indent="-342900">
              <a:spcAft>
                <a:spcPts val="800"/>
              </a:spcAft>
              <a:buSzPct val="100000"/>
              <a:buChar char="•"/>
            </a:pPr>
            <a:r>
              <a:rPr lang="en-US" sz="1500" dirty="0">
                <a:solidFill>
                  <a:schemeClr val="tx2"/>
                </a:solidFill>
              </a:rPr>
              <a:t>Pas de prétention à tout reconnaître</a:t>
            </a:r>
            <a:endParaRPr lang="en-US" sz="1500" dirty="0"/>
          </a:p>
        </p:txBody>
      </p:sp>
      <p:sp>
        <p:nvSpPr>
          <p:cNvPr id="18" name="Limites assumées"/>
          <p:cNvSpPr/>
          <p:nvPr/>
        </p:nvSpPr>
        <p:spPr>
          <a:xfrm>
            <a:off x="8138160" y="1600200"/>
            <a:ext cx="3520440" cy="3931920"/>
          </a:xfrm>
          <a:prstGeom prst="roundRect">
            <a:avLst>
              <a:gd name="adj" fmla="val 3117"/>
            </a:avLst>
          </a:prstGeom>
          <a:solidFill>
            <a:schemeClr val="bg2">
              <a:alpha val="90000"/>
            </a:schemeClr>
          </a:solidFill>
          <a:ln w="12700">
            <a:solidFill>
              <a:schemeClr val="accent5"/>
            </a:solidFill>
            <a:prstDash val="solid"/>
          </a:ln>
        </p:spPr>
      </p:sp>
      <p:sp>
        <p:nvSpPr>
          <p:cNvPr id="19" name="Shape 13"/>
          <p:cNvSpPr/>
          <p:nvPr/>
        </p:nvSpPr>
        <p:spPr>
          <a:xfrm>
            <a:off x="8458200" y="1920240"/>
            <a:ext cx="731520" cy="731520"/>
          </a:xfrm>
          <a:prstGeom prst="ellipse">
            <a:avLst/>
          </a:prstGeom>
          <a:solidFill>
            <a:schemeClr val="accent4"/>
          </a:solidFill>
          <a:ln/>
        </p:spPr>
      </p:sp>
      <p:pic>
        <p:nvPicPr>
          <p:cNvPr id="20" name="Image 3" descr="preencoded.png">    </p:cNvPr>
          <p:cNvPicPr>
            <a:picLocks noChangeAspect="1"/>
          </p:cNvPicPr>
          <p:nvPr/>
        </p:nvPicPr>
        <p:blipFill>
          <a:blip r:embed="rId4"/>
          <a:stretch>
            <a:fillRect/>
          </a:stretch>
        </p:blipFill>
        <p:spPr>
          <a:xfrm>
            <a:off x="8633765" y="2095805"/>
            <a:ext cx="380390" cy="380390"/>
          </a:xfrm>
          <a:prstGeom prst="rect">
            <a:avLst/>
          </a:prstGeom>
        </p:spPr>
      </p:pic>
      <p:sp>
        <p:nvSpPr>
          <p:cNvPr id="21" name="Text 14"/>
          <p:cNvSpPr txBox="1"/>
          <p:nvPr/>
        </p:nvSpPr>
        <p:spPr>
          <a:xfrm>
            <a:off x="9372600" y="2057400"/>
            <a:ext cx="2057400" cy="457200"/>
          </a:xfrm>
          <a:prstGeom prst="rect">
            <a:avLst/>
          </a:prstGeom>
          <a:noFill/>
          <a:ln/>
        </p:spPr>
        <p:txBody>
          <a:bodyPr wrap="square" lIns="0" tIns="0" rIns="0" bIns="0" rtlCol="0" anchor="ctr"/>
          <a:lstStyle/>
          <a:p>
            <a:pPr indent="0" marL="0">
              <a:buNone/>
            </a:pPr>
            <a:r>
              <a:rPr lang="en-US" sz="2000" b="1" dirty="0">
                <a:solidFill>
                  <a:schemeClr val="tx1"/>
                </a:solidFill>
              </a:rPr>
              <a:t>Limites assumées</a:t>
            </a:r>
            <a:endParaRPr lang="en-US" sz="2000" dirty="0"/>
          </a:p>
        </p:txBody>
      </p:sp>
      <p:sp>
        <p:nvSpPr>
          <p:cNvPr id="22" name="Text 15"/>
          <p:cNvSpPr txBox="1"/>
          <p:nvPr/>
        </p:nvSpPr>
        <p:spPr>
          <a:xfrm>
            <a:off x="8458200" y="2926080"/>
            <a:ext cx="29718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Aide à l'inspection, pas une certification</a:t>
            </a:r>
            <a:endParaRPr lang="en-US" sz="1500" dirty="0"/>
          </a:p>
          <a:p>
            <a:pPr marL="342900" indent="-342900">
              <a:spcAft>
                <a:spcPts val="800"/>
              </a:spcAft>
              <a:buSzPct val="100000"/>
              <a:buChar char="•"/>
            </a:pPr>
            <a:r>
              <a:rPr lang="en-US" sz="1500" dirty="0">
                <a:solidFill>
                  <a:schemeClr val="tx2"/>
                </a:solidFill>
              </a:rPr>
              <a:t>L'IA ne pilote jamais le drone</a:t>
            </a:r>
            <a:endParaRPr lang="en-US" sz="1500" dirty="0"/>
          </a:p>
          <a:p>
            <a:pPr marL="342900" indent="-342900">
              <a:spcAft>
                <a:spcPts val="800"/>
              </a:spcAft>
              <a:buSzPct val="100000"/>
              <a:buChar char="•"/>
            </a:pPr>
            <a:r>
              <a:rPr lang="en-US" sz="1500" dirty="0">
                <a:solidFill>
                  <a:schemeClr val="tx2"/>
                </a:solidFill>
              </a:rPr>
              <a:t>Aucun score annoncé avant mesure</a:t>
            </a:r>
            <a:endParaRPr lang="en-US" sz="1500" dirty="0"/>
          </a:p>
        </p:txBody>
      </p:sp>
      <p:sp>
        <p:nvSpPr>
          <p:cNvPr id="23" name="Text 16"/>
          <p:cNvSpPr txBox="1"/>
          <p:nvPr/>
        </p:nvSpPr>
        <p:spPr>
          <a:xfrm>
            <a:off x="548640" y="5760720"/>
            <a:ext cx="10972800" cy="365760"/>
          </a:xfrm>
          <a:prstGeom prst="rect">
            <a:avLst/>
          </a:prstGeom>
          <a:noFill/>
          <a:ln/>
        </p:spPr>
        <p:txBody>
          <a:bodyPr wrap="square" lIns="0" tIns="0" rIns="0" bIns="0" rtlCol="0" anchor="ctr"/>
          <a:lstStyle/>
          <a:p>
            <a:pPr indent="0" marL="0">
              <a:buNone/>
            </a:pPr>
            <a:r>
              <a:rPr lang="en-US" sz="1400" i="1" dirty="0">
                <a:solidFill>
                  <a:schemeClr val="accent1"/>
                </a:solidFill>
              </a:rPr>
              <a:t>Code, outils, données d'exemple et protocole de validation : disponibles dans notre dépôt.</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Rien ne se perd : supervision et dossier</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Cédric</a:t>
            </a:r>
            <a:endParaRPr lang="en-US" sz="1400" dirty="0"/>
          </a:p>
          <a:p>
            <a:pPr indent="0" marL="0">
              <a:buNone/>
            </a:pPr>
            <a:r>
              <a:rPr lang="en-US" sz="1000" dirty="0">
                <a:solidFill>
                  <a:schemeClr val="tx2"/>
                </a:solidFill>
              </a:rPr>
              <a:t>Back-end et documentation</a:t>
            </a:r>
            <a:endParaRPr lang="en-US" sz="1400" dirty="0"/>
          </a:p>
        </p:txBody>
      </p:sp>
      <p:sp>
        <p:nvSpPr>
          <p:cNvPr id="8" name="Drone"/>
          <p:cNvSpPr/>
          <p:nvPr/>
        </p:nvSpPr>
        <p:spPr>
          <a:xfrm>
            <a:off x="548640" y="1600200"/>
            <a:ext cx="3145536" cy="1371600"/>
          </a:xfrm>
          <a:prstGeom prst="roundRect">
            <a:avLst>
              <a:gd name="adj" fmla="val 8000"/>
            </a:avLst>
          </a:prstGeom>
          <a:solidFill>
            <a:schemeClr val="bg2">
              <a:alpha val="90000"/>
            </a:schemeClr>
          </a:solidFill>
          <a:ln w="12700">
            <a:solidFill>
              <a:schemeClr val="accent5"/>
            </a:solidFill>
            <a:prstDash val="solid"/>
          </a:ln>
        </p:spPr>
      </p:sp>
      <p:sp>
        <p:nvSpPr>
          <p:cNvPr id="9" name="Shape 5"/>
          <p:cNvSpPr/>
          <p:nvPr/>
        </p:nvSpPr>
        <p:spPr>
          <a:xfrm>
            <a:off x="777240" y="1965960"/>
            <a:ext cx="640080" cy="6400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930859" y="2119579"/>
            <a:ext cx="332842" cy="332842"/>
          </a:xfrm>
          <a:prstGeom prst="rect">
            <a:avLst/>
          </a:prstGeom>
        </p:spPr>
      </p:pic>
      <p:sp>
        <p:nvSpPr>
          <p:cNvPr id="11" name="Text 6"/>
          <p:cNvSpPr txBox="1"/>
          <p:nvPr/>
        </p:nvSpPr>
        <p:spPr>
          <a:xfrm>
            <a:off x="1554480" y="1783080"/>
            <a:ext cx="2048256" cy="1005840"/>
          </a:xfrm>
          <a:prstGeom prst="rect">
            <a:avLst/>
          </a:prstGeom>
          <a:noFill/>
          <a:ln/>
        </p:spPr>
        <p:txBody>
          <a:bodyPr wrap="square" lIns="0" tIns="0" rIns="0" bIns="0" rtlCol="0" anchor="ctr"/>
          <a:lstStyle/>
          <a:p>
            <a:pPr indent="0" marL="0">
              <a:buNone/>
            </a:pPr>
            <a:r>
              <a:rPr lang="en-US" sz="1700" b="1" dirty="0">
                <a:solidFill>
                  <a:schemeClr val="tx1"/>
                </a:solidFill>
              </a:rPr>
              <a:t>Drone</a:t>
            </a:r>
            <a:endParaRPr lang="en-US" sz="1700" dirty="0"/>
          </a:p>
          <a:p>
            <a:pPr indent="0" marL="0">
              <a:buNone/>
            </a:pPr>
            <a:r>
              <a:rPr lang="en-US" sz="1300" dirty="0">
                <a:solidFill>
                  <a:schemeClr val="tx2"/>
                </a:solidFill>
              </a:rPr>
              <a:t>Journal à bord</a:t>
            </a:r>
            <a:endParaRPr lang="en-US" sz="1700" dirty="0"/>
          </a:p>
        </p:txBody>
      </p:sp>
      <p:sp>
        <p:nvSpPr>
          <p:cNvPr id="12" name="Shape 7"/>
          <p:cNvSpPr/>
          <p:nvPr/>
        </p:nvSpPr>
        <p:spPr>
          <a:xfrm>
            <a:off x="3831336" y="2103120"/>
            <a:ext cx="548640" cy="365760"/>
          </a:xfrm>
          <a:prstGeom prst="rightArrow">
            <a:avLst/>
          </a:prstGeom>
          <a:solidFill>
            <a:schemeClr val="accent1"/>
          </a:solidFill>
          <a:ln/>
        </p:spPr>
      </p:sp>
      <p:sp>
        <p:nvSpPr>
          <p:cNvPr id="13" name="Station sol"/>
          <p:cNvSpPr/>
          <p:nvPr/>
        </p:nvSpPr>
        <p:spPr>
          <a:xfrm>
            <a:off x="4517136" y="1600200"/>
            <a:ext cx="3145536" cy="1371600"/>
          </a:xfrm>
          <a:prstGeom prst="roundRect">
            <a:avLst>
              <a:gd name="adj" fmla="val 8000"/>
            </a:avLst>
          </a:prstGeom>
          <a:solidFill>
            <a:schemeClr val="bg2">
              <a:alpha val="90000"/>
            </a:schemeClr>
          </a:solidFill>
          <a:ln w="12700">
            <a:solidFill>
              <a:schemeClr val="accent5"/>
            </a:solidFill>
            <a:prstDash val="solid"/>
          </a:ln>
        </p:spPr>
      </p:sp>
      <p:sp>
        <p:nvSpPr>
          <p:cNvPr id="14" name="Shape 9"/>
          <p:cNvSpPr/>
          <p:nvPr/>
        </p:nvSpPr>
        <p:spPr>
          <a:xfrm>
            <a:off x="4745736" y="1965960"/>
            <a:ext cx="640080" cy="64008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899355" y="2119579"/>
            <a:ext cx="332842" cy="332842"/>
          </a:xfrm>
          <a:prstGeom prst="rect">
            <a:avLst/>
          </a:prstGeom>
        </p:spPr>
      </p:pic>
      <p:sp>
        <p:nvSpPr>
          <p:cNvPr id="16" name="Text 10"/>
          <p:cNvSpPr txBox="1"/>
          <p:nvPr/>
        </p:nvSpPr>
        <p:spPr>
          <a:xfrm>
            <a:off x="5522976" y="1783080"/>
            <a:ext cx="2048256" cy="1005840"/>
          </a:xfrm>
          <a:prstGeom prst="rect">
            <a:avLst/>
          </a:prstGeom>
          <a:noFill/>
          <a:ln/>
        </p:spPr>
        <p:txBody>
          <a:bodyPr wrap="square" lIns="0" tIns="0" rIns="0" bIns="0" rtlCol="0" anchor="ctr"/>
          <a:lstStyle/>
          <a:p>
            <a:pPr indent="0" marL="0">
              <a:buNone/>
            </a:pPr>
            <a:r>
              <a:rPr lang="en-US" sz="1700" b="1" dirty="0">
                <a:solidFill>
                  <a:schemeClr val="tx1"/>
                </a:solidFill>
              </a:rPr>
              <a:t>Station sol</a:t>
            </a:r>
            <a:endParaRPr lang="en-US" sz="1700" dirty="0"/>
          </a:p>
          <a:p>
            <a:pPr indent="0" marL="0">
              <a:buNone/>
            </a:pPr>
            <a:r>
              <a:rPr lang="en-US" sz="1300" dirty="0">
                <a:solidFill>
                  <a:schemeClr val="tx2"/>
                </a:solidFill>
              </a:rPr>
              <a:t>Affichage des alertes</a:t>
            </a:r>
            <a:endParaRPr lang="en-US" sz="1700" dirty="0"/>
          </a:p>
        </p:txBody>
      </p:sp>
      <p:sp>
        <p:nvSpPr>
          <p:cNvPr id="17" name="Shape 11"/>
          <p:cNvSpPr/>
          <p:nvPr/>
        </p:nvSpPr>
        <p:spPr>
          <a:xfrm>
            <a:off x="7799832" y="2103120"/>
            <a:ext cx="548640" cy="365760"/>
          </a:xfrm>
          <a:prstGeom prst="rightArrow">
            <a:avLst/>
          </a:prstGeom>
          <a:solidFill>
            <a:schemeClr val="accent1"/>
          </a:solidFill>
          <a:ln/>
        </p:spPr>
      </p:sp>
      <p:sp>
        <p:nvSpPr>
          <p:cNvPr id="18" name="Back-end"/>
          <p:cNvSpPr/>
          <p:nvPr/>
        </p:nvSpPr>
        <p:spPr>
          <a:xfrm>
            <a:off x="8485632" y="1600200"/>
            <a:ext cx="3145536" cy="1371600"/>
          </a:xfrm>
          <a:prstGeom prst="roundRect">
            <a:avLst>
              <a:gd name="adj" fmla="val 8000"/>
            </a:avLst>
          </a:prstGeom>
          <a:solidFill>
            <a:schemeClr val="bg2">
              <a:alpha val="90000"/>
            </a:schemeClr>
          </a:solidFill>
          <a:ln w="12700">
            <a:solidFill>
              <a:schemeClr val="accent5"/>
            </a:solidFill>
            <a:prstDash val="solid"/>
          </a:ln>
        </p:spPr>
      </p:sp>
      <p:sp>
        <p:nvSpPr>
          <p:cNvPr id="19" name="Shape 13"/>
          <p:cNvSpPr/>
          <p:nvPr/>
        </p:nvSpPr>
        <p:spPr>
          <a:xfrm>
            <a:off x="8714232" y="1965960"/>
            <a:ext cx="640080" cy="64008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8867851" y="2119579"/>
            <a:ext cx="332842" cy="332842"/>
          </a:xfrm>
          <a:prstGeom prst="rect">
            <a:avLst/>
          </a:prstGeom>
        </p:spPr>
      </p:pic>
      <p:sp>
        <p:nvSpPr>
          <p:cNvPr id="21" name="Text 14"/>
          <p:cNvSpPr txBox="1"/>
          <p:nvPr/>
        </p:nvSpPr>
        <p:spPr>
          <a:xfrm>
            <a:off x="9491472" y="1783080"/>
            <a:ext cx="2048256" cy="1005840"/>
          </a:xfrm>
          <a:prstGeom prst="rect">
            <a:avLst/>
          </a:prstGeom>
          <a:noFill/>
          <a:ln/>
        </p:spPr>
        <p:txBody>
          <a:bodyPr wrap="square" lIns="0" tIns="0" rIns="0" bIns="0" rtlCol="0" anchor="ctr"/>
          <a:lstStyle/>
          <a:p>
            <a:pPr indent="0" marL="0">
              <a:buNone/>
            </a:pPr>
            <a:r>
              <a:rPr lang="en-US" sz="1700" b="1" dirty="0">
                <a:solidFill>
                  <a:schemeClr val="tx1"/>
                </a:solidFill>
              </a:rPr>
              <a:t>Back-end</a:t>
            </a:r>
            <a:endParaRPr lang="en-US" sz="1700" dirty="0"/>
          </a:p>
          <a:p>
            <a:pPr indent="0" marL="0">
              <a:buNone/>
            </a:pPr>
            <a:r>
              <a:rPr lang="en-US" sz="1300" dirty="0">
                <a:solidFill>
                  <a:schemeClr val="tx2"/>
                </a:solidFill>
              </a:rPr>
              <a:t>Archivage + journaux signés</a:t>
            </a:r>
            <a:endParaRPr lang="en-US" sz="1700" dirty="0"/>
          </a:p>
        </p:txBody>
      </p:sp>
      <p:sp>
        <p:nvSpPr>
          <p:cNvPr id="22" name="Text 15"/>
          <p:cNvSpPr txBox="1"/>
          <p:nvPr/>
        </p:nvSpPr>
        <p:spPr>
          <a:xfrm>
            <a:off x="548640" y="3154680"/>
            <a:ext cx="9601200" cy="365760"/>
          </a:xfrm>
          <a:prstGeom prst="rect">
            <a:avLst/>
          </a:prstGeom>
          <a:noFill/>
          <a:ln/>
        </p:spPr>
        <p:txBody>
          <a:bodyPr wrap="square" lIns="0" tIns="0" rIns="0" bIns="0" rtlCol="0" anchor="ctr"/>
          <a:lstStyle/>
          <a:p>
            <a:pPr indent="0" marL="0">
              <a:buNone/>
            </a:pPr>
            <a:r>
              <a:rPr lang="en-US" sz="1500" i="1" dirty="0">
                <a:solidFill>
                  <a:schemeClr val="accent1"/>
                </a:solidFill>
              </a:rPr>
              <a:t>Format d'alerte commun (schéma JSON) : classe, score, heure, zone, image.</a:t>
            </a:r>
            <a:endParaRPr lang="en-US" sz="1500" dirty="0"/>
          </a:p>
        </p:txBody>
      </p:sp>
      <p:sp>
        <p:nvSpPr>
          <p:cNvPr id="23" name="Text 16"/>
          <p:cNvSpPr txBox="1"/>
          <p:nvPr/>
        </p:nvSpPr>
        <p:spPr>
          <a:xfrm>
            <a:off x="548640" y="3749040"/>
            <a:ext cx="5486400" cy="411480"/>
          </a:xfrm>
          <a:prstGeom prst="rect">
            <a:avLst/>
          </a:prstGeom>
          <a:noFill/>
          <a:ln/>
        </p:spPr>
        <p:txBody>
          <a:bodyPr wrap="square" lIns="0" tIns="0" rIns="0" bIns="0" rtlCol="0" anchor="ctr"/>
          <a:lstStyle/>
          <a:p>
            <a:pPr indent="0" marL="0">
              <a:buNone/>
            </a:pPr>
            <a:r>
              <a:rPr lang="en-US" sz="1800" b="1" dirty="0">
                <a:solidFill>
                  <a:schemeClr val="tx1"/>
                </a:solidFill>
              </a:rPr>
              <a:t>Dossier déjà livré</a:t>
            </a:r>
            <a:endParaRPr lang="en-US" sz="1800" dirty="0"/>
          </a:p>
        </p:txBody>
      </p:sp>
      <p:sp>
        <p:nvSpPr>
          <p:cNvPr id="24" name="Text 17"/>
          <p:cNvSpPr txBox="1"/>
          <p:nvPr/>
        </p:nvSpPr>
        <p:spPr>
          <a:xfrm>
            <a:off x="548640" y="4251960"/>
            <a:ext cx="53949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Fiche technique complète (chaque composant expliqué)</a:t>
            </a:r>
            <a:endParaRPr lang="en-US" sz="1500" dirty="0"/>
          </a:p>
          <a:p>
            <a:pPr marL="342900" indent="-342900">
              <a:spcAft>
                <a:spcPts val="600"/>
              </a:spcAft>
              <a:buSzPct val="100000"/>
              <a:buChar char="•"/>
            </a:pPr>
            <a:r>
              <a:rPr lang="en-US" sz="1500" dirty="0">
                <a:solidFill>
                  <a:schemeClr val="tx2"/>
                </a:solidFill>
              </a:rPr>
              <a:t>Guide de conception et d'assemblage</a:t>
            </a:r>
            <a:endParaRPr lang="en-US" sz="1500" dirty="0"/>
          </a:p>
          <a:p>
            <a:pPr marL="342900" indent="-342900">
              <a:spcAft>
                <a:spcPts val="600"/>
              </a:spcAft>
              <a:buSzPct val="100000"/>
              <a:buChar char="•"/>
            </a:pPr>
            <a:r>
              <a:rPr lang="en-US" sz="1500" dirty="0">
                <a:solidFill>
                  <a:schemeClr val="tx2"/>
                </a:solidFill>
              </a:rPr>
              <a:t>Calculs de dimensionnement</a:t>
            </a:r>
            <a:endParaRPr lang="en-US" sz="1500" dirty="0"/>
          </a:p>
        </p:txBody>
      </p:sp>
      <p:sp>
        <p:nvSpPr>
          <p:cNvPr id="25" name="Text 18"/>
          <p:cNvSpPr txBox="1"/>
          <p:nvPr/>
        </p:nvSpPr>
        <p:spPr>
          <a:xfrm>
            <a:off x="6126480" y="4251960"/>
            <a:ext cx="53949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Paramètres ArduPilot du SA-1</a:t>
            </a:r>
            <a:endParaRPr lang="en-US" sz="1500" dirty="0"/>
          </a:p>
          <a:p>
            <a:pPr marL="342900" indent="-342900">
              <a:spcAft>
                <a:spcPts val="600"/>
              </a:spcAft>
              <a:buSzPct val="100000"/>
              <a:buChar char="•"/>
            </a:pPr>
            <a:r>
              <a:rPr lang="en-US" sz="1500" dirty="0">
                <a:solidFill>
                  <a:schemeClr val="tx2"/>
                </a:solidFill>
              </a:rPr>
              <a:t>Check-lists avant vol, après vol, urgences</a:t>
            </a:r>
            <a:endParaRPr lang="en-US" sz="1500" dirty="0"/>
          </a:p>
          <a:p>
            <a:pPr marL="342900" indent="-342900">
              <a:spcAft>
                <a:spcPts val="600"/>
              </a:spcAft>
              <a:buSzPct val="100000"/>
              <a:buChar char="•"/>
            </a:pPr>
            <a:r>
              <a:rPr lang="en-US" sz="1500" dirty="0">
                <a:solidFill>
                  <a:schemeClr val="tx2"/>
                </a:solidFill>
              </a:rPr>
              <a:t>Vidéos explicatives et code du module IA</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Conformité aux exigences du concours</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Cédric</a:t>
            </a:r>
            <a:endParaRPr lang="en-US" sz="1400" dirty="0"/>
          </a:p>
          <a:p>
            <a:pPr indent="0" marL="0">
              <a:buNone/>
            </a:pPr>
            <a:r>
              <a:rPr lang="en-US" sz="1000" dirty="0">
                <a:solidFill>
                  <a:schemeClr val="tx2"/>
                </a:solidFill>
              </a:rPr>
              <a:t>Back-end et documentation</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754880"/>
                <a:gridCol w="5577840"/>
                <a:gridCol w="761695"/>
              </a:tblGrid>
              <a:tr h="658368">
                <a:tc>
                  <a:txBody>
                    <a:bodyPr/>
                    <a:lstStyle/>
                    <a:p>
                      <a:pPr indent="0" marL="0">
                        <a:buNone/>
                      </a:pPr>
                      <a:r>
                        <a:rPr lang="en-US" sz="1500" b="1" dirty="0">
                          <a:solidFill>
                            <a:schemeClr val="bg1"/>
                          </a:solidFill>
                        </a:rPr>
                        <a:t>Exigence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Notre solution</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accent1"/>
                    </a:solidFill>
                  </a:tcPr>
                </a:tc>
                <a:tc>
                  <a:txBody>
                    <a:bodyPr/>
                    <a:lstStyle/>
                    <a:p>
                      <a:pPr indent="0" marL="0">
                        <a:buNone/>
                      </a:pP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accent1"/>
                    </a:solidFill>
                  </a:tcPr>
                </a:tc>
              </a:tr>
              <a:tr h="658368">
                <a:tc>
                  <a:txBody>
                    <a:bodyPr/>
                    <a:lstStyle/>
                    <a:p>
                      <a:pPr indent="0" marL="0">
                        <a:buNone/>
                      </a:pPr>
                      <a:r>
                        <a:rPr lang="en-US" sz="1500" b="1" dirty="0">
                          <a:solidFill>
                            <a:schemeClr val="tx1"/>
                          </a:solidFill>
                        </a:rPr>
                        <a:t>Navigation GPS + retour au point de départ (RTH)</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GNSS couplé au contrôleur de vol, RTH automatique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658368">
                <a:tc>
                  <a:txBody>
                    <a:bodyPr/>
                    <a:lstStyle/>
                    <a:p>
                      <a:pPr indent="0" marL="0">
                        <a:buNone/>
                      </a:pPr>
                      <a:r>
                        <a:rPr lang="en-US" sz="1500" b="1" dirty="0">
                          <a:solidFill>
                            <a:schemeClr val="tx1"/>
                          </a:solidFill>
                        </a:rPr>
                        <a:t>Coupure d'urgence (fail-safe)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Interrupteur de coupure moteurs + descente sécurisée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658368">
                <a:tc>
                  <a:txBody>
                    <a:bodyPr/>
                    <a:lstStyle/>
                    <a:p>
                      <a:pPr indent="0" marL="0">
                        <a:buNone/>
                      </a:pPr>
                      <a:r>
                        <a:rPr lang="en-US" sz="1500" b="1" dirty="0">
                          <a:solidFill>
                            <a:schemeClr val="tx1"/>
                          </a:solidFill>
                        </a:rPr>
                        <a:t>Lien sécurisé drone / station</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Liaison chiffrée et authentifiée, messages signés</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658368">
                <a:tc>
                  <a:txBody>
                    <a:bodyPr/>
                    <a:lstStyle/>
                    <a:p>
                      <a:pPr indent="0" marL="0">
                        <a:buNone/>
                      </a:pPr>
                      <a:r>
                        <a:rPr lang="en-US" sz="1500" b="1" dirty="0">
                          <a:solidFill>
                            <a:schemeClr val="tx1"/>
                          </a:solidFill>
                        </a:rPr>
                        <a:t>Autonomie minimale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30 – 45 min visées (≈ 50 min calculées)</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658368">
                <a:tc>
                  <a:txBody>
                    <a:bodyPr/>
                    <a:lstStyle/>
                    <a:p>
                      <a:pPr indent="0" marL="0">
                        <a:buNone/>
                      </a:pPr>
                      <a:r>
                        <a:rPr lang="en-US" sz="1500" b="1" dirty="0">
                          <a:solidFill>
                            <a:schemeClr val="tx1"/>
                          </a:solidFill>
                        </a:rPr>
                        <a:t>Charge utile adaptée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Caméra jour/nuit stabilisée + module IA</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658368">
                <a:tc>
                  <a:txBody>
                    <a:bodyPr/>
                    <a:lstStyle/>
                    <a:p>
                      <a:pPr indent="0" marL="0">
                        <a:buNone/>
                      </a:pPr>
                      <a:r>
                        <a:rPr lang="en-US" sz="1500" b="1" dirty="0">
                          <a:solidFill>
                            <a:schemeClr val="tx1"/>
                          </a:solidFill>
                        </a:rPr>
                        <a:t>Documentation technique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Schémas, dimensionnement, performances, sécurité</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ctr" indent="0" marL="0">
                        <a:buNone/>
                      </a:pPr>
                      <a:r>
                        <a:rPr lang="en-US" sz="2000" b="1" dirty="0">
                          <a:solidFill>
                            <a:schemeClr val="accent3"/>
                          </a:solidFill>
                        </a:rPr>
                        <a:t>✓</a:t>
                      </a:r>
                      <a:endParaRPr lang="en-US" sz="20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Calendrier</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Cédric</a:t>
            </a:r>
            <a:endParaRPr lang="en-US" sz="1400" dirty="0"/>
          </a:p>
          <a:p>
            <a:pPr indent="0" marL="0">
              <a:buNone/>
            </a:pPr>
            <a:r>
              <a:rPr lang="en-US" sz="1000" dirty="0">
                <a:solidFill>
                  <a:schemeClr val="tx2"/>
                </a:solidFill>
              </a:rPr>
              <a:t>Back-end et documentation</a:t>
            </a:r>
            <a:endParaRPr lang="en-US" sz="1400" dirty="0"/>
          </a:p>
        </p:txBody>
      </p:sp>
      <p:sp>
        <p:nvSpPr>
          <p:cNvPr id="8" name="Shape 4"/>
          <p:cNvSpPr/>
          <p:nvPr/>
        </p:nvSpPr>
        <p:spPr>
          <a:xfrm>
            <a:off x="1600200" y="3108960"/>
            <a:ext cx="8961120" cy="0"/>
          </a:xfrm>
          <a:prstGeom prst="line">
            <a:avLst/>
          </a:prstGeom>
          <a:noFill/>
          <a:ln w="38100">
            <a:solidFill>
              <a:schemeClr val="accent5"/>
            </a:solidFill>
            <a:prstDash val="solid"/>
          </a:ln>
        </p:spPr>
      </p:sp>
      <p:sp>
        <p:nvSpPr>
          <p:cNvPr id="9" name="Shape 5"/>
          <p:cNvSpPr/>
          <p:nvPr/>
        </p:nvSpPr>
        <p:spPr>
          <a:xfrm>
            <a:off x="1371600" y="2880360"/>
            <a:ext cx="457200" cy="457200"/>
          </a:xfrm>
          <a:prstGeom prst="ellipse">
            <a:avLst/>
          </a:prstGeom>
          <a:solidFill>
            <a:schemeClr val="accent3"/>
          </a:solidFill>
          <a:ln w="25400">
            <a:solidFill>
              <a:schemeClr val="accent5"/>
            </a:solidFill>
            <a:prstDash val="solid"/>
          </a:ln>
        </p:spPr>
      </p:sp>
      <p:sp>
        <p:nvSpPr>
          <p:cNvPr id="10" name="Text 6"/>
          <p:cNvSpPr txBox="1"/>
          <p:nvPr/>
        </p:nvSpPr>
        <p:spPr>
          <a:xfrm>
            <a:off x="548640" y="3520440"/>
            <a:ext cx="2103120" cy="457200"/>
          </a:xfrm>
          <a:prstGeom prst="rect">
            <a:avLst/>
          </a:prstGeom>
          <a:noFill/>
          <a:ln/>
        </p:spPr>
        <p:txBody>
          <a:bodyPr wrap="square" lIns="0" tIns="0" rIns="0" bIns="0" rtlCol="0" anchor="ctr"/>
          <a:lstStyle/>
          <a:p>
            <a:pPr algn="ctr" indent="0" marL="0">
              <a:buNone/>
            </a:pPr>
            <a:r>
              <a:rPr lang="en-US" sz="1600" b="1" dirty="0">
                <a:solidFill>
                  <a:schemeClr val="tx1"/>
                </a:solidFill>
              </a:rPr>
              <a:t>15 – 30 août</a:t>
            </a:r>
            <a:endParaRPr lang="en-US" sz="1600" dirty="0"/>
          </a:p>
        </p:txBody>
      </p:sp>
      <p:sp>
        <p:nvSpPr>
          <p:cNvPr id="11" name="Text 7"/>
          <p:cNvSpPr txBox="1"/>
          <p:nvPr/>
        </p:nvSpPr>
        <p:spPr>
          <a:xfrm>
            <a:off x="548640" y="3977640"/>
            <a:ext cx="2103120" cy="1280160"/>
          </a:xfrm>
          <a:prstGeom prst="rect">
            <a:avLst/>
          </a:prstGeom>
          <a:noFill/>
          <a:ln/>
        </p:spPr>
        <p:txBody>
          <a:bodyPr wrap="square" lIns="0" tIns="0" rIns="0" bIns="0" rtlCol="0" anchor="t"/>
          <a:lstStyle/>
          <a:p>
            <a:pPr algn="ctr" indent="0" marL="0">
              <a:buNone/>
            </a:pPr>
            <a:r>
              <a:rPr lang="en-US" sz="1300" dirty="0">
                <a:solidFill>
                  <a:schemeClr val="tx2"/>
                </a:solidFill>
              </a:rPr>
              <a:t>Candidature validée, cahier des charges</a:t>
            </a:r>
            <a:endParaRPr lang="en-US" sz="1300" dirty="0"/>
          </a:p>
        </p:txBody>
      </p:sp>
      <p:sp>
        <p:nvSpPr>
          <p:cNvPr id="12" name="Shape 8"/>
          <p:cNvSpPr/>
          <p:nvPr/>
        </p:nvSpPr>
        <p:spPr>
          <a:xfrm>
            <a:off x="3611880" y="2880360"/>
            <a:ext cx="457200" cy="457200"/>
          </a:xfrm>
          <a:prstGeom prst="ellipse">
            <a:avLst/>
          </a:prstGeom>
          <a:solidFill>
            <a:schemeClr val="accent3"/>
          </a:solidFill>
          <a:ln w="25400">
            <a:solidFill>
              <a:schemeClr val="accent5"/>
            </a:solidFill>
            <a:prstDash val="solid"/>
          </a:ln>
        </p:spPr>
      </p:sp>
      <p:sp>
        <p:nvSpPr>
          <p:cNvPr id="13" name="Text 9"/>
          <p:cNvSpPr txBox="1"/>
          <p:nvPr/>
        </p:nvSpPr>
        <p:spPr>
          <a:xfrm>
            <a:off x="2788920" y="3520440"/>
            <a:ext cx="2103120" cy="457200"/>
          </a:xfrm>
          <a:prstGeom prst="rect">
            <a:avLst/>
          </a:prstGeom>
          <a:noFill/>
          <a:ln/>
        </p:spPr>
        <p:txBody>
          <a:bodyPr wrap="square" lIns="0" tIns="0" rIns="0" bIns="0" rtlCol="0" anchor="ctr"/>
          <a:lstStyle/>
          <a:p>
            <a:pPr algn="ctr" indent="0" marL="0">
              <a:buNone/>
            </a:pPr>
            <a:r>
              <a:rPr lang="en-US" sz="1600" b="1" dirty="0">
                <a:solidFill>
                  <a:schemeClr val="tx1"/>
                </a:solidFill>
              </a:rPr>
              <a:t>Septembre</a:t>
            </a:r>
            <a:endParaRPr lang="en-US" sz="1600" dirty="0"/>
          </a:p>
        </p:txBody>
      </p:sp>
      <p:sp>
        <p:nvSpPr>
          <p:cNvPr id="14" name="Text 10"/>
          <p:cNvSpPr txBox="1"/>
          <p:nvPr/>
        </p:nvSpPr>
        <p:spPr>
          <a:xfrm>
            <a:off x="2788920" y="3977640"/>
            <a:ext cx="2103120" cy="1280160"/>
          </a:xfrm>
          <a:prstGeom prst="rect">
            <a:avLst/>
          </a:prstGeom>
          <a:noFill/>
          <a:ln/>
        </p:spPr>
        <p:txBody>
          <a:bodyPr wrap="square" lIns="0" tIns="0" rIns="0" bIns="0" rtlCol="0" anchor="t"/>
          <a:lstStyle/>
          <a:p>
            <a:pPr algn="ctr" indent="0" marL="0">
              <a:buNone/>
            </a:pPr>
            <a:r>
              <a:rPr lang="en-US" sz="1300" dirty="0">
                <a:solidFill>
                  <a:schemeClr val="tx2"/>
                </a:solidFill>
              </a:rPr>
              <a:t>Conception détaillée : 3D, composants, dimensionnement</a:t>
            </a:r>
            <a:endParaRPr lang="en-US" sz="1300" dirty="0"/>
          </a:p>
        </p:txBody>
      </p:sp>
      <p:sp>
        <p:nvSpPr>
          <p:cNvPr id="15" name="Shape 11"/>
          <p:cNvSpPr/>
          <p:nvPr/>
        </p:nvSpPr>
        <p:spPr>
          <a:xfrm>
            <a:off x="5852160" y="2880360"/>
            <a:ext cx="457200" cy="457200"/>
          </a:xfrm>
          <a:prstGeom prst="ellipse">
            <a:avLst/>
          </a:prstGeom>
          <a:solidFill>
            <a:schemeClr val="accent3"/>
          </a:solidFill>
          <a:ln w="25400">
            <a:solidFill>
              <a:schemeClr val="accent5"/>
            </a:solidFill>
            <a:prstDash val="solid"/>
          </a:ln>
        </p:spPr>
      </p:sp>
      <p:sp>
        <p:nvSpPr>
          <p:cNvPr id="16" name="Text 12"/>
          <p:cNvSpPr txBox="1"/>
          <p:nvPr/>
        </p:nvSpPr>
        <p:spPr>
          <a:xfrm>
            <a:off x="5029200" y="3520440"/>
            <a:ext cx="2103120" cy="457200"/>
          </a:xfrm>
          <a:prstGeom prst="rect">
            <a:avLst/>
          </a:prstGeom>
          <a:noFill/>
          <a:ln/>
        </p:spPr>
        <p:txBody>
          <a:bodyPr wrap="square" lIns="0" tIns="0" rIns="0" bIns="0" rtlCol="0" anchor="ctr"/>
          <a:lstStyle/>
          <a:p>
            <a:pPr algn="ctr" indent="0" marL="0">
              <a:buNone/>
            </a:pPr>
            <a:r>
              <a:rPr lang="en-US" sz="1600" b="1" dirty="0">
                <a:solidFill>
                  <a:schemeClr val="tx1"/>
                </a:solidFill>
              </a:rPr>
              <a:t>30 septembre</a:t>
            </a:r>
            <a:endParaRPr lang="en-US" sz="1600" dirty="0"/>
          </a:p>
        </p:txBody>
      </p:sp>
      <p:sp>
        <p:nvSpPr>
          <p:cNvPr id="17" name="Text 13"/>
          <p:cNvSpPr txBox="1"/>
          <p:nvPr/>
        </p:nvSpPr>
        <p:spPr>
          <a:xfrm>
            <a:off x="5029200" y="3977640"/>
            <a:ext cx="2103120" cy="1280160"/>
          </a:xfrm>
          <a:prstGeom prst="rect">
            <a:avLst/>
          </a:prstGeom>
          <a:noFill/>
          <a:ln/>
        </p:spPr>
        <p:txBody>
          <a:bodyPr wrap="square" lIns="0" tIns="0" rIns="0" bIns="0" rtlCol="0" anchor="t"/>
          <a:lstStyle/>
          <a:p>
            <a:pPr algn="ctr" indent="0" marL="0">
              <a:buNone/>
            </a:pPr>
            <a:r>
              <a:rPr lang="en-US" sz="1300" dirty="0">
                <a:solidFill>
                  <a:schemeClr val="tx2"/>
                </a:solidFill>
              </a:rPr>
              <a:t>Dossier de conception soumis</a:t>
            </a:r>
            <a:endParaRPr lang="en-US" sz="1300" dirty="0"/>
          </a:p>
        </p:txBody>
      </p:sp>
      <p:sp>
        <p:nvSpPr>
          <p:cNvPr id="18" name="Shape 14"/>
          <p:cNvSpPr/>
          <p:nvPr/>
        </p:nvSpPr>
        <p:spPr>
          <a:xfrm>
            <a:off x="8092440" y="2880360"/>
            <a:ext cx="457200" cy="457200"/>
          </a:xfrm>
          <a:prstGeom prst="ellipse">
            <a:avLst/>
          </a:prstGeom>
          <a:solidFill>
            <a:schemeClr val="accent2"/>
          </a:solidFill>
          <a:ln w="25400">
            <a:solidFill>
              <a:schemeClr val="accent2"/>
            </a:solidFill>
            <a:prstDash val="solid"/>
          </a:ln>
        </p:spPr>
      </p:sp>
      <p:sp>
        <p:nvSpPr>
          <p:cNvPr id="19" name="Text 15"/>
          <p:cNvSpPr txBox="1"/>
          <p:nvPr/>
        </p:nvSpPr>
        <p:spPr>
          <a:xfrm>
            <a:off x="7269480" y="3520440"/>
            <a:ext cx="2103120" cy="457200"/>
          </a:xfrm>
          <a:prstGeom prst="rect">
            <a:avLst/>
          </a:prstGeom>
          <a:noFill/>
          <a:ln/>
        </p:spPr>
        <p:txBody>
          <a:bodyPr wrap="square" lIns="0" tIns="0" rIns="0" bIns="0" rtlCol="0" anchor="ctr"/>
          <a:lstStyle/>
          <a:p>
            <a:pPr algn="ctr" indent="0" marL="0">
              <a:buNone/>
            </a:pPr>
            <a:r>
              <a:rPr lang="en-US" sz="1600" b="1" dirty="0">
                <a:solidFill>
                  <a:schemeClr val="accent2"/>
                </a:solidFill>
              </a:rPr>
              <a:t>Octobre – novembre</a:t>
            </a:r>
            <a:endParaRPr lang="en-US" sz="1600" dirty="0"/>
          </a:p>
        </p:txBody>
      </p:sp>
      <p:sp>
        <p:nvSpPr>
          <p:cNvPr id="20" name="Text 16"/>
          <p:cNvSpPr txBox="1"/>
          <p:nvPr/>
        </p:nvSpPr>
        <p:spPr>
          <a:xfrm>
            <a:off x="7269480" y="3977640"/>
            <a:ext cx="2103120" cy="1280160"/>
          </a:xfrm>
          <a:prstGeom prst="rect">
            <a:avLst/>
          </a:prstGeom>
          <a:noFill/>
          <a:ln/>
        </p:spPr>
        <p:txBody>
          <a:bodyPr wrap="square" lIns="0" tIns="0" rIns="0" bIns="0" rtlCol="0" anchor="t"/>
          <a:lstStyle/>
          <a:p>
            <a:pPr algn="ctr" indent="0" marL="0">
              <a:buNone/>
            </a:pPr>
            <a:r>
              <a:rPr lang="en-US" sz="1300" dirty="0">
                <a:solidFill>
                  <a:schemeClr val="tx2"/>
                </a:solidFill>
              </a:rPr>
              <a:t>Prototypage, assemblage, essais au sol, en vol et de sécurité</a:t>
            </a:r>
            <a:endParaRPr lang="en-US" sz="1300" dirty="0"/>
          </a:p>
        </p:txBody>
      </p:sp>
      <p:sp>
        <p:nvSpPr>
          <p:cNvPr id="21" name="Shape 17"/>
          <p:cNvSpPr/>
          <p:nvPr/>
        </p:nvSpPr>
        <p:spPr>
          <a:xfrm>
            <a:off x="10332720" y="2880360"/>
            <a:ext cx="457200" cy="457200"/>
          </a:xfrm>
          <a:prstGeom prst="ellipse">
            <a:avLst/>
          </a:prstGeom>
          <a:solidFill>
            <a:schemeClr val="bg2"/>
          </a:solidFill>
          <a:ln w="25400">
            <a:solidFill>
              <a:schemeClr val="accent5"/>
            </a:solidFill>
            <a:prstDash val="solid"/>
          </a:ln>
        </p:spPr>
      </p:sp>
      <p:sp>
        <p:nvSpPr>
          <p:cNvPr id="22" name="Text 18"/>
          <p:cNvSpPr txBox="1"/>
          <p:nvPr/>
        </p:nvSpPr>
        <p:spPr>
          <a:xfrm>
            <a:off x="9509760" y="3520440"/>
            <a:ext cx="2103120" cy="457200"/>
          </a:xfrm>
          <a:prstGeom prst="rect">
            <a:avLst/>
          </a:prstGeom>
          <a:noFill/>
          <a:ln/>
        </p:spPr>
        <p:txBody>
          <a:bodyPr wrap="square" lIns="0" tIns="0" rIns="0" bIns="0" rtlCol="0" anchor="ctr"/>
          <a:lstStyle/>
          <a:p>
            <a:pPr algn="ctr" indent="0" marL="0">
              <a:buNone/>
            </a:pPr>
            <a:r>
              <a:rPr lang="en-US" sz="1600" b="1" dirty="0">
                <a:solidFill>
                  <a:schemeClr val="tx1"/>
                </a:solidFill>
              </a:rPr>
              <a:t>Semaine du 7 décembre</a:t>
            </a:r>
            <a:endParaRPr lang="en-US" sz="1600" dirty="0"/>
          </a:p>
        </p:txBody>
      </p:sp>
      <p:sp>
        <p:nvSpPr>
          <p:cNvPr id="23" name="Text 19"/>
          <p:cNvSpPr txBox="1"/>
          <p:nvPr/>
        </p:nvSpPr>
        <p:spPr>
          <a:xfrm>
            <a:off x="9509760" y="3977640"/>
            <a:ext cx="2103120" cy="1280160"/>
          </a:xfrm>
          <a:prstGeom prst="rect">
            <a:avLst/>
          </a:prstGeom>
          <a:noFill/>
          <a:ln/>
        </p:spPr>
        <p:txBody>
          <a:bodyPr wrap="square" lIns="0" tIns="0" rIns="0" bIns="0" rtlCol="0" anchor="t"/>
          <a:lstStyle/>
          <a:p>
            <a:pPr algn="ctr" indent="0" marL="0">
              <a:buNone/>
            </a:pPr>
            <a:r>
              <a:rPr lang="en-US" sz="1300" dirty="0">
                <a:solidFill>
                  <a:schemeClr val="tx2"/>
                </a:solidFill>
              </a:rPr>
              <a:t>Démonstration, présentation orale, remise des prix</a:t>
            </a:r>
            <a:endParaRPr lang="en-US" sz="1300" dirty="0"/>
          </a:p>
        </p:txBody>
      </p:sp>
      <p:sp>
        <p:nvSpPr>
          <p:cNvPr id="24" name="Shape 20"/>
          <p:cNvSpPr/>
          <p:nvPr/>
        </p:nvSpPr>
        <p:spPr>
          <a:xfrm>
            <a:off x="7406640" y="1965960"/>
            <a:ext cx="1828800" cy="502920"/>
          </a:xfrm>
          <a:prstGeom prst="roundRect">
            <a:avLst>
              <a:gd name="adj" fmla="val 49091"/>
            </a:avLst>
          </a:prstGeom>
          <a:solidFill>
            <a:schemeClr val="accent2"/>
          </a:solidFill>
          <a:ln/>
        </p:spPr>
      </p:sp>
      <p:sp>
        <p:nvSpPr>
          <p:cNvPr id="25" name="Text 21"/>
          <p:cNvSpPr txBox="1"/>
          <p:nvPr/>
        </p:nvSpPr>
        <p:spPr>
          <a:xfrm>
            <a:off x="7406640" y="1965960"/>
            <a:ext cx="1828800" cy="502920"/>
          </a:xfrm>
          <a:prstGeom prst="rect">
            <a:avLst/>
          </a:prstGeom>
          <a:noFill/>
          <a:ln/>
        </p:spPr>
        <p:txBody>
          <a:bodyPr wrap="square" lIns="0" tIns="0" rIns="0" bIns="0" rtlCol="0" anchor="ctr"/>
          <a:lstStyle/>
          <a:p>
            <a:pPr algn="ctr" indent="0" marL="0">
              <a:buNone/>
            </a:pPr>
            <a:r>
              <a:rPr lang="en-US" sz="1400" b="1" dirty="0">
                <a:solidFill>
                  <a:schemeClr val="bg1"/>
                </a:solidFill>
              </a:rPr>
              <a:t>Nous sommes ici</a:t>
            </a:r>
            <a:endParaRPr lang="en-US" sz="1400" dirty="0"/>
          </a:p>
        </p:txBody>
      </p:sp>
      <p:sp>
        <p:nvSpPr>
          <p:cNvPr id="26" name="Text 22"/>
          <p:cNvSpPr txBox="1"/>
          <p:nvPr/>
        </p:nvSpPr>
        <p:spPr>
          <a:xfrm>
            <a:off x="548640" y="5760720"/>
            <a:ext cx="5486400" cy="274320"/>
          </a:xfrm>
          <a:prstGeom prst="rect">
            <a:avLst/>
          </a:prstGeom>
          <a:noFill/>
          <a:ln/>
        </p:spPr>
        <p:txBody>
          <a:bodyPr wrap="square" lIns="0" tIns="0" rIns="0" bIns="0" rtlCol="0" anchor="ctr"/>
          <a:lstStyle/>
          <a:p>
            <a:pPr indent="0" marL="0">
              <a:buNone/>
            </a:pPr>
            <a:r>
              <a:rPr lang="en-US" sz="1100" i="1" dirty="0">
                <a:solidFill>
                  <a:schemeClr val="tx2"/>
                </a:solidFill>
              </a:rPr>
              <a:t>Étapes terminées en vert.</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Budget prévisionnel</a:t>
            </a:r>
            <a:endParaRPr lang="en-US" sz="3200" dirty="0"/>
          </a:p>
        </p:txBody>
      </p:sp>
      <p:sp>
        <p:nvSpPr>
          <p:cNvPr id="3" name="Intervenant"/>
          <p:cNvSpPr/>
          <p:nvPr/>
        </p:nvSpPr>
        <p:spPr>
          <a:xfrm>
            <a:off x="8899855" y="457200"/>
            <a:ext cx="27432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89912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1023" y="658368"/>
            <a:ext cx="237744" cy="237744"/>
          </a:xfrm>
          <a:prstGeom prst="rect">
            <a:avLst/>
          </a:prstGeom>
        </p:spPr>
      </p:pic>
      <p:sp>
        <p:nvSpPr>
          <p:cNvPr id="6" name="Text 3"/>
          <p:cNvSpPr txBox="1"/>
          <p:nvPr/>
        </p:nvSpPr>
        <p:spPr>
          <a:xfrm>
            <a:off x="9558223" y="512064"/>
            <a:ext cx="20116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4206240"/>
                <a:gridCol w="2560320"/>
              </a:tblGrid>
              <a:tr h="475488">
                <a:tc>
                  <a:txBody>
                    <a:bodyPr/>
                    <a:lstStyle/>
                    <a:p>
                      <a:pPr algn="l" indent="0" marL="0">
                        <a:buNone/>
                      </a:pPr>
                      <a:r>
                        <a:rPr lang="en-US" sz="1500" b="1" dirty="0">
                          <a:solidFill>
                            <a:schemeClr val="bg1"/>
                          </a:solidFill>
                        </a:rPr>
                        <a:t>Poste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accent1"/>
                    </a:solidFill>
                  </a:tcPr>
                </a:tc>
                <a:tc>
                  <a:txBody>
                    <a:bodyPr/>
                    <a:lstStyle/>
                    <a:p>
                      <a:pPr algn="r" indent="0" marL="0">
                        <a:buNone/>
                      </a:pPr>
                      <a:r>
                        <a:rPr lang="en-US" sz="1500" b="1" dirty="0">
                          <a:solidFill>
                            <a:schemeClr val="bg1"/>
                          </a:solidFill>
                        </a:rPr>
                        <a:t>FCFA</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accent1"/>
                    </a:solidFill>
                  </a:tcPr>
                </a:tc>
              </a:tr>
              <a:tr h="475488">
                <a:tc>
                  <a:txBody>
                    <a:bodyPr/>
                    <a:lstStyle/>
                    <a:p>
                      <a:pPr indent="0" marL="0">
                        <a:buNone/>
                      </a:pPr>
                      <a:r>
                        <a:rPr lang="en-US" sz="1500" dirty="0">
                          <a:solidFill>
                            <a:schemeClr val="tx1"/>
                          </a:solidFill>
                        </a:rPr>
                        <a:t>Cellule, moteurs, ESC, hélices</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2"/>
                          </a:solidFill>
                        </a:rPr>
                        <a:t>200 000 – 350 000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Contrôleur de vol + GPS + capteurs</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2"/>
                          </a:solidFill>
                        </a:rPr>
                        <a:t>200 000 – 350 000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Caméra + nacelle stabilisée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2"/>
                          </a:solidFill>
                        </a:rPr>
                        <a:t>120 000 – 300 000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Batteries et alimentation</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2"/>
                          </a:solidFill>
                        </a:rPr>
                        <a:t>80 000 – 150 000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Liaison radio / télémétrie</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2"/>
                          </a:solidFill>
                        </a:rPr>
                        <a:t>80 000 – 150 000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Consommables et divers</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2"/>
                          </a:solidFill>
                        </a:rPr>
                        <a:t>50 000 – 100 000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r h="475488">
                <a:tc>
                  <a:txBody>
                    <a:bodyPr/>
                    <a:lstStyle/>
                    <a:p>
                      <a:pPr indent="0" marL="0">
                        <a:buNone/>
                      </a:pPr>
                      <a:r>
                        <a:rPr lang="en-US" sz="1500" b="1" dirty="0">
                          <a:solidFill>
                            <a:schemeClr val="tx1"/>
                          </a:solidFill>
                        </a:rPr>
                        <a:t>Total (fiche projet)</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tx1"/>
                          </a:solidFill>
                        </a:rPr>
                        <a:t>730 000 – 1 400 000</a:t>
                      </a:r>
                      <a:endParaRPr lang="en-US" sz="1500" dirty="0"/>
                    </a:p>
                  </a:txBody>
                  <a:tcPr marL="137160" marR="137160" marT="0" marB="0" anchor="ctr">
                    <a:lnL w="12700" cap="flat" cmpd="sng" algn="ctr">
                      <a:solidFill>
                        <a:srgbClr val="1D3B63"/>
                      </a:solidFill>
                      <a:prstDash val="solid"/>
                      <a:round/>
                      <a:headEnd type="none" w="med" len="med"/>
                      <a:tailEnd type="none" w="med" len="med"/>
                    </a:lnL>
                    <a:lnR w="12700" cap="flat" cmpd="sng" algn="ctr">
                      <a:solidFill>
                        <a:srgbClr val="1D3B63"/>
                      </a:solidFill>
                      <a:prstDash val="solid"/>
                      <a:round/>
                      <a:headEnd type="none" w="med" len="med"/>
                      <a:tailEnd type="none" w="med" len="med"/>
                    </a:lnR>
                    <a:lnT w="12700" cap="flat" cmpd="sng" algn="ctr">
                      <a:solidFill>
                        <a:srgbClr val="1D3B63"/>
                      </a:solidFill>
                      <a:prstDash val="solid"/>
                      <a:round/>
                      <a:headEnd type="none" w="med" len="med"/>
                      <a:tailEnd type="none" w="med" len="med"/>
                    </a:lnT>
                    <a:lnB w="12700" cap="flat" cmpd="sng" algn="ctr">
                      <a:solidFill>
                        <a:srgbClr val="1D3B63"/>
                      </a:solidFill>
                      <a:prstDash val="solid"/>
                      <a:round/>
                      <a:headEnd type="none" w="med" len="med"/>
                      <a:tailEnd type="none" w="med" len="med"/>
                    </a:lnB>
                    <a:solidFill>
                      <a:schemeClr val="bg2"/>
                    </a:solidFill>
                  </a:tcPr>
                </a:tc>
              </a:tr>
            </a:tbl>
          </a:graphicData>
        </a:graphic>
      </p:graphicFrame>
      <p:sp>
        <p:nvSpPr>
          <p:cNvPr id="9" name="Module IA"/>
          <p:cNvSpPr/>
          <p:nvPr/>
        </p:nvSpPr>
        <p:spPr>
          <a:xfrm>
            <a:off x="7680960" y="1508760"/>
            <a:ext cx="3962095" cy="1828800"/>
          </a:xfrm>
          <a:prstGeom prst="roundRect">
            <a:avLst>
              <a:gd name="adj" fmla="val 6000"/>
            </a:avLst>
          </a:prstGeom>
          <a:solidFill>
            <a:schemeClr val="bg2">
              <a:alpha val="90000"/>
            </a:schemeClr>
          </a:solidFill>
          <a:ln w="12700">
            <a:solidFill>
              <a:schemeClr val="accent5"/>
            </a:solidFill>
            <a:prstDash val="solid"/>
          </a:ln>
        </p:spPr>
      </p:sp>
      <p:sp>
        <p:nvSpPr>
          <p:cNvPr id="10" name="Text 5"/>
          <p:cNvSpPr txBox="1"/>
          <p:nvPr/>
        </p:nvSpPr>
        <p:spPr>
          <a:xfrm>
            <a:off x="7955280" y="1645920"/>
            <a:ext cx="3413455" cy="1554480"/>
          </a:xfrm>
          <a:prstGeom prst="rect">
            <a:avLst/>
          </a:prstGeom>
          <a:noFill/>
          <a:ln/>
        </p:spPr>
        <p:txBody>
          <a:bodyPr wrap="square" lIns="0" tIns="0" rIns="0" bIns="0" rtlCol="0" anchor="ctr"/>
          <a:lstStyle/>
          <a:p>
            <a:pPr indent="0" marL="0">
              <a:buNone/>
            </a:pPr>
            <a:r>
              <a:rPr lang="en-US" sz="2600" b="1" dirty="0">
                <a:solidFill>
                  <a:schemeClr val="accent2"/>
                </a:solidFill>
              </a:rPr>
              <a:t>+ 120 000 – 160 000</a:t>
            </a:r>
            <a:endParaRPr lang="en-US" sz="2600" dirty="0"/>
          </a:p>
          <a:p>
            <a:pPr indent="0" marL="0">
              <a:buNone/>
            </a:pPr>
            <a:r>
              <a:rPr lang="en-US" sz="1400" dirty="0">
                <a:solidFill>
                  <a:schemeClr val="tx2"/>
                </a:solidFill>
              </a:rPr>
              <a:t>Module IA embarqué (Raspberry Pi 5 + AI HAT+)</a:t>
            </a:r>
            <a:endParaRPr lang="en-US" sz="2600" dirty="0"/>
          </a:p>
        </p:txBody>
      </p:sp>
      <p:sp>
        <p:nvSpPr>
          <p:cNvPr id="11" name="Principes"/>
          <p:cNvSpPr/>
          <p:nvPr/>
        </p:nvSpPr>
        <p:spPr>
          <a:xfrm>
            <a:off x="7680960" y="3611880"/>
            <a:ext cx="3962095" cy="2011680"/>
          </a:xfrm>
          <a:prstGeom prst="roundRect">
            <a:avLst>
              <a:gd name="adj" fmla="val 5455"/>
            </a:avLst>
          </a:prstGeom>
          <a:solidFill>
            <a:schemeClr val="bg2">
              <a:alpha val="90000"/>
            </a:schemeClr>
          </a:solidFill>
          <a:ln w="12700">
            <a:solidFill>
              <a:schemeClr val="accent5"/>
            </a:solidFill>
            <a:prstDash val="solid"/>
          </a:ln>
        </p:spPr>
      </p:sp>
      <p:sp>
        <p:nvSpPr>
          <p:cNvPr id="12" name="Text 7"/>
          <p:cNvSpPr txBox="1"/>
          <p:nvPr/>
        </p:nvSpPr>
        <p:spPr>
          <a:xfrm>
            <a:off x="7955280" y="3794760"/>
            <a:ext cx="3413455" cy="16459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chemeClr val="tx2"/>
                </a:solidFill>
              </a:rPr>
              <a:t>Chaque poste justifié par le dimensionnement</a:t>
            </a:r>
            <a:endParaRPr lang="en-US" sz="1500" dirty="0"/>
          </a:p>
          <a:p>
            <a:pPr marL="342900" indent="-342900">
              <a:spcAft>
                <a:spcPts val="800"/>
              </a:spcAft>
              <a:buSzPct val="100000"/>
              <a:buChar char="•"/>
            </a:pPr>
            <a:r>
              <a:rPr lang="en-US" sz="1500" dirty="0">
                <a:solidFill>
                  <a:schemeClr val="tx2"/>
                </a:solidFill>
              </a:rPr>
              <a:t>Composants standards, disponibles, réparables</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user/video-sentinelle-aerienne/pitch/assets/3d_sa1_assemble.png">    </p:cNvPr>
          <p:cNvPicPr>
            <a:picLocks noChangeAspect="1"/>
          </p:cNvPicPr>
          <p:nvPr/>
        </p:nvPicPr>
        <p:blipFill>
          <a:blip r:embed="rId1"/>
          <a:stretch>
            <a:fillRect/>
          </a:stretch>
        </p:blipFill>
        <p:spPr>
          <a:xfrm>
            <a:off x="5943600" y="1920240"/>
            <a:ext cx="5852160" cy="2889504"/>
          </a:xfrm>
          <a:prstGeom prst="rect">
            <a:avLst/>
          </a:prstGeom>
        </p:spPr>
      </p:pic>
      <p:sp>
        <p:nvSpPr>
          <p:cNvPr id="3" name="Text 0"/>
          <p:cNvSpPr txBox="1"/>
          <p:nvPr/>
        </p:nvSpPr>
        <p:spPr>
          <a:xfrm>
            <a:off x="548640" y="640080"/>
            <a:ext cx="7315200" cy="457200"/>
          </a:xfrm>
          <a:prstGeom prst="rect">
            <a:avLst/>
          </a:prstGeom>
          <a:noFill/>
          <a:ln/>
        </p:spPr>
        <p:txBody>
          <a:bodyPr wrap="square" lIns="0" tIns="0" rIns="0" bIns="0" rtlCol="0" anchor="ctr"/>
          <a:lstStyle/>
          <a:p>
            <a:pPr indent="0" marL="0">
              <a:buNone/>
            </a:pPr>
            <a:r>
              <a:rPr lang="en-US" sz="1800" b="1" dirty="0">
                <a:solidFill>
                  <a:schemeClr val="accent1"/>
                </a:solidFill>
              </a:rPr>
              <a:t>Sentinelle Aérienne</a:t>
            </a:r>
            <a:endParaRPr lang="en-US" sz="1800" dirty="0"/>
          </a:p>
        </p:txBody>
      </p:sp>
      <p:sp>
        <p:nvSpPr>
          <p:cNvPr id="4" name="Text 1"/>
          <p:cNvSpPr txBox="1"/>
          <p:nvPr/>
        </p:nvSpPr>
        <p:spPr>
          <a:xfrm>
            <a:off x="548640" y="1371600"/>
            <a:ext cx="5486400" cy="2926080"/>
          </a:xfrm>
          <a:prstGeom prst="rect">
            <a:avLst/>
          </a:prstGeom>
          <a:noFill/>
          <a:ln/>
        </p:spPr>
        <p:txBody>
          <a:bodyPr wrap="square" lIns="0" tIns="0" rIns="0" bIns="0" rtlCol="0" anchor="t"/>
          <a:lstStyle/>
          <a:p>
            <a:pPr indent="0" marL="0">
              <a:spcAft>
                <a:spcPts val="600"/>
              </a:spcAft>
              <a:buNone/>
            </a:pPr>
            <a:r>
              <a:rPr lang="en-US" sz="3600" b="1" dirty="0">
                <a:solidFill>
                  <a:schemeClr val="tx1"/>
                </a:solidFill>
              </a:rPr>
              <a:t>Décolle partout</a:t>
            </a:r>
            <a:endParaRPr lang="en-US" sz="3600" dirty="0"/>
          </a:p>
          <a:p>
            <a:pPr indent="0" marL="0">
              <a:spcAft>
                <a:spcPts val="600"/>
              </a:spcAft>
              <a:buNone/>
            </a:pPr>
            <a:r>
              <a:rPr lang="en-US" sz="3600" b="1" dirty="0">
                <a:solidFill>
                  <a:schemeClr val="tx1"/>
                </a:solidFill>
              </a:rPr>
              <a:t>Vole longtemps</a:t>
            </a:r>
            <a:endParaRPr lang="en-US" sz="3600" dirty="0"/>
          </a:p>
          <a:p>
            <a:pPr indent="0" marL="0">
              <a:spcAft>
                <a:spcPts val="600"/>
              </a:spcAft>
              <a:buNone/>
            </a:pPr>
            <a:r>
              <a:rPr lang="en-US" sz="3600" b="1" dirty="0">
                <a:solidFill>
                  <a:schemeClr val="tx1"/>
                </a:solidFill>
              </a:rPr>
              <a:t>Voit et comprend</a:t>
            </a:r>
            <a:endParaRPr lang="en-US" sz="3600" dirty="0"/>
          </a:p>
          <a:p>
            <a:pPr indent="0" marL="0">
              <a:spcAft>
                <a:spcPts val="600"/>
              </a:spcAft>
              <a:buNone/>
            </a:pPr>
            <a:r>
              <a:rPr lang="en-US" sz="3600" b="1" dirty="0">
                <a:solidFill>
                  <a:schemeClr val="tx1"/>
                </a:solidFill>
              </a:rPr>
              <a:t>Communique en sécurité</a:t>
            </a:r>
            <a:endParaRPr lang="en-US" sz="3600" dirty="0"/>
          </a:p>
        </p:txBody>
      </p:sp>
      <p:sp>
        <p:nvSpPr>
          <p:cNvPr id="5" name="Text 2"/>
          <p:cNvSpPr txBox="1"/>
          <p:nvPr/>
        </p:nvSpPr>
        <p:spPr>
          <a:xfrm>
            <a:off x="548640" y="4480560"/>
            <a:ext cx="4937760" cy="731520"/>
          </a:xfrm>
          <a:prstGeom prst="rect">
            <a:avLst/>
          </a:prstGeom>
          <a:noFill/>
          <a:ln/>
        </p:spPr>
        <p:txBody>
          <a:bodyPr wrap="square" lIns="0" tIns="0" rIns="0" bIns="0" rtlCol="0" anchor="ctr"/>
          <a:lstStyle/>
          <a:p>
            <a:pPr indent="0" marL="0">
              <a:buNone/>
            </a:pPr>
            <a:r>
              <a:rPr lang="en-US" sz="1500" dirty="0">
                <a:solidFill>
                  <a:schemeClr val="tx2"/>
                </a:solidFill>
              </a:rPr>
              <a:t>Pensé au Togo pour nos zones sensibles · extensible à la cartographie et à l'aide humanitaire</a:t>
            </a:r>
            <a:endParaRPr lang="en-US" sz="1500" dirty="0"/>
          </a:p>
        </p:txBody>
      </p:sp>
      <p:sp>
        <p:nvSpPr>
          <p:cNvPr id="6" name="Text 3"/>
          <p:cNvSpPr txBox="1"/>
          <p:nvPr/>
        </p:nvSpPr>
        <p:spPr>
          <a:xfrm>
            <a:off x="548640" y="5486400"/>
            <a:ext cx="7315200" cy="640080"/>
          </a:xfrm>
          <a:prstGeom prst="rect">
            <a:avLst/>
          </a:prstGeom>
          <a:noFill/>
          <a:ln/>
        </p:spPr>
        <p:txBody>
          <a:bodyPr wrap="square" lIns="0" tIns="0" rIns="0" bIns="0" rtlCol="0" anchor="ctr"/>
          <a:lstStyle/>
          <a:p>
            <a:pPr indent="0" marL="0">
              <a:buNone/>
            </a:pPr>
            <a:r>
              <a:rPr lang="en-US" sz="3000" b="1" dirty="0">
                <a:solidFill>
                  <a:schemeClr val="accent2"/>
                </a:solidFill>
              </a:rPr>
              <a:t>Merci — vos questions</a:t>
            </a:r>
            <a:endParaRPr lang="en-US" sz="3000" dirty="0"/>
          </a:p>
        </p:txBody>
      </p:sp>
    </p:spTree>
  </p:cSld>
  <p:clrMapOvr>
    <a:masterClrMapping/>
  </p:clrMapOvr>
</p:sld>
</file>

<file path=ppt/theme/theme1.xml><?xml version="1.0" encoding="utf-8"?>
<a:theme xmlns:a="http://schemas.openxmlformats.org/drawingml/2006/main" name="Sentinelle Aerienne">
  <a:themeElements>
    <a:clrScheme name="Sentinelle Aerienne">
      <a:dk1>
        <a:srgbClr val="E8F1FA"/>
      </a:dk1>
      <a:lt1>
        <a:srgbClr val="050C1B"/>
      </a:lt1>
      <a:dk2>
        <a:srgbClr val="9DB2C9"/>
      </a:dk2>
      <a:lt2>
        <a:srgbClr val="0F2140"/>
      </a:lt2>
      <a:accent1>
        <a:srgbClr val="00D4FF"/>
      </a:accent1>
      <a:accent2>
        <a:srgbClr val="F2A541"/>
      </a:accent2>
      <a:accent3>
        <a:srgbClr val="3CDC96"/>
      </a:accent3>
      <a:accent4>
        <a:srgbClr val="FF5F5F"/>
      </a:accent4>
      <a:accent5>
        <a:srgbClr val="1D3B63"/>
      </a:accent5>
      <a:accent6>
        <a:srgbClr val="7AA7FF"/>
      </a:accent6>
      <a:hlink>
        <a:srgbClr val="00D4FF"/>
      </a:hlink>
      <a:folHlink>
        <a:srgbClr val="7AA7FF"/>
      </a:folHlink>
    </a:clrScheme>
    <a:fontScheme name="Sentinelle Aerien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SkyVision Togo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Sentinelle Aérienne — Pitch CECFD 2026</dc:title>
  <dc:subject>PptxGenJS Presentation</dc:subject>
  <dc:creator>SkyVision Togo</dc:creator>
  <cp:lastModifiedBy>SkyVision Togo</cp:lastModifiedBy>
  <cp:revision>1</cp:revision>
  <dcterms:created xsi:type="dcterms:W3CDTF">2026-10-15T08:15:11Z</dcterms:created>
  <dcterms:modified xsi:type="dcterms:W3CDTF">2026-10-15T08:15:11Z</dcterms:modified>
</cp:coreProperties>
</file>