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d483cf-6aa7-19c3-3888-0edf5f8053b9}">
          <p14:sldIdLst>
            <p14:sldId id="256"/>
          </p14:sldIdLst>
        </p14:section>
        <p14:section name="Besoin et conception" id="{6f783854-affc-26ab-54eb-237900523eac}">
          <p14:sldIdLst>
            <p14:sldId id="257"/>
            <p14:sldId id="258"/>
          </p14:sldIdLst>
        </p14:section>
        <p14:section name="Technologies" id="{3b350657-3584-82cc-d7aa-5175d37d0738}">
          <p14:sldIdLst>
            <p14:sldId id="259"/>
            <p14:sldId id="260"/>
            <p14:sldId id="261"/>
          </p14:sldIdLst>
        </p14:section>
        <p14:section name="Valeur ajoutée" id="{6ce46ba1-9c76-05ed-46bb-be7a625087fc}">
          <p14:sldIdLst>
            <p14:sldId id="262"/>
            <p14:sldId id="263"/>
          </p14:sldIdLst>
        </p14:section>
        <p14:section name="Conclusion" id="{26f9466a-a053-ff31-37ae-7992fabf5cf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60 s]
Bonjour Mesdames et Messieurs les membres du jury.
Je m'appelle AWADE Constantin Israel, chef de l'équipe SkyVision Togo. Je m'occupe de la mécanique, de l'électronique et de la conception 3D du drone.
Nous vous présentons la Sentinelle Aérienne : un drone hybride à décollage vertical, conçu pour la sécurité des aéroports et la surveillance des zones sensibles.
Notre équipe compte cinq pôles. Angelo, au logiciel embarqué et à la station sol. Cédric, au back-end, au programme de vol et à la documentation. Makafui, aux réseaux, à la télémétrie et à la sécurité. Et Roger, à l'intelligence artificielle et aux données.
Chacun va vous présenter la partie dont il est responsable. Je laisse d'abord Cédric vous expliquer le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 ≈ 60 s]
Merci Israel. Bonjour, je suis KODJOVI Eli Cédric Ankou, responsable du back-end, du programme de vol et de la documentation.
Partons du terrain. Sur une piste, un simple débris, un boulon, un morceau de pneu, un outil oublié, peut être aspiré par un réacteur ou crever un pneu au décollage. C'est ce qu'on appelle les FOD, Foreign Object Debris.
À cela s'ajoutent l'inspection des abords et le risque d'intrusion de personnes ou de véhicules.
Aujourd'hui, ces contrôles sont surtout manuels : une équipe parcourt la piste en véhicule. C'est long, ça mobilise la piste, ça dépend de l'attention humaine, et c'est difficile la nuit ou sur de grandes surfaces.
Notre besoin est donc clair : un moyen aérien, autonome et intelligent, qui inspecte vite et signale immédiatement ce qu'il trouve. Israel va vous présenter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60 s]
Merci Cédric. La plateforme, c'est un VTOL hybride, modélisé sous SolidWorks.
Il combine une voilure fixe, des rotors verticaux pour le décollage et l'atterrissage, et une propulsion de croisière bimoteur montée sur les poutres.
Concrètement : il décolle à la verticale, comme un multirotor, depuis n'importe quelle zone dégagée, sans piste. Puis il bascule en vol horizontal : c'est l'aile qui le porte, ce qui consomme beaucoup moins d'énergie. On garde la souplesse du multirotor et l'autonomie de l'avion.
La cellule est en carbone et composite, avec des zones en fibre de verre là où passent les antennes. Pour l'électronique, nous concevons nos propres cartes de distribution et le câblage.
Makafui va maintenant vous expliquer l'architecture avionique, pensée d'abord pour la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 ≈ 70 s]
Merci Israel. Bonjour, je suis de MEDEIROS Makafui Komlan Léopoldo, responsable des réseaux, de la télémétrie et de la sécurité.
Notre principe de base : le vol passe avant tout. Nous avons donc séparé le drone en deux cerveaux.
Le premier, c'est le contrôleur de vol : une carte STM32H743, un Cortex-M7 à 480 mégahertz. Il fait une seule chose, et il la fait en temps réel : stabiliser le drone, piloter les moteurs, et déclencher les sécurités, le fail-safe et le retour automatique au point de départ.
Le second, c'est le module d'IA, sur un Raspberry Pi 5.
Pourquoi les séparer ? Parce que si le traitement d'image plante, chauffe ou ralentit, le vol n'est pas affecté. L'IA lit la position du drone et envoie des alertes, mais elle ne commande jamais les moteurs. Le retour automatique fonctionne même si le module IA est éteint.
Et en secours, nous gardons un contrôleur du commerce compatible. Roger va vous présenter ce second cerveau.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 ≈ 75 s]
Merci Makafui. Bonjour à tous, je m'appelle KAINWANG Roger, responsable de l'intelligence artificielle et des données.
Notre IA tourne entièrement à bord, sur un Raspberry Pi 5 équipé d'un accélérateur AI HAT+ de 26 TOPS, avec une puce Hailo-8. Aucune image ne part vers internet.
Le détecteur est un YOLOv8s, que nous adaptons par fine-tuning sur FOD-A, une base publique de plus de 30 000 débris annotés, et sur nos propres images filmées avec la caméra du drone. Il repère trois familles : les personnes, les véhicules et les débris au sol.
Un suivi relie les détections d'une image à l'autre, pour qu'un objet ne déclenche qu'une seule alerte. Chaque alerte est enregistrée à bord avec son image de preuve, puis envoyée à la station.
Et pour un objet jamais vu, nous ne prétendons pas le reconnaître : il est signalé « à vérifier », avec son image. L'IA est une aide à l'inspection : la décision reste humaine. Angelo va vous montrer comment ces alertes arrivent au 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puis Makafui — ≈ 70 s]
Merci Roger. Bonjour, je m'appelle LOGO ADANTO Angelo, responsable du logiciel embarqué et de la station sol.
Côté drone, nous utilisons une version personnalisée d'ArduPilot, avec une délimitation de zone : le drone ne peut pas sortir de l'espace autorisé.
Côté sol, nous développons une station en Flutter et en version web. L'opérateur y planifie la mission, suit la télémétrie MAVLink en direct, voit les alertes de l'IA avec leur image, et la vidéo est enregistrée. Les vols et les alertes sont archivés par le back-end de Cédric, via une API REST et une base MySQL.
[Makafui] Toutes ces données circulent sur une liaison chiffrée, et chaque message MAVLink est signé : un ordre non authentifié est rejeté. Nous détectons le brouillage et le leurrage GPS en comparant plusieurs sources de position. Un canal d'urgence indépendant permet toujours de faire revenir le drone, et nous testons une liaison satellite en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70 s]
Ce qui fait la différence de la Sentinelle Aérienne, ce sont quatre innovations.
Un : une architecture double cœur. Le STM32H7 gère le vol, le Hailo gère la vision. Les deux sont séparés de façon étanche : une panne de l'IA ne met jamais l'aéronef en danger.
Deux : un VTOL hybride intelligent. Il décolle seul à la verticale, bascule automatiquement en croisière et couvre de grandes distances, sans piste.
Trois : l'inférence en périphérie, à 26 TOPS. L'image est analysée à bord, en temps réel, sans cloud et sans réseau : l'alerte arrive pendant le vol, pas après.
Quatre : une sécurité multicouche. Chiffrement et signature des messages, protection contre le brouillage et le leurrage GPS, et canal de secours indépendant.
Et cette plateforme ne sert pas qu'aux aéroports : Cédric va vous montrer sa polyvalence.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 ≈ 70 s]
Grâce à sa charge utile modulaire, la Sentinelle Aérienne s'adapte à de nombreux secteurs.
En aviation civile, c'est notre mission première : inspection des pistes, détection des débris et surveillance des clôtures.
En agriculture et en environnement : surveillance des cultures, suivi environnemental et détection précoce des feux de brousse.
Pour les infrastructures critiques : lignes électriques, pylônes, ponts, ou encore le port de Lomé.
Pour l'aide humanitaire : grâce au décollage vertical, une version adaptée peut acheminer de petits colis, comme des médicaments, vers des zones enclavées.
Et en cartographie : relevés orthophotographiques et topographiques à basse altitude.
Le même drone, la même station, le même back-end : seule la charge utile et le modèle d'IA changent. Israel va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 ≈ 55 s]
Où en sommes-nous ? La conception est terminée et le dossier a été soumis. Nous sommes en phase de prototypage : assemblage, intégration électronique et essais sur banc. Viendront ensuite les essais au sol, puis en vol, et les tests de sécurité, en octobre et novembre, pour être prêts pour la finale de décembre 2026.
Nous remercions l'ANAC et les organisateurs du CECFD pour cette opportunité, qui permet à de jeunes Togolais de concevoir des solutions aéronautiques pour leur pays.
Merci pour votre attention. Toute l'équipe est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UVERTUR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U-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tx2"/>
                </a:solidFill>
              </a:rPr>
              <a:t>SkyVision Togo · Sentinelle Aérienne · CECFD 2026 — ANAC</a:t>
            </a:r>
            <a:endParaRPr lang="en-US" sz="1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594360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SKYVISION TOGO  ·  CECFD 2026 — ANAC</a:t>
            </a:r>
            <a:endParaRPr lang="en-US" sz="1400" dirty="0"/>
          </a:p>
        </p:txBody>
      </p:sp>
      <p:sp>
        <p:nvSpPr>
          <p:cNvPr id="3" name="Text 1"/>
          <p:cNvSpPr txBox="1"/>
          <p:nvPr/>
        </p:nvSpPr>
        <p:spPr>
          <a:xfrm>
            <a:off x="548640" y="1143000"/>
            <a:ext cx="5852160" cy="1005840"/>
          </a:xfrm>
          <a:prstGeom prst="rect">
            <a:avLst/>
          </a:prstGeom>
          <a:noFill/>
          <a:ln/>
        </p:spPr>
        <p:txBody>
          <a:bodyPr wrap="square" lIns="0" tIns="0" rIns="0" bIns="0" rtlCol="0" anchor="ctr"/>
          <a:lstStyle/>
          <a:p>
            <a:pPr indent="0" marL="0">
              <a:buNone/>
            </a:pPr>
            <a:r>
              <a:rPr lang="en-US" sz="5200" b="1" dirty="0">
                <a:solidFill>
                  <a:schemeClr val="tx1"/>
                </a:solidFill>
              </a:rPr>
              <a:t>Sentinelle Aérienne</a:t>
            </a:r>
            <a:endParaRPr lang="en-US" sz="5200" dirty="0"/>
          </a:p>
        </p:txBody>
      </p:sp>
      <p:sp>
        <p:nvSpPr>
          <p:cNvPr id="4" name="Text 2"/>
          <p:cNvSpPr txBox="1"/>
          <p:nvPr/>
        </p:nvSpPr>
        <p:spPr>
          <a:xfrm>
            <a:off x="548640" y="2240280"/>
            <a:ext cx="5120640" cy="914400"/>
          </a:xfrm>
          <a:prstGeom prst="rect">
            <a:avLst/>
          </a:prstGeom>
          <a:noFill/>
          <a:ln/>
        </p:spPr>
        <p:txBody>
          <a:bodyPr wrap="square" lIns="0" tIns="0" rIns="0" bIns="0" rtlCol="0" anchor="ctr"/>
          <a:lstStyle/>
          <a:p>
            <a:pPr indent="0" marL="0">
              <a:buNone/>
            </a:pPr>
            <a:r>
              <a:rPr lang="en-US" sz="1900" dirty="0">
                <a:solidFill>
                  <a:schemeClr val="tx2"/>
                </a:solidFill>
              </a:rPr>
              <a:t>Drone hybride VTOL à IA embarquée pour la sécurité aéroportuaire et la surveillance des zones sensibles</a:t>
            </a:r>
            <a:endParaRPr lang="en-US" sz="1900" dirty="0"/>
          </a:p>
        </p:txBody>
      </p:sp>
      <p:pic>
        <p:nvPicPr>
          <p:cNvPr id="5" name="Image 0" descr="/home/user/video-sentinelle-aerienne/pitch/assets/3d_sa1_assemble.png">    </p:cNvPr>
          <p:cNvPicPr>
            <a:picLocks noChangeAspect="1"/>
          </p:cNvPicPr>
          <p:nvPr/>
        </p:nvPicPr>
        <p:blipFill>
          <a:blip r:embed="rId1"/>
          <a:stretch>
            <a:fillRect/>
          </a:stretch>
        </p:blipFill>
        <p:spPr>
          <a:xfrm>
            <a:off x="457200" y="3429000"/>
            <a:ext cx="5120640" cy="2532888"/>
          </a:xfrm>
          <a:prstGeom prst="rect">
            <a:avLst/>
          </a:prstGeom>
        </p:spPr>
      </p:pic>
      <p:sp>
        <p:nvSpPr>
          <p:cNvPr id="6" name="Text 3"/>
          <p:cNvSpPr txBox="1"/>
          <p:nvPr/>
        </p:nvSpPr>
        <p:spPr>
          <a:xfrm>
            <a:off x="6400800" y="640080"/>
            <a:ext cx="5242255" cy="365760"/>
          </a:xfrm>
          <a:prstGeom prst="rect">
            <a:avLst/>
          </a:prstGeom>
          <a:noFill/>
          <a:ln/>
        </p:spPr>
        <p:txBody>
          <a:bodyPr wrap="square" lIns="0" tIns="0" rIns="0" bIns="0" rtlCol="0" anchor="ctr"/>
          <a:lstStyle/>
          <a:p>
            <a:pPr indent="0" marL="0">
              <a:buNone/>
            </a:pPr>
            <a:r>
              <a:rPr lang="en-US" sz="1600" b="1" dirty="0">
                <a:solidFill>
                  <a:schemeClr val="accent2"/>
                </a:solidFill>
              </a:rPr>
              <a:t>L'équipe</a:t>
            </a:r>
            <a:endParaRPr lang="en-US" sz="1600" dirty="0"/>
          </a:p>
        </p:txBody>
      </p:sp>
      <p:sp>
        <p:nvSpPr>
          <p:cNvPr id="7" name="Membre Israel"/>
          <p:cNvSpPr/>
          <p:nvPr/>
        </p:nvSpPr>
        <p:spPr>
          <a:xfrm>
            <a:off x="6400800" y="1143000"/>
            <a:ext cx="5242255" cy="868680"/>
          </a:xfrm>
          <a:prstGeom prst="roundRect">
            <a:avLst>
              <a:gd name="adj" fmla="val 12632"/>
            </a:avLst>
          </a:prstGeom>
          <a:solidFill>
            <a:schemeClr val="bg2">
              <a:alpha val="90000"/>
            </a:schemeClr>
          </a:solidFill>
          <a:ln w="12700">
            <a:solidFill>
              <a:schemeClr val="accent5"/>
            </a:solidFill>
            <a:prstDash val="solid"/>
          </a:ln>
        </p:spPr>
      </p:sp>
      <p:sp>
        <p:nvSpPr>
          <p:cNvPr id="8" name="Shape 5"/>
          <p:cNvSpPr/>
          <p:nvPr/>
        </p:nvSpPr>
        <p:spPr>
          <a:xfrm>
            <a:off x="6565392" y="1289304"/>
            <a:ext cx="576072" cy="576072"/>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6703649" y="1427561"/>
            <a:ext cx="299557" cy="299557"/>
          </a:xfrm>
          <a:prstGeom prst="rect">
            <a:avLst/>
          </a:prstGeom>
        </p:spPr>
      </p:pic>
      <p:sp>
        <p:nvSpPr>
          <p:cNvPr id="10" name="Text 6"/>
          <p:cNvSpPr txBox="1"/>
          <p:nvPr/>
        </p:nvSpPr>
        <p:spPr>
          <a:xfrm>
            <a:off x="7315200" y="1216152"/>
            <a:ext cx="4190695" cy="731520"/>
          </a:xfrm>
          <a:prstGeom prst="rect">
            <a:avLst/>
          </a:prstGeom>
          <a:noFill/>
          <a:ln/>
        </p:spPr>
        <p:txBody>
          <a:bodyPr wrap="square" lIns="0" tIns="0" rIns="0" bIns="0" rtlCol="0" anchor="ctr"/>
          <a:lstStyle/>
          <a:p>
            <a:pPr indent="0" marL="0">
              <a:buNone/>
            </a:pPr>
            <a:r>
              <a:rPr lang="en-US" sz="1500" b="1" dirty="0">
                <a:solidFill>
                  <a:schemeClr val="tx1"/>
                </a:solidFill>
              </a:rPr>
              <a:t>AWADE Constantin Israel</a:t>
            </a:r>
            <a:endParaRPr lang="en-US" sz="1500" dirty="0"/>
          </a:p>
          <a:p>
            <a:pPr indent="0" marL="0">
              <a:buNone/>
            </a:pPr>
            <a:r>
              <a:rPr lang="en-US" sz="1200" dirty="0">
                <a:solidFill>
                  <a:schemeClr val="tx2"/>
                </a:solidFill>
              </a:rPr>
              <a:t>Chef d'équipe · Mécanique, électronique et conception 3D</a:t>
            </a:r>
            <a:endParaRPr lang="en-US" sz="1500" dirty="0"/>
          </a:p>
        </p:txBody>
      </p:sp>
      <p:sp>
        <p:nvSpPr>
          <p:cNvPr id="11" name="Membre Angelo"/>
          <p:cNvSpPr/>
          <p:nvPr/>
        </p:nvSpPr>
        <p:spPr>
          <a:xfrm>
            <a:off x="6400800" y="2167128"/>
            <a:ext cx="5242255" cy="868680"/>
          </a:xfrm>
          <a:prstGeom prst="roundRect">
            <a:avLst>
              <a:gd name="adj" fmla="val 12632"/>
            </a:avLst>
          </a:prstGeom>
          <a:solidFill>
            <a:schemeClr val="bg2">
              <a:alpha val="90000"/>
            </a:schemeClr>
          </a:solidFill>
          <a:ln w="12700">
            <a:solidFill>
              <a:schemeClr val="accent5"/>
            </a:solidFill>
            <a:prstDash val="solid"/>
          </a:ln>
        </p:spPr>
      </p:sp>
      <p:sp>
        <p:nvSpPr>
          <p:cNvPr id="12" name="Shape 8"/>
          <p:cNvSpPr/>
          <p:nvPr/>
        </p:nvSpPr>
        <p:spPr>
          <a:xfrm>
            <a:off x="6565392" y="2313432"/>
            <a:ext cx="576072" cy="576072"/>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6703649" y="2451689"/>
            <a:ext cx="299557" cy="299557"/>
          </a:xfrm>
          <a:prstGeom prst="rect">
            <a:avLst/>
          </a:prstGeom>
        </p:spPr>
      </p:pic>
      <p:sp>
        <p:nvSpPr>
          <p:cNvPr id="14" name="Text 9"/>
          <p:cNvSpPr txBox="1"/>
          <p:nvPr/>
        </p:nvSpPr>
        <p:spPr>
          <a:xfrm>
            <a:off x="7315200" y="2240280"/>
            <a:ext cx="4190695" cy="731520"/>
          </a:xfrm>
          <a:prstGeom prst="rect">
            <a:avLst/>
          </a:prstGeom>
          <a:noFill/>
          <a:ln/>
        </p:spPr>
        <p:txBody>
          <a:bodyPr wrap="square" lIns="0" tIns="0" rIns="0" bIns="0" rtlCol="0" anchor="ctr"/>
          <a:lstStyle/>
          <a:p>
            <a:pPr indent="0" marL="0">
              <a:buNone/>
            </a:pPr>
            <a:r>
              <a:rPr lang="en-US" sz="1500" b="1" dirty="0">
                <a:solidFill>
                  <a:schemeClr val="tx1"/>
                </a:solidFill>
              </a:rPr>
              <a:t>LOGO ADANTO Angelo</a:t>
            </a:r>
            <a:endParaRPr lang="en-US" sz="1500" dirty="0"/>
          </a:p>
          <a:p>
            <a:pPr indent="0" marL="0">
              <a:buNone/>
            </a:pPr>
            <a:r>
              <a:rPr lang="en-US" sz="1200" dirty="0">
                <a:solidFill>
                  <a:schemeClr val="tx2"/>
                </a:solidFill>
              </a:rPr>
              <a:t>Logiciel embarqué et station sol</a:t>
            </a:r>
            <a:endParaRPr lang="en-US" sz="1500" dirty="0"/>
          </a:p>
        </p:txBody>
      </p:sp>
      <p:sp>
        <p:nvSpPr>
          <p:cNvPr id="15" name="Membre Cédric"/>
          <p:cNvSpPr/>
          <p:nvPr/>
        </p:nvSpPr>
        <p:spPr>
          <a:xfrm>
            <a:off x="6400800" y="3191256"/>
            <a:ext cx="5242255" cy="868680"/>
          </a:xfrm>
          <a:prstGeom prst="roundRect">
            <a:avLst>
              <a:gd name="adj" fmla="val 12632"/>
            </a:avLst>
          </a:prstGeom>
          <a:solidFill>
            <a:schemeClr val="bg2">
              <a:alpha val="90000"/>
            </a:schemeClr>
          </a:solidFill>
          <a:ln w="12700">
            <a:solidFill>
              <a:schemeClr val="accent5"/>
            </a:solidFill>
            <a:prstDash val="solid"/>
          </a:ln>
        </p:spPr>
      </p:sp>
      <p:sp>
        <p:nvSpPr>
          <p:cNvPr id="16" name="Shape 11"/>
          <p:cNvSpPr/>
          <p:nvPr/>
        </p:nvSpPr>
        <p:spPr>
          <a:xfrm>
            <a:off x="6565392" y="3337560"/>
            <a:ext cx="576072" cy="576072"/>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6703649" y="3475817"/>
            <a:ext cx="299557" cy="299557"/>
          </a:xfrm>
          <a:prstGeom prst="rect">
            <a:avLst/>
          </a:prstGeom>
        </p:spPr>
      </p:pic>
      <p:sp>
        <p:nvSpPr>
          <p:cNvPr id="18" name="Text 12"/>
          <p:cNvSpPr txBox="1"/>
          <p:nvPr/>
        </p:nvSpPr>
        <p:spPr>
          <a:xfrm>
            <a:off x="7315200" y="3264408"/>
            <a:ext cx="4190695" cy="731520"/>
          </a:xfrm>
          <a:prstGeom prst="rect">
            <a:avLst/>
          </a:prstGeom>
          <a:noFill/>
          <a:ln/>
        </p:spPr>
        <p:txBody>
          <a:bodyPr wrap="square" lIns="0" tIns="0" rIns="0" bIns="0" rtlCol="0" anchor="ctr"/>
          <a:lstStyle/>
          <a:p>
            <a:pPr indent="0" marL="0">
              <a:buNone/>
            </a:pPr>
            <a:r>
              <a:rPr lang="en-US" sz="1500" b="1" dirty="0">
                <a:solidFill>
                  <a:schemeClr val="tx1"/>
                </a:solidFill>
              </a:rPr>
              <a:t>KODJOVI Eli Cédric Ankou</a:t>
            </a:r>
            <a:endParaRPr lang="en-US" sz="1500" dirty="0"/>
          </a:p>
          <a:p>
            <a:pPr indent="0" marL="0">
              <a:buNone/>
            </a:pPr>
            <a:r>
              <a:rPr lang="en-US" sz="1200" dirty="0">
                <a:solidFill>
                  <a:schemeClr val="tx2"/>
                </a:solidFill>
              </a:rPr>
              <a:t>Back-end, programme de vol et documentation</a:t>
            </a:r>
            <a:endParaRPr lang="en-US" sz="1500" dirty="0"/>
          </a:p>
        </p:txBody>
      </p:sp>
      <p:sp>
        <p:nvSpPr>
          <p:cNvPr id="19" name="Membre Makafui"/>
          <p:cNvSpPr/>
          <p:nvPr/>
        </p:nvSpPr>
        <p:spPr>
          <a:xfrm>
            <a:off x="6400800" y="4215384"/>
            <a:ext cx="5242255" cy="868680"/>
          </a:xfrm>
          <a:prstGeom prst="roundRect">
            <a:avLst>
              <a:gd name="adj" fmla="val 12632"/>
            </a:avLst>
          </a:prstGeom>
          <a:solidFill>
            <a:schemeClr val="bg2">
              <a:alpha val="90000"/>
            </a:schemeClr>
          </a:solidFill>
          <a:ln w="12700">
            <a:solidFill>
              <a:schemeClr val="accent5"/>
            </a:solidFill>
            <a:prstDash val="solid"/>
          </a:ln>
        </p:spPr>
      </p:sp>
      <p:sp>
        <p:nvSpPr>
          <p:cNvPr id="20" name="Shape 14"/>
          <p:cNvSpPr/>
          <p:nvPr/>
        </p:nvSpPr>
        <p:spPr>
          <a:xfrm>
            <a:off x="6565392" y="4361688"/>
            <a:ext cx="576072" cy="576072"/>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6703649" y="4499945"/>
            <a:ext cx="299557" cy="299557"/>
          </a:xfrm>
          <a:prstGeom prst="rect">
            <a:avLst/>
          </a:prstGeom>
        </p:spPr>
      </p:pic>
      <p:sp>
        <p:nvSpPr>
          <p:cNvPr id="22" name="Text 15"/>
          <p:cNvSpPr txBox="1"/>
          <p:nvPr/>
        </p:nvSpPr>
        <p:spPr>
          <a:xfrm>
            <a:off x="7315200" y="4288536"/>
            <a:ext cx="4190695" cy="731520"/>
          </a:xfrm>
          <a:prstGeom prst="rect">
            <a:avLst/>
          </a:prstGeom>
          <a:noFill/>
          <a:ln/>
        </p:spPr>
        <p:txBody>
          <a:bodyPr wrap="square" lIns="0" tIns="0" rIns="0" bIns="0" rtlCol="0" anchor="ctr"/>
          <a:lstStyle/>
          <a:p>
            <a:pPr indent="0" marL="0">
              <a:buNone/>
            </a:pPr>
            <a:r>
              <a:rPr lang="en-US" sz="1500" b="1" dirty="0">
                <a:solidFill>
                  <a:schemeClr val="tx1"/>
                </a:solidFill>
              </a:rPr>
              <a:t>de MEDEIROS Makafui Komlan Léopoldo</a:t>
            </a:r>
            <a:endParaRPr lang="en-US" sz="1500" dirty="0"/>
          </a:p>
          <a:p>
            <a:pPr indent="0" marL="0">
              <a:buNone/>
            </a:pPr>
            <a:r>
              <a:rPr lang="en-US" sz="1200" dirty="0">
                <a:solidFill>
                  <a:schemeClr val="tx2"/>
                </a:solidFill>
              </a:rPr>
              <a:t>Réseaux, télémétrie et sécurité</a:t>
            </a:r>
            <a:endParaRPr lang="en-US" sz="1500" dirty="0"/>
          </a:p>
        </p:txBody>
      </p:sp>
      <p:sp>
        <p:nvSpPr>
          <p:cNvPr id="23" name="Membre Roger"/>
          <p:cNvSpPr/>
          <p:nvPr/>
        </p:nvSpPr>
        <p:spPr>
          <a:xfrm>
            <a:off x="6400800" y="5239512"/>
            <a:ext cx="5242255" cy="868680"/>
          </a:xfrm>
          <a:prstGeom prst="roundRect">
            <a:avLst>
              <a:gd name="adj" fmla="val 12632"/>
            </a:avLst>
          </a:prstGeom>
          <a:solidFill>
            <a:schemeClr val="bg2">
              <a:alpha val="90000"/>
            </a:schemeClr>
          </a:solidFill>
          <a:ln w="12700">
            <a:solidFill>
              <a:schemeClr val="accent5"/>
            </a:solidFill>
            <a:prstDash val="solid"/>
          </a:ln>
        </p:spPr>
      </p:sp>
      <p:sp>
        <p:nvSpPr>
          <p:cNvPr id="24" name="Shape 17"/>
          <p:cNvSpPr/>
          <p:nvPr/>
        </p:nvSpPr>
        <p:spPr>
          <a:xfrm>
            <a:off x="6565392" y="5385816"/>
            <a:ext cx="576072" cy="576072"/>
          </a:xfrm>
          <a:prstGeom prst="ellipse">
            <a:avLst/>
          </a:prstGeom>
          <a:solidFill>
            <a:schemeClr val="accent1"/>
          </a:solidFill>
          <a:ln/>
        </p:spPr>
      </p:sp>
      <p:pic>
        <p:nvPicPr>
          <p:cNvPr id="25" name="Image 5" descr="preencoded.png">    </p:cNvPr>
          <p:cNvPicPr>
            <a:picLocks noChangeAspect="1"/>
          </p:cNvPicPr>
          <p:nvPr/>
        </p:nvPicPr>
        <p:blipFill>
          <a:blip r:embed="rId6"/>
          <a:stretch>
            <a:fillRect/>
          </a:stretch>
        </p:blipFill>
        <p:spPr>
          <a:xfrm>
            <a:off x="6703649" y="5524073"/>
            <a:ext cx="299557" cy="299557"/>
          </a:xfrm>
          <a:prstGeom prst="rect">
            <a:avLst/>
          </a:prstGeom>
        </p:spPr>
      </p:pic>
      <p:sp>
        <p:nvSpPr>
          <p:cNvPr id="26" name="Text 18"/>
          <p:cNvSpPr txBox="1"/>
          <p:nvPr/>
        </p:nvSpPr>
        <p:spPr>
          <a:xfrm>
            <a:off x="7315200" y="5312664"/>
            <a:ext cx="4190695" cy="731520"/>
          </a:xfrm>
          <a:prstGeom prst="rect">
            <a:avLst/>
          </a:prstGeom>
          <a:noFill/>
          <a:ln/>
        </p:spPr>
        <p:txBody>
          <a:bodyPr wrap="square" lIns="0" tIns="0" rIns="0" bIns="0" rtlCol="0" anchor="ctr"/>
          <a:lstStyle/>
          <a:p>
            <a:pPr indent="0" marL="0">
              <a:buNone/>
            </a:pPr>
            <a:r>
              <a:rPr lang="en-US" sz="1500" b="1" dirty="0">
                <a:solidFill>
                  <a:schemeClr val="tx1"/>
                </a:solidFill>
              </a:rPr>
              <a:t>KAINWANG Roger</a:t>
            </a:r>
            <a:endParaRPr lang="en-US" sz="1500" dirty="0"/>
          </a:p>
          <a:p>
            <a:pPr indent="0" marL="0">
              <a:buNone/>
            </a:pPr>
            <a:r>
              <a:rPr lang="en-US" sz="1200" dirty="0">
                <a:solidFill>
                  <a:schemeClr val="tx2"/>
                </a:solidFill>
              </a:rPr>
              <a:t>Intelligence artificielle et données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Le besoin : des pistes sûres, en permanence</a:t>
            </a:r>
            <a:endParaRPr lang="en-US" sz="3200" dirty="0"/>
          </a:p>
        </p:txBody>
      </p:sp>
      <p:sp>
        <p:nvSpPr>
          <p:cNvPr id="3" name="Intervenant Cédric"/>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Cédric</a:t>
            </a:r>
            <a:endParaRPr lang="en-US" sz="1400" dirty="0"/>
          </a:p>
          <a:p>
            <a:pPr indent="0" marL="0">
              <a:buNone/>
            </a:pPr>
            <a:r>
              <a:rPr lang="en-US" sz="1000" dirty="0">
                <a:solidFill>
                  <a:schemeClr val="tx2"/>
                </a:solidFill>
              </a:rPr>
              <a:t>Back-end et programme de vol</a:t>
            </a:r>
            <a:endParaRPr lang="en-US" sz="1400" dirty="0"/>
          </a:p>
        </p:txBody>
      </p:sp>
      <p:sp>
        <p:nvSpPr>
          <p:cNvPr id="8" name="Débris sur piste (FOD)"/>
          <p:cNvSpPr/>
          <p:nvPr/>
        </p:nvSpPr>
        <p:spPr>
          <a:xfrm>
            <a:off x="548640" y="1508760"/>
            <a:ext cx="6035040" cy="1188720"/>
          </a:xfrm>
          <a:prstGeom prst="roundRect">
            <a:avLst>
              <a:gd name="adj" fmla="val 9231"/>
            </a:avLst>
          </a:prstGeom>
          <a:solidFill>
            <a:schemeClr val="bg2">
              <a:alpha val="90000"/>
            </a:schemeClr>
          </a:solidFill>
          <a:ln w="12700">
            <a:solidFill>
              <a:schemeClr val="accent5"/>
            </a:solidFill>
            <a:prstDash val="solid"/>
          </a:ln>
        </p:spPr>
      </p:sp>
      <p:sp>
        <p:nvSpPr>
          <p:cNvPr id="9" name="Shape 5"/>
          <p:cNvSpPr/>
          <p:nvPr/>
        </p:nvSpPr>
        <p:spPr>
          <a:xfrm>
            <a:off x="777240" y="1764792"/>
            <a:ext cx="685800" cy="685800"/>
          </a:xfrm>
          <a:prstGeom prst="ellipse">
            <a:avLst/>
          </a:prstGeom>
          <a:solidFill>
            <a:schemeClr val="accent4"/>
          </a:solidFill>
          <a:ln/>
        </p:spPr>
      </p:sp>
      <p:pic>
        <p:nvPicPr>
          <p:cNvPr id="10" name="Image 1" descr="preencoded.png">    </p:cNvPr>
          <p:cNvPicPr>
            <a:picLocks noChangeAspect="1"/>
          </p:cNvPicPr>
          <p:nvPr/>
        </p:nvPicPr>
        <p:blipFill>
          <a:blip r:embed="rId2"/>
          <a:stretch>
            <a:fillRect/>
          </a:stretch>
        </p:blipFill>
        <p:spPr>
          <a:xfrm>
            <a:off x="941832" y="1929384"/>
            <a:ext cx="356616" cy="356616"/>
          </a:xfrm>
          <a:prstGeom prst="rect">
            <a:avLst/>
          </a:prstGeom>
        </p:spPr>
      </p:pic>
      <p:sp>
        <p:nvSpPr>
          <p:cNvPr id="11" name="Text 6"/>
          <p:cNvSpPr txBox="1"/>
          <p:nvPr/>
        </p:nvSpPr>
        <p:spPr>
          <a:xfrm>
            <a:off x="1691640" y="1600200"/>
            <a:ext cx="4709160" cy="1005840"/>
          </a:xfrm>
          <a:prstGeom prst="rect">
            <a:avLst/>
          </a:prstGeom>
          <a:noFill/>
          <a:ln/>
        </p:spPr>
        <p:txBody>
          <a:bodyPr wrap="square" lIns="0" tIns="0" rIns="0" bIns="0" rtlCol="0" anchor="ctr"/>
          <a:lstStyle/>
          <a:p>
            <a:pPr indent="0" marL="0">
              <a:buNone/>
            </a:pPr>
            <a:r>
              <a:rPr lang="en-US" sz="1800" b="1" dirty="0">
                <a:solidFill>
                  <a:schemeClr val="tx1"/>
                </a:solidFill>
              </a:rPr>
              <a:t>Débris sur piste (FOD)</a:t>
            </a:r>
            <a:endParaRPr lang="en-US" sz="1800" dirty="0"/>
          </a:p>
          <a:p>
            <a:pPr indent="0" marL="0">
              <a:buNone/>
            </a:pPr>
            <a:r>
              <a:rPr lang="en-US" sz="1400" dirty="0">
                <a:solidFill>
                  <a:schemeClr val="tx2"/>
                </a:solidFill>
              </a:rPr>
              <a:t>Boulon, fragment de pneu, outil : aspiré par un réacteur ou cause d'éclatement de pneu.</a:t>
            </a:r>
            <a:endParaRPr lang="en-US" sz="1800" dirty="0"/>
          </a:p>
        </p:txBody>
      </p:sp>
      <p:sp>
        <p:nvSpPr>
          <p:cNvPr id="12" name="Abords et clôtures"/>
          <p:cNvSpPr/>
          <p:nvPr/>
        </p:nvSpPr>
        <p:spPr>
          <a:xfrm>
            <a:off x="548640" y="2880360"/>
            <a:ext cx="6035040" cy="1188720"/>
          </a:xfrm>
          <a:prstGeom prst="roundRect">
            <a:avLst>
              <a:gd name="adj" fmla="val 9231"/>
            </a:avLst>
          </a:prstGeom>
          <a:solidFill>
            <a:schemeClr val="bg2">
              <a:alpha val="90000"/>
            </a:schemeClr>
          </a:solidFill>
          <a:ln w="12700">
            <a:solidFill>
              <a:schemeClr val="accent5"/>
            </a:solidFill>
            <a:prstDash val="solid"/>
          </a:ln>
        </p:spPr>
      </p:sp>
      <p:sp>
        <p:nvSpPr>
          <p:cNvPr id="13" name="Shape 8"/>
          <p:cNvSpPr/>
          <p:nvPr/>
        </p:nvSpPr>
        <p:spPr>
          <a:xfrm>
            <a:off x="777240" y="3136392"/>
            <a:ext cx="685800" cy="685800"/>
          </a:xfrm>
          <a:prstGeom prst="ellipse">
            <a:avLst/>
          </a:prstGeom>
          <a:solidFill>
            <a:schemeClr val="accent4"/>
          </a:solidFill>
          <a:ln/>
        </p:spPr>
      </p:sp>
      <p:pic>
        <p:nvPicPr>
          <p:cNvPr id="14" name="Image 2" descr="preencoded.png">    </p:cNvPr>
          <p:cNvPicPr>
            <a:picLocks noChangeAspect="1"/>
          </p:cNvPicPr>
          <p:nvPr/>
        </p:nvPicPr>
        <p:blipFill>
          <a:blip r:embed="rId3"/>
          <a:stretch>
            <a:fillRect/>
          </a:stretch>
        </p:blipFill>
        <p:spPr>
          <a:xfrm>
            <a:off x="941832" y="3300984"/>
            <a:ext cx="356616" cy="356616"/>
          </a:xfrm>
          <a:prstGeom prst="rect">
            <a:avLst/>
          </a:prstGeom>
        </p:spPr>
      </p:pic>
      <p:sp>
        <p:nvSpPr>
          <p:cNvPr id="15" name="Text 9"/>
          <p:cNvSpPr txBox="1"/>
          <p:nvPr/>
        </p:nvSpPr>
        <p:spPr>
          <a:xfrm>
            <a:off x="1691640" y="2971800"/>
            <a:ext cx="4709160" cy="1005840"/>
          </a:xfrm>
          <a:prstGeom prst="rect">
            <a:avLst/>
          </a:prstGeom>
          <a:noFill/>
          <a:ln/>
        </p:spPr>
        <p:txBody>
          <a:bodyPr wrap="square" lIns="0" tIns="0" rIns="0" bIns="0" rtlCol="0" anchor="ctr"/>
          <a:lstStyle/>
          <a:p>
            <a:pPr indent="0" marL="0">
              <a:buNone/>
            </a:pPr>
            <a:r>
              <a:rPr lang="en-US" sz="1800" b="1" dirty="0">
                <a:solidFill>
                  <a:schemeClr val="tx1"/>
                </a:solidFill>
              </a:rPr>
              <a:t>Abords et clôtures</a:t>
            </a:r>
            <a:endParaRPr lang="en-US" sz="1800" dirty="0"/>
          </a:p>
          <a:p>
            <a:pPr indent="0" marL="0">
              <a:buNone/>
            </a:pPr>
            <a:r>
              <a:rPr lang="en-US" sz="1400" dirty="0">
                <a:solidFill>
                  <a:schemeClr val="tx2"/>
                </a:solidFill>
              </a:rPr>
              <a:t>Zones étendues à inspecter régulièrement, souvent peu visibles depuis le sol.</a:t>
            </a:r>
            <a:endParaRPr lang="en-US" sz="1800" dirty="0"/>
          </a:p>
        </p:txBody>
      </p:sp>
      <p:sp>
        <p:nvSpPr>
          <p:cNvPr id="16" name="Intrusions"/>
          <p:cNvSpPr/>
          <p:nvPr/>
        </p:nvSpPr>
        <p:spPr>
          <a:xfrm>
            <a:off x="548640" y="4251960"/>
            <a:ext cx="6035040" cy="1188720"/>
          </a:xfrm>
          <a:prstGeom prst="roundRect">
            <a:avLst>
              <a:gd name="adj" fmla="val 9231"/>
            </a:avLst>
          </a:prstGeom>
          <a:solidFill>
            <a:schemeClr val="bg2">
              <a:alpha val="90000"/>
            </a:schemeClr>
          </a:solidFill>
          <a:ln w="12700">
            <a:solidFill>
              <a:schemeClr val="accent5"/>
            </a:solidFill>
            <a:prstDash val="solid"/>
          </a:ln>
        </p:spPr>
      </p:sp>
      <p:sp>
        <p:nvSpPr>
          <p:cNvPr id="17" name="Shape 11"/>
          <p:cNvSpPr/>
          <p:nvPr/>
        </p:nvSpPr>
        <p:spPr>
          <a:xfrm>
            <a:off x="777240" y="4507992"/>
            <a:ext cx="685800" cy="685800"/>
          </a:xfrm>
          <a:prstGeom prst="ellipse">
            <a:avLst/>
          </a:prstGeom>
          <a:solidFill>
            <a:schemeClr val="accent4"/>
          </a:solidFill>
          <a:ln/>
        </p:spPr>
      </p:sp>
      <p:pic>
        <p:nvPicPr>
          <p:cNvPr id="18" name="Image 3" descr="preencoded.png">    </p:cNvPr>
          <p:cNvPicPr>
            <a:picLocks noChangeAspect="1"/>
          </p:cNvPicPr>
          <p:nvPr/>
        </p:nvPicPr>
        <p:blipFill>
          <a:blip r:embed="rId4"/>
          <a:stretch>
            <a:fillRect/>
          </a:stretch>
        </p:blipFill>
        <p:spPr>
          <a:xfrm>
            <a:off x="941832" y="4672584"/>
            <a:ext cx="356616" cy="356616"/>
          </a:xfrm>
          <a:prstGeom prst="rect">
            <a:avLst/>
          </a:prstGeom>
        </p:spPr>
      </p:pic>
      <p:sp>
        <p:nvSpPr>
          <p:cNvPr id="19" name="Text 12"/>
          <p:cNvSpPr txBox="1"/>
          <p:nvPr/>
        </p:nvSpPr>
        <p:spPr>
          <a:xfrm>
            <a:off x="1691640" y="4343400"/>
            <a:ext cx="4709160" cy="1005840"/>
          </a:xfrm>
          <a:prstGeom prst="rect">
            <a:avLst/>
          </a:prstGeom>
          <a:noFill/>
          <a:ln/>
        </p:spPr>
        <p:txBody>
          <a:bodyPr wrap="square" lIns="0" tIns="0" rIns="0" bIns="0" rtlCol="0" anchor="ctr"/>
          <a:lstStyle/>
          <a:p>
            <a:pPr indent="0" marL="0">
              <a:buNone/>
            </a:pPr>
            <a:r>
              <a:rPr lang="en-US" sz="1800" b="1" dirty="0">
                <a:solidFill>
                  <a:schemeClr val="tx1"/>
                </a:solidFill>
              </a:rPr>
              <a:t>Intrusions</a:t>
            </a:r>
            <a:endParaRPr lang="en-US" sz="1800" dirty="0"/>
          </a:p>
          <a:p>
            <a:pPr indent="0" marL="0">
              <a:buNone/>
            </a:pPr>
            <a:r>
              <a:rPr lang="en-US" sz="1400" dirty="0">
                <a:solidFill>
                  <a:schemeClr val="tx2"/>
                </a:solidFill>
              </a:rPr>
              <a:t>Personnes ou véhicules non autorisés près des pistes et des taxiways.</a:t>
            </a:r>
            <a:endParaRPr lang="en-US" sz="1800" dirty="0"/>
          </a:p>
        </p:txBody>
      </p:sp>
      <p:sp>
        <p:nvSpPr>
          <p:cNvPr id="20" name="Limites"/>
          <p:cNvSpPr/>
          <p:nvPr/>
        </p:nvSpPr>
        <p:spPr>
          <a:xfrm>
            <a:off x="6949440" y="1508760"/>
            <a:ext cx="4693615" cy="2514600"/>
          </a:xfrm>
          <a:prstGeom prst="roundRect">
            <a:avLst>
              <a:gd name="adj" fmla="val 4364"/>
            </a:avLst>
          </a:prstGeom>
          <a:solidFill>
            <a:schemeClr val="bg2">
              <a:alpha val="90000"/>
            </a:schemeClr>
          </a:solidFill>
          <a:ln w="12700">
            <a:solidFill>
              <a:schemeClr val="accent5"/>
            </a:solidFill>
            <a:prstDash val="solid"/>
          </a:ln>
        </p:spPr>
      </p:sp>
      <p:sp>
        <p:nvSpPr>
          <p:cNvPr id="21" name="Text 14"/>
          <p:cNvSpPr txBox="1"/>
          <p:nvPr/>
        </p:nvSpPr>
        <p:spPr>
          <a:xfrm>
            <a:off x="7223760" y="1645920"/>
            <a:ext cx="4144975" cy="411480"/>
          </a:xfrm>
          <a:prstGeom prst="rect">
            <a:avLst/>
          </a:prstGeom>
          <a:noFill/>
          <a:ln/>
        </p:spPr>
        <p:txBody>
          <a:bodyPr wrap="square" lIns="0" tIns="0" rIns="0" bIns="0" rtlCol="0" anchor="ctr"/>
          <a:lstStyle/>
          <a:p>
            <a:pPr indent="0" marL="0">
              <a:buNone/>
            </a:pPr>
            <a:r>
              <a:rPr lang="en-US" sz="1700" b="1" dirty="0">
                <a:solidFill>
                  <a:schemeClr val="accent2"/>
                </a:solidFill>
              </a:rPr>
              <a:t>Inspections manuelles : leurs limites</a:t>
            </a:r>
            <a:endParaRPr lang="en-US" sz="1700" dirty="0"/>
          </a:p>
        </p:txBody>
      </p:sp>
      <p:sp>
        <p:nvSpPr>
          <p:cNvPr id="22" name="Text 15"/>
          <p:cNvSpPr txBox="1"/>
          <p:nvPr/>
        </p:nvSpPr>
        <p:spPr>
          <a:xfrm>
            <a:off x="7223760" y="2103120"/>
            <a:ext cx="4144975"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Lentes et mobilisant la piste</a:t>
            </a:r>
            <a:endParaRPr lang="en-US" sz="1500" dirty="0"/>
          </a:p>
          <a:p>
            <a:pPr marL="342900" indent="-342900">
              <a:spcAft>
                <a:spcPts val="600"/>
              </a:spcAft>
              <a:buSzPct val="100000"/>
              <a:buChar char="•"/>
            </a:pPr>
            <a:r>
              <a:rPr lang="en-US" sz="1500" dirty="0">
                <a:solidFill>
                  <a:schemeClr val="tx2"/>
                </a:solidFill>
              </a:rPr>
              <a:t>Dépendantes de l'attention humaine</a:t>
            </a:r>
            <a:endParaRPr lang="en-US" sz="1500" dirty="0"/>
          </a:p>
          <a:p>
            <a:pPr marL="342900" indent="-342900">
              <a:spcAft>
                <a:spcPts val="600"/>
              </a:spcAft>
              <a:buSzPct val="100000"/>
              <a:buChar char="•"/>
            </a:pPr>
            <a:r>
              <a:rPr lang="en-US" sz="1500" dirty="0">
                <a:solidFill>
                  <a:schemeClr val="tx2"/>
                </a:solidFill>
              </a:rPr>
              <a:t>Difficiles la nuit et sur grandes surfaces</a:t>
            </a:r>
            <a:endParaRPr lang="en-US" sz="1500" dirty="0"/>
          </a:p>
          <a:p>
            <a:pPr marL="342900" indent="-342900">
              <a:spcAft>
                <a:spcPts val="600"/>
              </a:spcAft>
              <a:buSzPct val="100000"/>
              <a:buChar char="•"/>
            </a:pPr>
            <a:r>
              <a:rPr lang="en-US" sz="1500" dirty="0">
                <a:solidFill>
                  <a:schemeClr val="tx2"/>
                </a:solidFill>
              </a:rPr>
              <a:t>Traçabilité limitée des constats</a:t>
            </a:r>
            <a:endParaRPr lang="en-US" sz="1500" dirty="0"/>
          </a:p>
        </p:txBody>
      </p:sp>
      <p:sp>
        <p:nvSpPr>
          <p:cNvPr id="23" name="Besoin"/>
          <p:cNvSpPr/>
          <p:nvPr/>
        </p:nvSpPr>
        <p:spPr>
          <a:xfrm>
            <a:off x="6949440" y="4206240"/>
            <a:ext cx="4693615" cy="1691640"/>
          </a:xfrm>
          <a:prstGeom prst="roundRect">
            <a:avLst>
              <a:gd name="adj" fmla="val 6486"/>
            </a:avLst>
          </a:prstGeom>
          <a:solidFill>
            <a:schemeClr val="bg2">
              <a:alpha val="90000"/>
            </a:schemeClr>
          </a:solidFill>
          <a:ln w="19050">
            <a:solidFill>
              <a:schemeClr val="accent1"/>
            </a:solidFill>
            <a:prstDash val="solid"/>
          </a:ln>
        </p:spPr>
      </p:sp>
      <p:sp>
        <p:nvSpPr>
          <p:cNvPr id="24" name="Shape 17"/>
          <p:cNvSpPr/>
          <p:nvPr/>
        </p:nvSpPr>
        <p:spPr>
          <a:xfrm>
            <a:off x="7223760" y="4526280"/>
            <a:ext cx="548640" cy="548640"/>
          </a:xfrm>
          <a:prstGeom prst="ellipse">
            <a:avLst/>
          </a:prstGeom>
          <a:solidFill>
            <a:schemeClr val="accent3"/>
          </a:solidFill>
          <a:ln/>
        </p:spPr>
      </p:sp>
      <p:pic>
        <p:nvPicPr>
          <p:cNvPr id="25" name="Image 4" descr="preencoded.png">    </p:cNvPr>
          <p:cNvPicPr>
            <a:picLocks noChangeAspect="1"/>
          </p:cNvPicPr>
          <p:nvPr/>
        </p:nvPicPr>
        <p:blipFill>
          <a:blip r:embed="rId5"/>
          <a:stretch>
            <a:fillRect/>
          </a:stretch>
        </p:blipFill>
        <p:spPr>
          <a:xfrm>
            <a:off x="7355434" y="4657954"/>
            <a:ext cx="285293" cy="285293"/>
          </a:xfrm>
          <a:prstGeom prst="rect">
            <a:avLst/>
          </a:prstGeom>
        </p:spPr>
      </p:pic>
      <p:sp>
        <p:nvSpPr>
          <p:cNvPr id="26" name="Text 18"/>
          <p:cNvSpPr txBox="1"/>
          <p:nvPr/>
        </p:nvSpPr>
        <p:spPr>
          <a:xfrm>
            <a:off x="7955280" y="4297680"/>
            <a:ext cx="3504895" cy="1508760"/>
          </a:xfrm>
          <a:prstGeom prst="rect">
            <a:avLst/>
          </a:prstGeom>
          <a:noFill/>
          <a:ln/>
        </p:spPr>
        <p:txBody>
          <a:bodyPr wrap="square" lIns="0" tIns="0" rIns="0" bIns="0" rtlCol="0" anchor="ctr"/>
          <a:lstStyle/>
          <a:p>
            <a:pPr indent="0" marL="0">
              <a:buNone/>
            </a:pPr>
            <a:r>
              <a:rPr lang="en-US" sz="1700" b="1" dirty="0">
                <a:solidFill>
                  <a:schemeClr val="accent3"/>
                </a:solidFill>
              </a:rPr>
              <a:t>Notre réponse</a:t>
            </a:r>
            <a:endParaRPr lang="en-US" sz="1700" dirty="0"/>
          </a:p>
          <a:p>
            <a:pPr indent="0" marL="0">
              <a:buNone/>
            </a:pPr>
            <a:r>
              <a:rPr lang="en-US" sz="1500" dirty="0">
                <a:solidFill>
                  <a:schemeClr val="tx1"/>
                </a:solidFill>
              </a:rPr>
              <a:t>Une autonomie intelligente : inspecter vite, depuis les airs, et alerter immédiatement.</a:t>
            </a:r>
            <a:endParaRPr lang="en-US" sz="17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Conception aéronautique : VTOL hybride</a:t>
            </a:r>
            <a:endParaRPr lang="en-US" sz="3200" dirty="0"/>
          </a:p>
        </p:txBody>
      </p:sp>
      <p:sp>
        <p:nvSpPr>
          <p:cNvPr id="3" name="Intervenant Israel"/>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pic>
        <p:nvPicPr>
          <p:cNvPr id="8" name="Image 1" descr="/home/user/video-sentinelle-aerienne/pitch/assets/3d_sa1_assemble.png">    </p:cNvPr>
          <p:cNvPicPr>
            <a:picLocks noChangeAspect="1"/>
          </p:cNvPicPr>
          <p:nvPr/>
        </p:nvPicPr>
        <p:blipFill>
          <a:blip r:embed="rId2"/>
          <a:stretch>
            <a:fillRect/>
          </a:stretch>
        </p:blipFill>
        <p:spPr>
          <a:xfrm>
            <a:off x="5806440" y="1371600"/>
            <a:ext cx="5852160" cy="2889504"/>
          </a:xfrm>
          <a:prstGeom prst="rect">
            <a:avLst/>
          </a:prstGeom>
        </p:spPr>
      </p:pic>
      <p:sp>
        <p:nvSpPr>
          <p:cNvPr id="9" name="Text 4"/>
          <p:cNvSpPr txBox="1"/>
          <p:nvPr/>
        </p:nvSpPr>
        <p:spPr>
          <a:xfrm>
            <a:off x="548640" y="146304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Modélisation 3D complète sous SolidWorks</a:t>
            </a:r>
            <a:endParaRPr lang="en-US" sz="1600" dirty="0"/>
          </a:p>
          <a:p>
            <a:pPr marL="342900" indent="-342900">
              <a:spcAft>
                <a:spcPts val="800"/>
              </a:spcAft>
              <a:buSzPct val="100000"/>
              <a:buChar char="•"/>
            </a:pPr>
            <a:r>
              <a:rPr lang="en-US" sz="1600" dirty="0">
                <a:solidFill>
                  <a:schemeClr val="tx1"/>
                </a:solidFill>
              </a:rPr>
              <a:t>Voilure fixe pour la croisière</a:t>
            </a:r>
            <a:endParaRPr lang="en-US" sz="1600" dirty="0"/>
          </a:p>
          <a:p>
            <a:pPr marL="342900" indent="-342900">
              <a:spcAft>
                <a:spcPts val="800"/>
              </a:spcAft>
              <a:buSzPct val="100000"/>
              <a:buChar char="•"/>
            </a:pPr>
            <a:r>
              <a:rPr lang="en-US" sz="1600" dirty="0">
                <a:solidFill>
                  <a:schemeClr val="tx1"/>
                </a:solidFill>
              </a:rPr>
              <a:t>Rotors verticaux pour décollage et atterrissage</a:t>
            </a:r>
            <a:endParaRPr lang="en-US" sz="1600" dirty="0"/>
          </a:p>
          <a:p>
            <a:pPr marL="342900" indent="-342900">
              <a:spcAft>
                <a:spcPts val="800"/>
              </a:spcAft>
              <a:buSzPct val="100000"/>
              <a:buChar char="•"/>
            </a:pPr>
            <a:r>
              <a:rPr lang="en-US" sz="1600" dirty="0">
                <a:solidFill>
                  <a:schemeClr val="tx1"/>
                </a:solidFill>
              </a:rPr>
              <a:t>Propulsion de croisière bimoteur sur poutres</a:t>
            </a:r>
            <a:endParaRPr lang="en-US" sz="1600" dirty="0"/>
          </a:p>
          <a:p>
            <a:pPr marL="342900" indent="-342900">
              <a:spcAft>
                <a:spcPts val="800"/>
              </a:spcAft>
              <a:buSzPct val="100000"/>
              <a:buChar char="•"/>
            </a:pPr>
            <a:r>
              <a:rPr lang="en-US" sz="1600" dirty="0">
                <a:solidFill>
                  <a:schemeClr val="tx1"/>
                </a:solidFill>
              </a:rPr>
              <a:t>Cellule carbone / composite ; antennes en zones fibre de verre</a:t>
            </a:r>
            <a:endParaRPr lang="en-US" sz="1600" dirty="0"/>
          </a:p>
          <a:p>
            <a:pPr marL="342900" indent="-342900">
              <a:spcAft>
                <a:spcPts val="800"/>
              </a:spcAft>
              <a:buSzPct val="100000"/>
              <a:buChar char="•"/>
            </a:pPr>
            <a:r>
              <a:rPr lang="en-US" sz="1600" dirty="0">
                <a:solidFill>
                  <a:schemeClr val="tx1"/>
                </a:solidFill>
              </a:rPr>
              <a:t>Cartes de distribution et câblage conçus par l'équipe</a:t>
            </a:r>
            <a:endParaRPr lang="en-US" sz="1600" dirty="0"/>
          </a:p>
        </p:txBody>
      </p:sp>
      <p:sp>
        <p:nvSpPr>
          <p:cNvPr id="10" name="Décollage vertical sans piste"/>
          <p:cNvSpPr/>
          <p:nvPr/>
        </p:nvSpPr>
        <p:spPr>
          <a:xfrm>
            <a:off x="548640" y="4800600"/>
            <a:ext cx="5440680" cy="1097280"/>
          </a:xfrm>
          <a:prstGeom prst="roundRect">
            <a:avLst>
              <a:gd name="adj" fmla="val 10000"/>
            </a:avLst>
          </a:prstGeom>
          <a:solidFill>
            <a:schemeClr val="bg2">
              <a:alpha val="90000"/>
            </a:schemeClr>
          </a:solidFill>
          <a:ln w="12700">
            <a:solidFill>
              <a:schemeClr val="accent5"/>
            </a:solidFill>
            <a:prstDash val="solid"/>
          </a:ln>
        </p:spPr>
      </p:sp>
      <p:sp>
        <p:nvSpPr>
          <p:cNvPr id="11" name="Shape 6"/>
          <p:cNvSpPr/>
          <p:nvPr/>
        </p:nvSpPr>
        <p:spPr>
          <a:xfrm>
            <a:off x="777240" y="5029200"/>
            <a:ext cx="640080" cy="64008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930859" y="5182819"/>
            <a:ext cx="332842" cy="332842"/>
          </a:xfrm>
          <a:prstGeom prst="rect">
            <a:avLst/>
          </a:prstGeom>
        </p:spPr>
      </p:pic>
      <p:sp>
        <p:nvSpPr>
          <p:cNvPr id="13" name="Text 7"/>
          <p:cNvSpPr txBox="1"/>
          <p:nvPr/>
        </p:nvSpPr>
        <p:spPr>
          <a:xfrm>
            <a:off x="1600200" y="4910328"/>
            <a:ext cx="4251960" cy="877824"/>
          </a:xfrm>
          <a:prstGeom prst="rect">
            <a:avLst/>
          </a:prstGeom>
          <a:noFill/>
          <a:ln/>
        </p:spPr>
        <p:txBody>
          <a:bodyPr wrap="square" lIns="0" tIns="0" rIns="0" bIns="0" rtlCol="0" anchor="ctr"/>
          <a:lstStyle/>
          <a:p>
            <a:pPr indent="0" marL="0">
              <a:buNone/>
            </a:pPr>
            <a:r>
              <a:rPr lang="en-US" sz="1700" b="1" dirty="0">
                <a:solidFill>
                  <a:schemeClr val="tx1"/>
                </a:solidFill>
              </a:rPr>
              <a:t>Décollage vertical sans piste</a:t>
            </a:r>
            <a:endParaRPr lang="en-US" sz="1700" dirty="0"/>
          </a:p>
          <a:p>
            <a:pPr indent="0" marL="0">
              <a:buNone/>
            </a:pPr>
            <a:r>
              <a:rPr lang="en-US" sz="1400" dirty="0">
                <a:solidFill>
                  <a:schemeClr val="tx2"/>
                </a:solidFill>
              </a:rPr>
              <a:t>Depuis toute zone dégagée, même confinée</a:t>
            </a:r>
            <a:endParaRPr lang="en-US" sz="1700" dirty="0"/>
          </a:p>
        </p:txBody>
      </p:sp>
      <p:sp>
        <p:nvSpPr>
          <p:cNvPr id="14" name="Grande autonomie en croisière"/>
          <p:cNvSpPr/>
          <p:nvPr/>
        </p:nvSpPr>
        <p:spPr>
          <a:xfrm>
            <a:off x="6172200" y="4800600"/>
            <a:ext cx="5440680" cy="1097280"/>
          </a:xfrm>
          <a:prstGeom prst="roundRect">
            <a:avLst>
              <a:gd name="adj" fmla="val 10000"/>
            </a:avLst>
          </a:prstGeom>
          <a:solidFill>
            <a:schemeClr val="bg2">
              <a:alpha val="90000"/>
            </a:schemeClr>
          </a:solidFill>
          <a:ln w="12700">
            <a:solidFill>
              <a:schemeClr val="accent5"/>
            </a:solidFill>
            <a:prstDash val="solid"/>
          </a:ln>
        </p:spPr>
      </p:sp>
      <p:sp>
        <p:nvSpPr>
          <p:cNvPr id="15" name="Shape 9"/>
          <p:cNvSpPr/>
          <p:nvPr/>
        </p:nvSpPr>
        <p:spPr>
          <a:xfrm>
            <a:off x="6400800" y="5029200"/>
            <a:ext cx="640080" cy="640080"/>
          </a:xfrm>
          <a:prstGeom prst="ellipse">
            <a:avLst/>
          </a:prstGeom>
          <a:solidFill>
            <a:schemeClr val="accent2"/>
          </a:solidFill>
          <a:ln/>
        </p:spPr>
      </p:sp>
      <p:pic>
        <p:nvPicPr>
          <p:cNvPr id="16" name="Image 3" descr="preencoded.png">    </p:cNvPr>
          <p:cNvPicPr>
            <a:picLocks noChangeAspect="1"/>
          </p:cNvPicPr>
          <p:nvPr/>
        </p:nvPicPr>
        <p:blipFill>
          <a:blip r:embed="rId4"/>
          <a:stretch>
            <a:fillRect/>
          </a:stretch>
        </p:blipFill>
        <p:spPr>
          <a:xfrm>
            <a:off x="6554419" y="5182819"/>
            <a:ext cx="332842" cy="332842"/>
          </a:xfrm>
          <a:prstGeom prst="rect">
            <a:avLst/>
          </a:prstGeom>
        </p:spPr>
      </p:pic>
      <p:sp>
        <p:nvSpPr>
          <p:cNvPr id="17" name="Text 10"/>
          <p:cNvSpPr txBox="1"/>
          <p:nvPr/>
        </p:nvSpPr>
        <p:spPr>
          <a:xfrm>
            <a:off x="7223760" y="4910328"/>
            <a:ext cx="4251960" cy="877824"/>
          </a:xfrm>
          <a:prstGeom prst="rect">
            <a:avLst/>
          </a:prstGeom>
          <a:noFill/>
          <a:ln/>
        </p:spPr>
        <p:txBody>
          <a:bodyPr wrap="square" lIns="0" tIns="0" rIns="0" bIns="0" rtlCol="0" anchor="ctr"/>
          <a:lstStyle/>
          <a:p>
            <a:pPr indent="0" marL="0">
              <a:buNone/>
            </a:pPr>
            <a:r>
              <a:rPr lang="en-US" sz="1700" b="1" dirty="0">
                <a:solidFill>
                  <a:schemeClr val="tx1"/>
                </a:solidFill>
              </a:rPr>
              <a:t>Grande autonomie en croisière</a:t>
            </a:r>
            <a:endParaRPr lang="en-US" sz="1700" dirty="0"/>
          </a:p>
          <a:p>
            <a:pPr indent="0" marL="0">
              <a:buNone/>
            </a:pPr>
            <a:r>
              <a:rPr lang="en-US" sz="1400" dirty="0">
                <a:solidFill>
                  <a:schemeClr val="tx2"/>
                </a:solidFill>
              </a:rPr>
              <a:t>L'aile porte le drone : 30–45 min visées</a:t>
            </a:r>
            <a:endParaRPr lang="en-US" sz="1700" dirty="0"/>
          </a:p>
        </p:txBody>
      </p:sp>
      <p:sp>
        <p:nvSpPr>
          <p:cNvPr id="18" name="Text 11"/>
          <p:cNvSpPr txBox="1"/>
          <p:nvPr/>
        </p:nvSpPr>
        <p:spPr>
          <a:xfrm>
            <a:off x="5486400" y="4389120"/>
            <a:ext cx="6217920" cy="274320"/>
          </a:xfrm>
          <a:prstGeom prst="rect">
            <a:avLst/>
          </a:prstGeom>
          <a:noFill/>
          <a:ln/>
        </p:spPr>
        <p:txBody>
          <a:bodyPr wrap="square" lIns="0" tIns="0" rIns="0" bIns="0" rtlCol="0" anchor="ctr"/>
          <a:lstStyle/>
          <a:p>
            <a:pPr algn="r" indent="0" marL="0">
              <a:buNone/>
            </a:pPr>
            <a:r>
              <a:rPr lang="en-US" sz="1100" i="1" dirty="0">
                <a:solidFill>
                  <a:schemeClr val="tx2"/>
                </a:solidFill>
              </a:rPr>
              <a:t>Maquette 3D de conception du SA-1</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Architecture avionique : la sécurité d'abord</a:t>
            </a:r>
            <a:endParaRPr lang="en-US" sz="3200" dirty="0"/>
          </a:p>
        </p:txBody>
      </p:sp>
      <p:sp>
        <p:nvSpPr>
          <p:cNvPr id="3" name="Intervenant Makafui"/>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Makafui</a:t>
            </a:r>
            <a:endParaRPr lang="en-US" sz="1400" dirty="0"/>
          </a:p>
          <a:p>
            <a:pPr indent="0" marL="0">
              <a:buNone/>
            </a:pPr>
            <a:r>
              <a:rPr lang="en-US" sz="1000" dirty="0">
                <a:solidFill>
                  <a:schemeClr val="tx2"/>
                </a:solidFill>
              </a:rPr>
              <a:t>Réseaux et sécurité</a:t>
            </a:r>
            <a:endParaRPr lang="en-US" sz="1400" dirty="0"/>
          </a:p>
        </p:txBody>
      </p:sp>
      <p:sp>
        <p:nvSpPr>
          <p:cNvPr id="8" name="Cœur 1 — Vol temps réel"/>
          <p:cNvSpPr/>
          <p:nvPr/>
        </p:nvSpPr>
        <p:spPr>
          <a:xfrm>
            <a:off x="548640" y="1463040"/>
            <a:ext cx="4572000" cy="2606040"/>
          </a:xfrm>
          <a:prstGeom prst="roundRect">
            <a:avLst>
              <a:gd name="adj" fmla="val 4211"/>
            </a:avLst>
          </a:prstGeom>
          <a:solidFill>
            <a:schemeClr val="bg2">
              <a:alpha val="90000"/>
            </a:schemeClr>
          </a:solidFill>
          <a:ln w="19050">
            <a:solidFill>
              <a:schemeClr val="accent1"/>
            </a:solidFill>
            <a:prstDash val="solid"/>
          </a:ln>
        </p:spPr>
      </p:sp>
      <p:sp>
        <p:nvSpPr>
          <p:cNvPr id="9" name="Shape 5"/>
          <p:cNvSpPr/>
          <p:nvPr/>
        </p:nvSpPr>
        <p:spPr>
          <a:xfrm>
            <a:off x="822960" y="173736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998525" y="1912925"/>
            <a:ext cx="380390" cy="380390"/>
          </a:xfrm>
          <a:prstGeom prst="rect">
            <a:avLst/>
          </a:prstGeom>
        </p:spPr>
      </p:pic>
      <p:sp>
        <p:nvSpPr>
          <p:cNvPr id="11" name="Text 6"/>
          <p:cNvSpPr txBox="1"/>
          <p:nvPr/>
        </p:nvSpPr>
        <p:spPr>
          <a:xfrm>
            <a:off x="1737360" y="1691640"/>
            <a:ext cx="3200400" cy="822960"/>
          </a:xfrm>
          <a:prstGeom prst="rect">
            <a:avLst/>
          </a:prstGeom>
          <a:noFill/>
          <a:ln/>
        </p:spPr>
        <p:txBody>
          <a:bodyPr wrap="square" lIns="0" tIns="0" rIns="0" bIns="0" rtlCol="0" anchor="ctr"/>
          <a:lstStyle/>
          <a:p>
            <a:pPr indent="0" marL="0">
              <a:buNone/>
            </a:pPr>
            <a:r>
              <a:rPr lang="en-US" sz="1900" b="1" dirty="0">
                <a:solidFill>
                  <a:schemeClr val="tx1"/>
                </a:solidFill>
              </a:rPr>
              <a:t>Cœur 1 — Vol temps réel</a:t>
            </a:r>
            <a:endParaRPr lang="en-US" sz="1900" dirty="0"/>
          </a:p>
          <a:p>
            <a:pPr indent="0" marL="0">
              <a:buNone/>
            </a:pPr>
            <a:r>
              <a:rPr lang="en-US" sz="1400" dirty="0">
                <a:solidFill>
                  <a:schemeClr val="accent1"/>
                </a:solidFill>
              </a:rPr>
              <a:t>STM32H743 · Cortex-M7 · 480 MHz</a:t>
            </a:r>
            <a:endParaRPr lang="en-US" sz="1900" dirty="0"/>
          </a:p>
        </p:txBody>
      </p:sp>
      <p:sp>
        <p:nvSpPr>
          <p:cNvPr id="12" name="Text 7"/>
          <p:cNvSpPr txBox="1"/>
          <p:nvPr/>
        </p:nvSpPr>
        <p:spPr>
          <a:xfrm>
            <a:off x="868680" y="2697480"/>
            <a:ext cx="402336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Stabilisation et gestion des moteurs</a:t>
            </a:r>
            <a:endParaRPr lang="en-US" sz="1500" dirty="0"/>
          </a:p>
          <a:p>
            <a:pPr marL="342900" indent="-342900">
              <a:spcAft>
                <a:spcPts val="400"/>
              </a:spcAft>
              <a:buSzPct val="100000"/>
              <a:buChar char="•"/>
            </a:pPr>
            <a:r>
              <a:rPr lang="en-US" sz="1500" dirty="0">
                <a:solidFill>
                  <a:schemeClr val="tx2"/>
                </a:solidFill>
              </a:rPr>
              <a:t>Fail-safe matériel</a:t>
            </a:r>
            <a:endParaRPr lang="en-US" sz="1500" dirty="0"/>
          </a:p>
          <a:p>
            <a:pPr marL="342900" indent="-342900">
              <a:spcAft>
                <a:spcPts val="400"/>
              </a:spcAft>
              <a:buSzPct val="100000"/>
              <a:buChar char="•"/>
            </a:pPr>
            <a:r>
              <a:rPr lang="en-US" sz="1500" dirty="0">
                <a:solidFill>
                  <a:schemeClr val="tx2"/>
                </a:solidFill>
              </a:rPr>
              <a:t>Retour automatique (RTH)</a:t>
            </a:r>
            <a:endParaRPr lang="en-US" sz="1500" dirty="0"/>
          </a:p>
          <a:p>
            <a:pPr marL="342900" indent="-342900">
              <a:spcAft>
                <a:spcPts val="400"/>
              </a:spcAft>
              <a:buSzPct val="100000"/>
              <a:buChar char="•"/>
            </a:pPr>
            <a:r>
              <a:rPr lang="en-US" sz="1500" dirty="0">
                <a:solidFill>
                  <a:schemeClr val="tx2"/>
                </a:solidFill>
              </a:rPr>
              <a:t>Fonctionne seul, sans l'IA</a:t>
            </a:r>
            <a:endParaRPr lang="en-US" sz="1500" dirty="0"/>
          </a:p>
        </p:txBody>
      </p:sp>
      <p:sp>
        <p:nvSpPr>
          <p:cNvPr id="13" name="Cœur 2 — Vision IA"/>
          <p:cNvSpPr/>
          <p:nvPr/>
        </p:nvSpPr>
        <p:spPr>
          <a:xfrm>
            <a:off x="7071055" y="1463040"/>
            <a:ext cx="4572000" cy="2606040"/>
          </a:xfrm>
          <a:prstGeom prst="roundRect">
            <a:avLst>
              <a:gd name="adj" fmla="val 4211"/>
            </a:avLst>
          </a:prstGeom>
          <a:solidFill>
            <a:schemeClr val="bg2">
              <a:alpha val="90000"/>
            </a:schemeClr>
          </a:solidFill>
          <a:ln w="19050">
            <a:solidFill>
              <a:schemeClr val="accent2"/>
            </a:solidFill>
            <a:prstDash val="solid"/>
          </a:ln>
        </p:spPr>
      </p:sp>
      <p:sp>
        <p:nvSpPr>
          <p:cNvPr id="14" name="Shape 9"/>
          <p:cNvSpPr/>
          <p:nvPr/>
        </p:nvSpPr>
        <p:spPr>
          <a:xfrm>
            <a:off x="7345375" y="1737360"/>
            <a:ext cx="731520" cy="73152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7520940" y="1912925"/>
            <a:ext cx="380390" cy="380390"/>
          </a:xfrm>
          <a:prstGeom prst="rect">
            <a:avLst/>
          </a:prstGeom>
        </p:spPr>
      </p:pic>
      <p:sp>
        <p:nvSpPr>
          <p:cNvPr id="16" name="Text 10"/>
          <p:cNvSpPr txBox="1"/>
          <p:nvPr/>
        </p:nvSpPr>
        <p:spPr>
          <a:xfrm>
            <a:off x="8259775" y="1691640"/>
            <a:ext cx="3200400" cy="822960"/>
          </a:xfrm>
          <a:prstGeom prst="rect">
            <a:avLst/>
          </a:prstGeom>
          <a:noFill/>
          <a:ln/>
        </p:spPr>
        <p:txBody>
          <a:bodyPr wrap="square" lIns="0" tIns="0" rIns="0" bIns="0" rtlCol="0" anchor="ctr"/>
          <a:lstStyle/>
          <a:p>
            <a:pPr indent="0" marL="0">
              <a:buNone/>
            </a:pPr>
            <a:r>
              <a:rPr lang="en-US" sz="1900" b="1" dirty="0">
                <a:solidFill>
                  <a:schemeClr val="tx1"/>
                </a:solidFill>
              </a:rPr>
              <a:t>Cœur 2 — Vision IA</a:t>
            </a:r>
            <a:endParaRPr lang="en-US" sz="1900" dirty="0"/>
          </a:p>
          <a:p>
            <a:pPr indent="0" marL="0">
              <a:buNone/>
            </a:pPr>
            <a:r>
              <a:rPr lang="en-US" sz="1400" dirty="0">
                <a:solidFill>
                  <a:schemeClr val="accent2"/>
                </a:solidFill>
              </a:rPr>
              <a:t>Raspberry Pi 5 + Hailo-8 (26 TOPS)</a:t>
            </a:r>
            <a:endParaRPr lang="en-US" sz="1900" dirty="0"/>
          </a:p>
        </p:txBody>
      </p:sp>
      <p:sp>
        <p:nvSpPr>
          <p:cNvPr id="17" name="Text 11"/>
          <p:cNvSpPr txBox="1"/>
          <p:nvPr/>
        </p:nvSpPr>
        <p:spPr>
          <a:xfrm>
            <a:off x="7391095" y="2697480"/>
            <a:ext cx="402336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Détection YOLOv8s à bord</a:t>
            </a:r>
            <a:endParaRPr lang="en-US" sz="1500" dirty="0"/>
          </a:p>
          <a:p>
            <a:pPr marL="342900" indent="-342900">
              <a:spcAft>
                <a:spcPts val="400"/>
              </a:spcAft>
              <a:buSzPct val="100000"/>
              <a:buChar char="•"/>
            </a:pPr>
            <a:r>
              <a:rPr lang="en-US" sz="1500" dirty="0">
                <a:solidFill>
                  <a:schemeClr val="tx2"/>
                </a:solidFill>
              </a:rPr>
              <a:t>Suivi et preuves d'alerte</a:t>
            </a:r>
            <a:endParaRPr lang="en-US" sz="1500" dirty="0"/>
          </a:p>
          <a:p>
            <a:pPr marL="342900" indent="-342900">
              <a:spcAft>
                <a:spcPts val="400"/>
              </a:spcAft>
              <a:buSzPct val="100000"/>
              <a:buChar char="•"/>
            </a:pPr>
            <a:r>
              <a:rPr lang="en-US" sz="1500" dirty="0">
                <a:solidFill>
                  <a:schemeClr val="tx2"/>
                </a:solidFill>
              </a:rPr>
              <a:t>Journal hors connexion</a:t>
            </a:r>
            <a:endParaRPr lang="en-US" sz="1500" dirty="0"/>
          </a:p>
          <a:p>
            <a:pPr marL="342900" indent="-342900">
              <a:spcAft>
                <a:spcPts val="400"/>
              </a:spcAft>
              <a:buSzPct val="100000"/>
              <a:buChar char="•"/>
            </a:pPr>
            <a:r>
              <a:rPr lang="en-US" sz="1500" dirty="0">
                <a:solidFill>
                  <a:schemeClr val="tx2"/>
                </a:solidFill>
              </a:rPr>
              <a:t>Ne commande jamais les moteurs</a:t>
            </a:r>
            <a:endParaRPr lang="en-US" sz="1500" dirty="0"/>
          </a:p>
        </p:txBody>
      </p:sp>
      <p:sp>
        <p:nvSpPr>
          <p:cNvPr id="18" name="Shape 12"/>
          <p:cNvSpPr/>
          <p:nvPr/>
        </p:nvSpPr>
        <p:spPr>
          <a:xfrm>
            <a:off x="5257800" y="2423160"/>
            <a:ext cx="1676095" cy="548640"/>
          </a:xfrm>
          <a:prstGeom prst="leftRightArrow">
            <a:avLst/>
          </a:prstGeom>
          <a:solidFill>
            <a:schemeClr val="accent5"/>
          </a:solidFill>
          <a:ln/>
        </p:spPr>
      </p:sp>
      <p:sp>
        <p:nvSpPr>
          <p:cNvPr id="19" name="Text 13"/>
          <p:cNvSpPr txBox="1"/>
          <p:nvPr/>
        </p:nvSpPr>
        <p:spPr>
          <a:xfrm>
            <a:off x="5257800" y="1965960"/>
            <a:ext cx="1676095" cy="365760"/>
          </a:xfrm>
          <a:prstGeom prst="rect">
            <a:avLst/>
          </a:prstGeom>
          <a:noFill/>
          <a:ln/>
        </p:spPr>
        <p:txBody>
          <a:bodyPr wrap="square" lIns="0" tIns="0" rIns="0" bIns="0" rtlCol="0" anchor="ctr"/>
          <a:lstStyle/>
          <a:p>
            <a:pPr algn="ctr" indent="0" marL="0">
              <a:buNone/>
            </a:pPr>
            <a:r>
              <a:rPr lang="en-US" sz="1400" b="1" dirty="0">
                <a:solidFill>
                  <a:schemeClr val="tx1"/>
                </a:solidFill>
              </a:rPr>
              <a:t>MAVLink</a:t>
            </a:r>
            <a:endParaRPr lang="en-US" sz="1400" dirty="0"/>
          </a:p>
        </p:txBody>
      </p:sp>
      <p:sp>
        <p:nvSpPr>
          <p:cNvPr id="20" name="Text 14"/>
          <p:cNvSpPr txBox="1"/>
          <p:nvPr/>
        </p:nvSpPr>
        <p:spPr>
          <a:xfrm>
            <a:off x="5257800" y="3063240"/>
            <a:ext cx="1676095" cy="640080"/>
          </a:xfrm>
          <a:prstGeom prst="rect">
            <a:avLst/>
          </a:prstGeom>
          <a:noFill/>
          <a:ln/>
        </p:spPr>
        <p:txBody>
          <a:bodyPr wrap="square" lIns="0" tIns="0" rIns="0" bIns="0" rtlCol="0" anchor="ctr"/>
          <a:lstStyle/>
          <a:p>
            <a:pPr algn="ctr" indent="0" marL="0">
              <a:buNone/>
            </a:pPr>
            <a:r>
              <a:rPr lang="en-US" sz="1200" dirty="0">
                <a:solidFill>
                  <a:schemeClr val="tx2"/>
                </a:solidFill>
              </a:rPr>
              <a:t>position → IA</a:t>
            </a:r>
            <a:endParaRPr lang="en-US" sz="1200" dirty="0"/>
          </a:p>
          <a:p>
            <a:pPr algn="ctr" indent="0" marL="0">
              <a:buNone/>
            </a:pPr>
            <a:r>
              <a:rPr lang="en-US" sz="1200" dirty="0">
                <a:solidFill>
                  <a:schemeClr val="tx2"/>
                </a:solidFill>
              </a:rPr>
              <a:t>alertes → sol</a:t>
            </a:r>
            <a:endParaRPr lang="en-US" sz="1200" dirty="0"/>
          </a:p>
        </p:txBody>
      </p:sp>
      <p:sp>
        <p:nvSpPr>
          <p:cNvPr id="21" name="Text 15"/>
          <p:cNvSpPr txBox="1"/>
          <p:nvPr/>
        </p:nvSpPr>
        <p:spPr>
          <a:xfrm>
            <a:off x="548640" y="4343400"/>
            <a:ext cx="5486400" cy="411480"/>
          </a:xfrm>
          <a:prstGeom prst="rect">
            <a:avLst/>
          </a:prstGeom>
          <a:noFill/>
          <a:ln/>
        </p:spPr>
        <p:txBody>
          <a:bodyPr wrap="square" lIns="0" tIns="0" rIns="0" bIns="0" rtlCol="0" anchor="ctr"/>
          <a:lstStyle/>
          <a:p>
            <a:pPr indent="0" marL="0">
              <a:buNone/>
            </a:pPr>
            <a:r>
              <a:rPr lang="en-US" sz="1800" b="1" dirty="0">
                <a:solidFill>
                  <a:schemeClr val="tx1"/>
                </a:solidFill>
              </a:rPr>
              <a:t>Pourquoi séparer ?</a:t>
            </a:r>
            <a:endParaRPr lang="en-US" sz="1800" dirty="0"/>
          </a:p>
        </p:txBody>
      </p:sp>
      <p:sp>
        <p:nvSpPr>
          <p:cNvPr id="22" name="Shape 16"/>
          <p:cNvSpPr/>
          <p:nvPr/>
        </p:nvSpPr>
        <p:spPr>
          <a:xfrm>
            <a:off x="548640" y="4892040"/>
            <a:ext cx="548640" cy="548640"/>
          </a:xfrm>
          <a:prstGeom prst="ellipse">
            <a:avLst/>
          </a:prstGeom>
          <a:solidFill>
            <a:schemeClr val="accent3"/>
          </a:solidFill>
          <a:ln/>
        </p:spPr>
      </p:sp>
      <p:pic>
        <p:nvPicPr>
          <p:cNvPr id="23" name="Image 3" descr="preencoded.png">    </p:cNvPr>
          <p:cNvPicPr>
            <a:picLocks noChangeAspect="1"/>
          </p:cNvPicPr>
          <p:nvPr/>
        </p:nvPicPr>
        <p:blipFill>
          <a:blip r:embed="rId4"/>
          <a:stretch>
            <a:fillRect/>
          </a:stretch>
        </p:blipFill>
        <p:spPr>
          <a:xfrm>
            <a:off x="680314" y="5023714"/>
            <a:ext cx="285293" cy="285293"/>
          </a:xfrm>
          <a:prstGeom prst="rect">
            <a:avLst/>
          </a:prstGeom>
        </p:spPr>
      </p:pic>
      <p:sp>
        <p:nvSpPr>
          <p:cNvPr id="24" name="Text 17"/>
          <p:cNvSpPr txBox="1"/>
          <p:nvPr/>
        </p:nvSpPr>
        <p:spPr>
          <a:xfrm>
            <a:off x="1234440" y="4846320"/>
            <a:ext cx="2926080" cy="685800"/>
          </a:xfrm>
          <a:prstGeom prst="rect">
            <a:avLst/>
          </a:prstGeom>
          <a:noFill/>
          <a:ln/>
        </p:spPr>
        <p:txBody>
          <a:bodyPr wrap="square" lIns="0" tIns="0" rIns="0" bIns="0" rtlCol="0" anchor="ctr"/>
          <a:lstStyle/>
          <a:p>
            <a:pPr indent="0" marL="0">
              <a:buNone/>
            </a:pPr>
            <a:r>
              <a:rPr lang="en-US" sz="1400" dirty="0">
                <a:solidFill>
                  <a:schemeClr val="tx2"/>
                </a:solidFill>
              </a:rPr>
              <a:t>Une panne, un plantage ou une surchauffe de l'IA n'affecte pas le vol</a:t>
            </a:r>
            <a:endParaRPr lang="en-US" sz="1400" dirty="0"/>
          </a:p>
        </p:txBody>
      </p:sp>
      <p:sp>
        <p:nvSpPr>
          <p:cNvPr id="25" name="Shape 18"/>
          <p:cNvSpPr/>
          <p:nvPr/>
        </p:nvSpPr>
        <p:spPr>
          <a:xfrm>
            <a:off x="4297680" y="4892040"/>
            <a:ext cx="548640" cy="548640"/>
          </a:xfrm>
          <a:prstGeom prst="ellipse">
            <a:avLst/>
          </a:prstGeom>
          <a:solidFill>
            <a:schemeClr val="accent3"/>
          </a:solidFill>
          <a:ln/>
        </p:spPr>
      </p:sp>
      <p:pic>
        <p:nvPicPr>
          <p:cNvPr id="26" name="Image 4" descr="preencoded.png">    </p:cNvPr>
          <p:cNvPicPr>
            <a:picLocks noChangeAspect="1"/>
          </p:cNvPicPr>
          <p:nvPr/>
        </p:nvPicPr>
        <p:blipFill>
          <a:blip r:embed="rId5"/>
          <a:stretch>
            <a:fillRect/>
          </a:stretch>
        </p:blipFill>
        <p:spPr>
          <a:xfrm>
            <a:off x="4429354" y="5023714"/>
            <a:ext cx="285293" cy="285293"/>
          </a:xfrm>
          <a:prstGeom prst="rect">
            <a:avLst/>
          </a:prstGeom>
        </p:spPr>
      </p:pic>
      <p:sp>
        <p:nvSpPr>
          <p:cNvPr id="27" name="Text 19"/>
          <p:cNvSpPr txBox="1"/>
          <p:nvPr/>
        </p:nvSpPr>
        <p:spPr>
          <a:xfrm>
            <a:off x="4983480" y="4846320"/>
            <a:ext cx="2926080" cy="685800"/>
          </a:xfrm>
          <a:prstGeom prst="rect">
            <a:avLst/>
          </a:prstGeom>
          <a:noFill/>
          <a:ln/>
        </p:spPr>
        <p:txBody>
          <a:bodyPr wrap="square" lIns="0" tIns="0" rIns="0" bIns="0" rtlCol="0" anchor="ctr"/>
          <a:lstStyle/>
          <a:p>
            <a:pPr indent="0" marL="0">
              <a:buNone/>
            </a:pPr>
            <a:r>
              <a:rPr lang="en-US" sz="1400" dirty="0">
                <a:solidFill>
                  <a:schemeClr val="tx2"/>
                </a:solidFill>
              </a:rPr>
              <a:t>Le contrôleur garde un temps réel garanti, sans charge parasite</a:t>
            </a:r>
            <a:endParaRPr lang="en-US" sz="1400" dirty="0"/>
          </a:p>
        </p:txBody>
      </p:sp>
      <p:sp>
        <p:nvSpPr>
          <p:cNvPr id="28" name="Shape 20"/>
          <p:cNvSpPr/>
          <p:nvPr/>
        </p:nvSpPr>
        <p:spPr>
          <a:xfrm>
            <a:off x="8046720" y="4892040"/>
            <a:ext cx="548640" cy="548640"/>
          </a:xfrm>
          <a:prstGeom prst="ellipse">
            <a:avLst/>
          </a:prstGeom>
          <a:solidFill>
            <a:schemeClr val="accent3"/>
          </a:solidFill>
          <a:ln/>
        </p:spPr>
      </p:sp>
      <p:pic>
        <p:nvPicPr>
          <p:cNvPr id="29" name="Image 5" descr="preencoded.png">    </p:cNvPr>
          <p:cNvPicPr>
            <a:picLocks noChangeAspect="1"/>
          </p:cNvPicPr>
          <p:nvPr/>
        </p:nvPicPr>
        <p:blipFill>
          <a:blip r:embed="rId6"/>
          <a:stretch>
            <a:fillRect/>
          </a:stretch>
        </p:blipFill>
        <p:spPr>
          <a:xfrm>
            <a:off x="8178394" y="5023714"/>
            <a:ext cx="285293" cy="285293"/>
          </a:xfrm>
          <a:prstGeom prst="rect">
            <a:avLst/>
          </a:prstGeom>
        </p:spPr>
      </p:pic>
      <p:sp>
        <p:nvSpPr>
          <p:cNvPr id="30" name="Text 21"/>
          <p:cNvSpPr txBox="1"/>
          <p:nvPr/>
        </p:nvSpPr>
        <p:spPr>
          <a:xfrm>
            <a:off x="8732520" y="4846320"/>
            <a:ext cx="2926080" cy="685800"/>
          </a:xfrm>
          <a:prstGeom prst="rect">
            <a:avLst/>
          </a:prstGeom>
          <a:noFill/>
          <a:ln/>
        </p:spPr>
        <p:txBody>
          <a:bodyPr wrap="square" lIns="0" tIns="0" rIns="0" bIns="0" rtlCol="0" anchor="ctr"/>
          <a:lstStyle/>
          <a:p>
            <a:pPr indent="0" marL="0">
              <a:buNone/>
            </a:pPr>
            <a:r>
              <a:rPr lang="en-US" sz="1400" dirty="0">
                <a:solidFill>
                  <a:schemeClr val="tx2"/>
                </a:solidFill>
              </a:rPr>
              <a:t>RTH et fail-safe restent actifs même module IA éteint</a:t>
            </a:r>
            <a:endParaRPr lang="en-US" sz="1400" dirty="0"/>
          </a:p>
        </p:txBody>
      </p:sp>
      <p:sp>
        <p:nvSpPr>
          <p:cNvPr id="31" name="Text 22"/>
          <p:cNvSpPr txBox="1"/>
          <p:nvPr/>
        </p:nvSpPr>
        <p:spPr>
          <a:xfrm>
            <a:off x="548640" y="5760720"/>
            <a:ext cx="10972800" cy="274320"/>
          </a:xfrm>
          <a:prstGeom prst="rect">
            <a:avLst/>
          </a:prstGeom>
          <a:noFill/>
          <a:ln/>
        </p:spPr>
        <p:txBody>
          <a:bodyPr wrap="square" lIns="0" tIns="0" rIns="0" bIns="0" rtlCol="0" anchor="ctr"/>
          <a:lstStyle/>
          <a:p>
            <a:pPr indent="0" marL="0">
              <a:buNone/>
            </a:pPr>
            <a:r>
              <a:rPr lang="en-US" sz="1100" i="1" dirty="0">
                <a:solidFill>
                  <a:schemeClr val="tx2"/>
                </a:solidFill>
              </a:rPr>
              <a:t>Contrôleur du commerce compatible (type Pixhawk / Matek H743) conservé en secours.</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Module d'IA embarquée (Edge AI)</a:t>
            </a:r>
            <a:endParaRPr lang="en-US" sz="3200" dirty="0"/>
          </a:p>
        </p:txBody>
      </p:sp>
      <p:sp>
        <p:nvSpPr>
          <p:cNvPr id="3" name="Intervenant Roger"/>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Roger</a:t>
            </a:r>
            <a:endParaRPr lang="en-US" sz="1400" dirty="0"/>
          </a:p>
          <a:p>
            <a:pPr indent="0" marL="0">
              <a:buNone/>
            </a:pPr>
            <a:r>
              <a:rPr lang="en-US" sz="1000" dirty="0">
                <a:solidFill>
                  <a:schemeClr val="tx2"/>
                </a:solidFill>
              </a:rPr>
              <a:t>IA et données</a:t>
            </a:r>
            <a:endParaRPr lang="en-US" sz="1400" dirty="0"/>
          </a:p>
        </p:txBody>
      </p:sp>
      <p:pic>
        <p:nvPicPr>
          <p:cNvPr id="8" name="Image 1" descr="/home/user/video-sentinelle-aerienne/pitch/assets/chaine_ia_bande.png">    </p:cNvPr>
          <p:cNvPicPr>
            <a:picLocks noChangeAspect="1"/>
          </p:cNvPicPr>
          <p:nvPr/>
        </p:nvPicPr>
        <p:blipFill>
          <a:blip r:embed="rId2"/>
          <a:stretch>
            <a:fillRect/>
          </a:stretch>
        </p:blipFill>
        <p:spPr>
          <a:xfrm>
            <a:off x="182880" y="1280160"/>
            <a:ext cx="11795760" cy="2084832"/>
          </a:xfrm>
          <a:prstGeom prst="rect">
            <a:avLst/>
          </a:prstGeom>
        </p:spPr>
      </p:pic>
      <p:sp>
        <p:nvSpPr>
          <p:cNvPr id="9" name="26 TOPS"/>
          <p:cNvSpPr/>
          <p:nvPr/>
        </p:nvSpPr>
        <p:spPr>
          <a:xfrm>
            <a:off x="548640" y="3611880"/>
            <a:ext cx="2615184" cy="1691640"/>
          </a:xfrm>
          <a:prstGeom prst="roundRect">
            <a:avLst>
              <a:gd name="adj" fmla="val 6486"/>
            </a:avLst>
          </a:prstGeom>
          <a:solidFill>
            <a:schemeClr val="bg2">
              <a:alpha val="90000"/>
            </a:schemeClr>
          </a:solidFill>
          <a:ln w="12700">
            <a:solidFill>
              <a:schemeClr val="accent5"/>
            </a:solidFill>
            <a:prstDash val="solid"/>
          </a:ln>
        </p:spPr>
      </p:sp>
      <p:sp>
        <p:nvSpPr>
          <p:cNvPr id="10" name="Text 5"/>
          <p:cNvSpPr txBox="1"/>
          <p:nvPr/>
        </p:nvSpPr>
        <p:spPr>
          <a:xfrm>
            <a:off x="777240" y="3794760"/>
            <a:ext cx="2157984" cy="685800"/>
          </a:xfrm>
          <a:prstGeom prst="rect">
            <a:avLst/>
          </a:prstGeom>
          <a:noFill/>
          <a:ln/>
        </p:spPr>
        <p:txBody>
          <a:bodyPr wrap="square" lIns="0" tIns="0" rIns="0" bIns="0" rtlCol="0" anchor="ctr"/>
          <a:lstStyle/>
          <a:p>
            <a:pPr indent="0" marL="0">
              <a:buNone/>
            </a:pPr>
            <a:r>
              <a:rPr lang="en-US" sz="3200" b="1" dirty="0">
                <a:solidFill>
                  <a:schemeClr val="accent1"/>
                </a:solidFill>
              </a:rPr>
              <a:t>26 TOPS</a:t>
            </a:r>
            <a:endParaRPr lang="en-US" sz="3200" dirty="0"/>
          </a:p>
        </p:txBody>
      </p:sp>
      <p:sp>
        <p:nvSpPr>
          <p:cNvPr id="11" name="Text 6"/>
          <p:cNvSpPr txBox="1"/>
          <p:nvPr/>
        </p:nvSpPr>
        <p:spPr>
          <a:xfrm>
            <a:off x="777240" y="4507992"/>
            <a:ext cx="2157984" cy="685800"/>
          </a:xfrm>
          <a:prstGeom prst="rect">
            <a:avLst/>
          </a:prstGeom>
          <a:noFill/>
          <a:ln/>
        </p:spPr>
        <p:txBody>
          <a:bodyPr wrap="square" lIns="0" tIns="0" rIns="0" bIns="0" rtlCol="0" anchor="t"/>
          <a:lstStyle/>
          <a:p>
            <a:pPr indent="0" marL="0">
              <a:buNone/>
            </a:pPr>
            <a:r>
              <a:rPr lang="en-US" sz="1300" dirty="0">
                <a:solidFill>
                  <a:schemeClr val="tx2"/>
                </a:solidFill>
              </a:rPr>
              <a:t>Raspberry Pi 5 + AI HAT+ (NPU Hailo-8)</a:t>
            </a:r>
            <a:endParaRPr lang="en-US" sz="1300" dirty="0"/>
          </a:p>
        </p:txBody>
      </p:sp>
      <p:sp>
        <p:nvSpPr>
          <p:cNvPr id="12" name="YOLOv8s"/>
          <p:cNvSpPr/>
          <p:nvPr/>
        </p:nvSpPr>
        <p:spPr>
          <a:xfrm>
            <a:off x="3346704" y="3611880"/>
            <a:ext cx="2615184" cy="1691640"/>
          </a:xfrm>
          <a:prstGeom prst="roundRect">
            <a:avLst>
              <a:gd name="adj" fmla="val 6486"/>
            </a:avLst>
          </a:prstGeom>
          <a:solidFill>
            <a:schemeClr val="bg2">
              <a:alpha val="90000"/>
            </a:schemeClr>
          </a:solidFill>
          <a:ln w="12700">
            <a:solidFill>
              <a:schemeClr val="accent5"/>
            </a:solidFill>
            <a:prstDash val="solid"/>
          </a:ln>
        </p:spPr>
      </p:sp>
      <p:sp>
        <p:nvSpPr>
          <p:cNvPr id="13" name="Text 8"/>
          <p:cNvSpPr txBox="1"/>
          <p:nvPr/>
        </p:nvSpPr>
        <p:spPr>
          <a:xfrm>
            <a:off x="3575304" y="3794760"/>
            <a:ext cx="2157984" cy="685800"/>
          </a:xfrm>
          <a:prstGeom prst="rect">
            <a:avLst/>
          </a:prstGeom>
          <a:noFill/>
          <a:ln/>
        </p:spPr>
        <p:txBody>
          <a:bodyPr wrap="square" lIns="0" tIns="0" rIns="0" bIns="0" rtlCol="0" anchor="ctr"/>
          <a:lstStyle/>
          <a:p>
            <a:pPr indent="0" marL="0">
              <a:buNone/>
            </a:pPr>
            <a:r>
              <a:rPr lang="en-US" sz="3200" b="1" dirty="0">
                <a:solidFill>
                  <a:schemeClr val="accent1"/>
                </a:solidFill>
              </a:rPr>
              <a:t>YOLOv8s</a:t>
            </a:r>
            <a:endParaRPr lang="en-US" sz="3200" dirty="0"/>
          </a:p>
        </p:txBody>
      </p:sp>
      <p:sp>
        <p:nvSpPr>
          <p:cNvPr id="14" name="Text 9"/>
          <p:cNvSpPr txBox="1"/>
          <p:nvPr/>
        </p:nvSpPr>
        <p:spPr>
          <a:xfrm>
            <a:off x="3575304" y="4507992"/>
            <a:ext cx="2157984" cy="685800"/>
          </a:xfrm>
          <a:prstGeom prst="rect">
            <a:avLst/>
          </a:prstGeom>
          <a:noFill/>
          <a:ln/>
        </p:spPr>
        <p:txBody>
          <a:bodyPr wrap="square" lIns="0" tIns="0" rIns="0" bIns="0" rtlCol="0" anchor="t"/>
          <a:lstStyle/>
          <a:p>
            <a:pPr indent="0" marL="0">
              <a:buNone/>
            </a:pPr>
            <a:r>
              <a:rPr lang="en-US" sz="1300" dirty="0">
                <a:solidFill>
                  <a:schemeClr val="tx2"/>
                </a:solidFill>
              </a:rPr>
              <a:t>fine-tuning FOD-A (30 000+ débris) + images locales</a:t>
            </a:r>
            <a:endParaRPr lang="en-US" sz="1300" dirty="0"/>
          </a:p>
        </p:txBody>
      </p:sp>
      <p:sp>
        <p:nvSpPr>
          <p:cNvPr id="15" name="0 internet"/>
          <p:cNvSpPr/>
          <p:nvPr/>
        </p:nvSpPr>
        <p:spPr>
          <a:xfrm>
            <a:off x="6144768" y="3611880"/>
            <a:ext cx="2615184" cy="1691640"/>
          </a:xfrm>
          <a:prstGeom prst="roundRect">
            <a:avLst>
              <a:gd name="adj" fmla="val 6486"/>
            </a:avLst>
          </a:prstGeom>
          <a:solidFill>
            <a:schemeClr val="bg2">
              <a:alpha val="90000"/>
            </a:schemeClr>
          </a:solidFill>
          <a:ln w="12700">
            <a:solidFill>
              <a:schemeClr val="accent5"/>
            </a:solidFill>
            <a:prstDash val="solid"/>
          </a:ln>
        </p:spPr>
      </p:sp>
      <p:sp>
        <p:nvSpPr>
          <p:cNvPr id="16" name="Text 11"/>
          <p:cNvSpPr txBox="1"/>
          <p:nvPr/>
        </p:nvSpPr>
        <p:spPr>
          <a:xfrm>
            <a:off x="6373368" y="3794760"/>
            <a:ext cx="2157984" cy="685800"/>
          </a:xfrm>
          <a:prstGeom prst="rect">
            <a:avLst/>
          </a:prstGeom>
          <a:noFill/>
          <a:ln/>
        </p:spPr>
        <p:txBody>
          <a:bodyPr wrap="square" lIns="0" tIns="0" rIns="0" bIns="0" rtlCol="0" anchor="ctr"/>
          <a:lstStyle/>
          <a:p>
            <a:pPr indent="0" marL="0">
              <a:buNone/>
            </a:pPr>
            <a:r>
              <a:rPr lang="en-US" sz="2600" b="1" dirty="0">
                <a:solidFill>
                  <a:schemeClr val="accent3"/>
                </a:solidFill>
              </a:rPr>
              <a:t>0 internet</a:t>
            </a:r>
            <a:endParaRPr lang="en-US" sz="2600" dirty="0"/>
          </a:p>
        </p:txBody>
      </p:sp>
      <p:sp>
        <p:nvSpPr>
          <p:cNvPr id="17" name="Text 12"/>
          <p:cNvSpPr txBox="1"/>
          <p:nvPr/>
        </p:nvSpPr>
        <p:spPr>
          <a:xfrm>
            <a:off x="6373368" y="4507992"/>
            <a:ext cx="2157984" cy="685800"/>
          </a:xfrm>
          <a:prstGeom prst="rect">
            <a:avLst/>
          </a:prstGeom>
          <a:noFill/>
          <a:ln/>
        </p:spPr>
        <p:txBody>
          <a:bodyPr wrap="square" lIns="0" tIns="0" rIns="0" bIns="0" rtlCol="0" anchor="t"/>
          <a:lstStyle/>
          <a:p>
            <a:pPr indent="0" marL="0">
              <a:buNone/>
            </a:pPr>
            <a:r>
              <a:rPr lang="en-US" sz="1300" dirty="0">
                <a:solidFill>
                  <a:schemeClr val="tx2"/>
                </a:solidFill>
              </a:rPr>
              <a:t>inférence et journal des preuves à bord</a:t>
            </a:r>
            <a:endParaRPr lang="en-US" sz="1300" dirty="0"/>
          </a:p>
        </p:txBody>
      </p:sp>
      <p:sp>
        <p:nvSpPr>
          <p:cNvPr id="18" name="« À vérifier »"/>
          <p:cNvSpPr/>
          <p:nvPr/>
        </p:nvSpPr>
        <p:spPr>
          <a:xfrm>
            <a:off x="8942832" y="3611880"/>
            <a:ext cx="2615184" cy="1691640"/>
          </a:xfrm>
          <a:prstGeom prst="roundRect">
            <a:avLst>
              <a:gd name="adj" fmla="val 6486"/>
            </a:avLst>
          </a:prstGeom>
          <a:solidFill>
            <a:schemeClr val="bg2">
              <a:alpha val="90000"/>
            </a:schemeClr>
          </a:solidFill>
          <a:ln w="12700">
            <a:solidFill>
              <a:schemeClr val="accent5"/>
            </a:solidFill>
            <a:prstDash val="solid"/>
          </a:ln>
        </p:spPr>
      </p:sp>
      <p:sp>
        <p:nvSpPr>
          <p:cNvPr id="19" name="Text 14"/>
          <p:cNvSpPr txBox="1"/>
          <p:nvPr/>
        </p:nvSpPr>
        <p:spPr>
          <a:xfrm>
            <a:off x="9171432" y="3794760"/>
            <a:ext cx="2157984" cy="685800"/>
          </a:xfrm>
          <a:prstGeom prst="rect">
            <a:avLst/>
          </a:prstGeom>
          <a:noFill/>
          <a:ln/>
        </p:spPr>
        <p:txBody>
          <a:bodyPr wrap="square" lIns="0" tIns="0" rIns="0" bIns="0" rtlCol="0" anchor="ctr"/>
          <a:lstStyle/>
          <a:p>
            <a:pPr indent="0" marL="0">
              <a:buNone/>
            </a:pPr>
            <a:r>
              <a:rPr lang="en-US" sz="2600" b="1" dirty="0">
                <a:solidFill>
                  <a:schemeClr val="accent2"/>
                </a:solidFill>
              </a:rPr>
              <a:t>« À vérifier »</a:t>
            </a:r>
            <a:endParaRPr lang="en-US" sz="2600" dirty="0"/>
          </a:p>
        </p:txBody>
      </p:sp>
      <p:sp>
        <p:nvSpPr>
          <p:cNvPr id="20" name="Text 15"/>
          <p:cNvSpPr txBox="1"/>
          <p:nvPr/>
        </p:nvSpPr>
        <p:spPr>
          <a:xfrm>
            <a:off x="9171432" y="4507992"/>
            <a:ext cx="2157984" cy="685800"/>
          </a:xfrm>
          <a:prstGeom prst="rect">
            <a:avLst/>
          </a:prstGeom>
          <a:noFill/>
          <a:ln/>
        </p:spPr>
        <p:txBody>
          <a:bodyPr wrap="square" lIns="0" tIns="0" rIns="0" bIns="0" rtlCol="0" anchor="t"/>
          <a:lstStyle/>
          <a:p>
            <a:pPr indent="0" marL="0">
              <a:buNone/>
            </a:pPr>
            <a:r>
              <a:rPr lang="en-US" sz="1300" dirty="0">
                <a:solidFill>
                  <a:schemeClr val="tx2"/>
                </a:solidFill>
              </a:rPr>
              <a:t>objet inconnu signalé avec son image</a:t>
            </a:r>
            <a:endParaRPr lang="en-US" sz="1300" dirty="0"/>
          </a:p>
        </p:txBody>
      </p:sp>
      <p:sp>
        <p:nvSpPr>
          <p:cNvPr id="21" name="Text 16"/>
          <p:cNvSpPr txBox="1"/>
          <p:nvPr/>
        </p:nvSpPr>
        <p:spPr>
          <a:xfrm>
            <a:off x="548640" y="5577840"/>
            <a:ext cx="11064240" cy="365760"/>
          </a:xfrm>
          <a:prstGeom prst="rect">
            <a:avLst/>
          </a:prstGeom>
          <a:noFill/>
          <a:ln/>
        </p:spPr>
        <p:txBody>
          <a:bodyPr wrap="square" lIns="0" tIns="0" rIns="0" bIns="0" rtlCol="0" anchor="ctr"/>
          <a:lstStyle/>
          <a:p>
            <a:pPr indent="0" marL="0">
              <a:buNone/>
            </a:pPr>
            <a:r>
              <a:rPr lang="en-US" sz="1500" i="1" dirty="0">
                <a:solidFill>
                  <a:schemeClr val="accent1"/>
                </a:solidFill>
              </a:rPr>
              <a:t>Détecte personnes, véhicules et débris au sol · une alerte par objet suivi · la décision reste humaine.</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Station sol et communications</a:t>
            </a:r>
            <a:endParaRPr lang="en-US" sz="3200" dirty="0"/>
          </a:p>
        </p:txBody>
      </p:sp>
      <p:sp>
        <p:nvSpPr>
          <p:cNvPr id="3" name="Intervenant Angelo"/>
          <p:cNvSpPr/>
          <p:nvPr/>
        </p:nvSpPr>
        <p:spPr>
          <a:xfrm>
            <a:off x="647669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656813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677863" y="658368"/>
            <a:ext cx="237744" cy="237744"/>
          </a:xfrm>
          <a:prstGeom prst="rect">
            <a:avLst/>
          </a:prstGeom>
        </p:spPr>
      </p:pic>
      <p:sp>
        <p:nvSpPr>
          <p:cNvPr id="6" name="Text 3"/>
          <p:cNvSpPr txBox="1"/>
          <p:nvPr/>
        </p:nvSpPr>
        <p:spPr>
          <a:xfrm>
            <a:off x="713506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Angelo</a:t>
            </a:r>
            <a:endParaRPr lang="en-US" sz="1400" dirty="0"/>
          </a:p>
          <a:p>
            <a:pPr indent="0" marL="0">
              <a:buNone/>
            </a:pPr>
            <a:r>
              <a:rPr lang="en-US" sz="1000" dirty="0">
                <a:solidFill>
                  <a:schemeClr val="tx2"/>
                </a:solidFill>
              </a:rPr>
              <a:t>Logiciel et station sol</a:t>
            </a:r>
            <a:endParaRPr lang="en-US" sz="1400" dirty="0"/>
          </a:p>
        </p:txBody>
      </p:sp>
      <p:sp>
        <p:nvSpPr>
          <p:cNvPr id="7" name="Intervenant Makafui"/>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8" name="Shape 5"/>
          <p:cNvSpPr/>
          <p:nvPr/>
        </p:nvSpPr>
        <p:spPr>
          <a:xfrm>
            <a:off x="9219895" y="548640"/>
            <a:ext cx="457200" cy="45720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9329623" y="658368"/>
            <a:ext cx="237744" cy="237744"/>
          </a:xfrm>
          <a:prstGeom prst="rect">
            <a:avLst/>
          </a:prstGeom>
        </p:spPr>
      </p:pic>
      <p:sp>
        <p:nvSpPr>
          <p:cNvPr id="10" name="Text 6"/>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Makafui</a:t>
            </a:r>
            <a:endParaRPr lang="en-US" sz="1400" dirty="0"/>
          </a:p>
          <a:p>
            <a:pPr indent="0" marL="0">
              <a:buNone/>
            </a:pPr>
            <a:r>
              <a:rPr lang="en-US" sz="1000" dirty="0">
                <a:solidFill>
                  <a:schemeClr val="tx2"/>
                </a:solidFill>
              </a:rPr>
              <a:t>Réseaux et sécurité</a:t>
            </a:r>
            <a:endParaRPr lang="en-US" sz="1400" dirty="0"/>
          </a:p>
        </p:txBody>
      </p:sp>
      <p:sp>
        <p:nvSpPr>
          <p:cNvPr id="12" name="Logiciel et station sol"/>
          <p:cNvSpPr/>
          <p:nvPr/>
        </p:nvSpPr>
        <p:spPr>
          <a:xfrm>
            <a:off x="548640" y="1463040"/>
            <a:ext cx="5440680" cy="4434840"/>
          </a:xfrm>
          <a:prstGeom prst="roundRect">
            <a:avLst>
              <a:gd name="adj" fmla="val 2474"/>
            </a:avLst>
          </a:prstGeom>
          <a:solidFill>
            <a:schemeClr val="bg2">
              <a:alpha val="90000"/>
            </a:schemeClr>
          </a:solidFill>
          <a:ln w="12700">
            <a:solidFill>
              <a:schemeClr val="accent5"/>
            </a:solidFill>
            <a:prstDash val="solid"/>
          </a:ln>
        </p:spPr>
      </p:sp>
      <p:sp>
        <p:nvSpPr>
          <p:cNvPr id="13" name="Shape 8"/>
          <p:cNvSpPr/>
          <p:nvPr/>
        </p:nvSpPr>
        <p:spPr>
          <a:xfrm>
            <a:off x="822960" y="1737360"/>
            <a:ext cx="731520" cy="73152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998525" y="1912925"/>
            <a:ext cx="380390" cy="380390"/>
          </a:xfrm>
          <a:prstGeom prst="rect">
            <a:avLst/>
          </a:prstGeom>
        </p:spPr>
      </p:pic>
      <p:sp>
        <p:nvSpPr>
          <p:cNvPr id="15" name="Text 9"/>
          <p:cNvSpPr txBox="1"/>
          <p:nvPr/>
        </p:nvSpPr>
        <p:spPr>
          <a:xfrm>
            <a:off x="1737360" y="1828800"/>
            <a:ext cx="4069080" cy="548640"/>
          </a:xfrm>
          <a:prstGeom prst="rect">
            <a:avLst/>
          </a:prstGeom>
          <a:noFill/>
          <a:ln/>
        </p:spPr>
        <p:txBody>
          <a:bodyPr wrap="square" lIns="0" tIns="0" rIns="0" bIns="0" rtlCol="0" anchor="ctr"/>
          <a:lstStyle/>
          <a:p>
            <a:pPr indent="0" marL="0">
              <a:buNone/>
            </a:pPr>
            <a:r>
              <a:rPr lang="en-US" sz="2000" b="1" dirty="0">
                <a:solidFill>
                  <a:schemeClr val="tx1"/>
                </a:solidFill>
              </a:rPr>
              <a:t>Logiciel et station sol</a:t>
            </a:r>
            <a:endParaRPr lang="en-US" sz="2000" dirty="0"/>
          </a:p>
        </p:txBody>
      </p:sp>
      <p:sp>
        <p:nvSpPr>
          <p:cNvPr id="16" name="Text 10"/>
          <p:cNvSpPr txBox="1"/>
          <p:nvPr/>
        </p:nvSpPr>
        <p:spPr>
          <a:xfrm>
            <a:off x="868680" y="2743200"/>
            <a:ext cx="4892040" cy="2971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Station sol Flutter / web</a:t>
            </a:r>
            <a:endParaRPr lang="en-US" sz="1600" dirty="0"/>
          </a:p>
          <a:p>
            <a:pPr marL="342900" indent="-342900">
              <a:spcAft>
                <a:spcPts val="1000"/>
              </a:spcAft>
              <a:buSzPct val="100000"/>
              <a:buChar char="•"/>
            </a:pPr>
            <a:r>
              <a:rPr lang="en-US" sz="1600" dirty="0">
                <a:solidFill>
                  <a:schemeClr val="tx2"/>
                </a:solidFill>
              </a:rPr>
              <a:t>ArduPilot personnalisé avec délimitation de zone</a:t>
            </a:r>
            <a:endParaRPr lang="en-US" sz="1600" dirty="0"/>
          </a:p>
          <a:p>
            <a:pPr marL="342900" indent="-342900">
              <a:spcAft>
                <a:spcPts val="1000"/>
              </a:spcAft>
              <a:buSzPct val="100000"/>
              <a:buChar char="•"/>
            </a:pPr>
            <a:r>
              <a:rPr lang="en-US" sz="1600" dirty="0">
                <a:solidFill>
                  <a:schemeClr val="tx2"/>
                </a:solidFill>
              </a:rPr>
              <a:t>Télémétrie MAVLink en direct</a:t>
            </a:r>
            <a:endParaRPr lang="en-US" sz="1600" dirty="0"/>
          </a:p>
          <a:p>
            <a:pPr marL="342900" indent="-342900">
              <a:spcAft>
                <a:spcPts val="1000"/>
              </a:spcAft>
              <a:buSzPct val="100000"/>
              <a:buChar char="•"/>
            </a:pPr>
            <a:r>
              <a:rPr lang="en-US" sz="1600" dirty="0">
                <a:solidFill>
                  <a:schemeClr val="tx2"/>
                </a:solidFill>
              </a:rPr>
              <a:t>Alertes IA avec image + enregistrement vidéo</a:t>
            </a:r>
            <a:endParaRPr lang="en-US" sz="1600" dirty="0"/>
          </a:p>
          <a:p>
            <a:pPr marL="342900" indent="-342900">
              <a:spcAft>
                <a:spcPts val="1000"/>
              </a:spcAft>
              <a:buSzPct val="100000"/>
              <a:buChar char="•"/>
            </a:pPr>
            <a:r>
              <a:rPr lang="en-US" sz="1600" dirty="0">
                <a:solidFill>
                  <a:schemeClr val="tx2"/>
                </a:solidFill>
              </a:rPr>
              <a:t>Back-end : API REST, base MySQL, journal des vols</a:t>
            </a:r>
            <a:endParaRPr lang="en-US" sz="1600" dirty="0"/>
          </a:p>
        </p:txBody>
      </p:sp>
      <p:sp>
        <p:nvSpPr>
          <p:cNvPr id="17" name="Sécurité des communications"/>
          <p:cNvSpPr/>
          <p:nvPr/>
        </p:nvSpPr>
        <p:spPr>
          <a:xfrm>
            <a:off x="6172200" y="1463040"/>
            <a:ext cx="5440680" cy="4434840"/>
          </a:xfrm>
          <a:prstGeom prst="roundRect">
            <a:avLst>
              <a:gd name="adj" fmla="val 2474"/>
            </a:avLst>
          </a:prstGeom>
          <a:solidFill>
            <a:schemeClr val="bg2">
              <a:alpha val="90000"/>
            </a:schemeClr>
          </a:solidFill>
          <a:ln w="12700">
            <a:solidFill>
              <a:schemeClr val="accent5"/>
            </a:solidFill>
            <a:prstDash val="solid"/>
          </a:ln>
        </p:spPr>
      </p:sp>
      <p:sp>
        <p:nvSpPr>
          <p:cNvPr id="18" name="Shape 12"/>
          <p:cNvSpPr/>
          <p:nvPr/>
        </p:nvSpPr>
        <p:spPr>
          <a:xfrm>
            <a:off x="6446520" y="1737360"/>
            <a:ext cx="731520" cy="731520"/>
          </a:xfrm>
          <a:prstGeom prst="ellipse">
            <a:avLst/>
          </a:prstGeom>
          <a:solidFill>
            <a:schemeClr val="accent2"/>
          </a:solidFill>
          <a:ln/>
        </p:spPr>
      </p:sp>
      <p:pic>
        <p:nvPicPr>
          <p:cNvPr id="19" name="Image 3" descr="preencoded.png">    </p:cNvPr>
          <p:cNvPicPr>
            <a:picLocks noChangeAspect="1"/>
          </p:cNvPicPr>
          <p:nvPr/>
        </p:nvPicPr>
        <p:blipFill>
          <a:blip r:embed="rId4"/>
          <a:stretch>
            <a:fillRect/>
          </a:stretch>
        </p:blipFill>
        <p:spPr>
          <a:xfrm>
            <a:off x="6622085" y="1912925"/>
            <a:ext cx="380390" cy="380390"/>
          </a:xfrm>
          <a:prstGeom prst="rect">
            <a:avLst/>
          </a:prstGeom>
        </p:spPr>
      </p:pic>
      <p:sp>
        <p:nvSpPr>
          <p:cNvPr id="20" name="Text 13"/>
          <p:cNvSpPr txBox="1"/>
          <p:nvPr/>
        </p:nvSpPr>
        <p:spPr>
          <a:xfrm>
            <a:off x="7360920" y="1828800"/>
            <a:ext cx="4069080" cy="548640"/>
          </a:xfrm>
          <a:prstGeom prst="rect">
            <a:avLst/>
          </a:prstGeom>
          <a:noFill/>
          <a:ln/>
        </p:spPr>
        <p:txBody>
          <a:bodyPr wrap="square" lIns="0" tIns="0" rIns="0" bIns="0" rtlCol="0" anchor="ctr"/>
          <a:lstStyle/>
          <a:p>
            <a:pPr indent="0" marL="0">
              <a:buNone/>
            </a:pPr>
            <a:r>
              <a:rPr lang="en-US" sz="2000" b="1" dirty="0">
                <a:solidFill>
                  <a:schemeClr val="tx1"/>
                </a:solidFill>
              </a:rPr>
              <a:t>Sécurité des communications</a:t>
            </a:r>
            <a:endParaRPr lang="en-US" sz="2000" dirty="0"/>
          </a:p>
        </p:txBody>
      </p:sp>
      <p:sp>
        <p:nvSpPr>
          <p:cNvPr id="21" name="Text 14"/>
          <p:cNvSpPr txBox="1"/>
          <p:nvPr/>
        </p:nvSpPr>
        <p:spPr>
          <a:xfrm>
            <a:off x="6492240" y="2743200"/>
            <a:ext cx="4892040" cy="2971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Liaison chiffrée, messages MAVLink signés</a:t>
            </a:r>
            <a:endParaRPr lang="en-US" sz="1600" dirty="0"/>
          </a:p>
          <a:p>
            <a:pPr marL="342900" indent="-342900">
              <a:spcAft>
                <a:spcPts val="1000"/>
              </a:spcAft>
              <a:buSzPct val="100000"/>
              <a:buChar char="•"/>
            </a:pPr>
            <a:r>
              <a:rPr lang="en-US" sz="1600" dirty="0">
                <a:solidFill>
                  <a:schemeClr val="tx2"/>
                </a:solidFill>
              </a:rPr>
              <a:t>Détection du brouillage</a:t>
            </a:r>
            <a:endParaRPr lang="en-US" sz="1600" dirty="0"/>
          </a:p>
          <a:p>
            <a:pPr marL="342900" indent="-342900">
              <a:spcAft>
                <a:spcPts val="1000"/>
              </a:spcAft>
              <a:buSzPct val="100000"/>
              <a:buChar char="•"/>
            </a:pPr>
            <a:r>
              <a:rPr lang="en-US" sz="1600" dirty="0">
                <a:solidFill>
                  <a:schemeClr val="tx2"/>
                </a:solidFill>
              </a:rPr>
              <a:t>Anti-leurrage GPS par comparaison des sources</a:t>
            </a:r>
            <a:endParaRPr lang="en-US" sz="1600" dirty="0"/>
          </a:p>
          <a:p>
            <a:pPr marL="342900" indent="-342900">
              <a:spcAft>
                <a:spcPts val="1000"/>
              </a:spcAft>
              <a:buSzPct val="100000"/>
              <a:buChar char="•"/>
            </a:pPr>
            <a:r>
              <a:rPr lang="en-US" sz="1600" dirty="0">
                <a:solidFill>
                  <a:schemeClr val="tx2"/>
                </a:solidFill>
              </a:rPr>
              <a:t>Canal d'urgence indépendant (RTH, coupure)</a:t>
            </a:r>
            <a:endParaRPr lang="en-US" sz="1600" dirty="0"/>
          </a:p>
          <a:p>
            <a:pPr marL="342900" indent="-342900">
              <a:spcAft>
                <a:spcPts val="1000"/>
              </a:spcAft>
              <a:buSzPct val="100000"/>
              <a:buChar char="•"/>
            </a:pPr>
            <a:r>
              <a:rPr lang="en-US" sz="1600" dirty="0">
                <a:solidFill>
                  <a:schemeClr val="tx2"/>
                </a:solidFill>
              </a:rPr>
              <a:t>Télémétrie satellite de secours : en test</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Quatre innovations clés</a:t>
            </a:r>
            <a:endParaRPr lang="en-US" sz="3200" dirty="0"/>
          </a:p>
        </p:txBody>
      </p:sp>
      <p:sp>
        <p:nvSpPr>
          <p:cNvPr id="3" name="Intervenant Israel"/>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sp>
        <p:nvSpPr>
          <p:cNvPr id="8" name="Architecture hybride double cœur"/>
          <p:cNvSpPr/>
          <p:nvPr/>
        </p:nvSpPr>
        <p:spPr>
          <a:xfrm>
            <a:off x="548640" y="1463040"/>
            <a:ext cx="5440680" cy="2103120"/>
          </a:xfrm>
          <a:prstGeom prst="roundRect">
            <a:avLst>
              <a:gd name="adj" fmla="val 5217"/>
            </a:avLst>
          </a:prstGeom>
          <a:solidFill>
            <a:schemeClr val="bg2">
              <a:alpha val="90000"/>
            </a:schemeClr>
          </a:solidFill>
          <a:ln w="19050">
            <a:solidFill>
              <a:schemeClr val="accent2"/>
            </a:solidFill>
            <a:prstDash val="solid"/>
          </a:ln>
        </p:spPr>
      </p:sp>
      <p:sp>
        <p:nvSpPr>
          <p:cNvPr id="9" name="Text 5"/>
          <p:cNvSpPr txBox="1"/>
          <p:nvPr/>
        </p:nvSpPr>
        <p:spPr>
          <a:xfrm>
            <a:off x="822960" y="1691640"/>
            <a:ext cx="1097280" cy="731520"/>
          </a:xfrm>
          <a:prstGeom prst="rect">
            <a:avLst/>
          </a:prstGeom>
          <a:noFill/>
          <a:ln/>
        </p:spPr>
        <p:txBody>
          <a:bodyPr wrap="square" lIns="0" tIns="0" rIns="0" bIns="0" rtlCol="0" anchor="ctr"/>
          <a:lstStyle/>
          <a:p>
            <a:pPr indent="0" marL="0">
              <a:buNone/>
            </a:pPr>
            <a:r>
              <a:rPr lang="en-US" sz="4400" b="1" dirty="0">
                <a:solidFill>
                  <a:schemeClr val="accent2"/>
                </a:solidFill>
              </a:rPr>
              <a:t>01</a:t>
            </a:r>
            <a:endParaRPr lang="en-US" sz="4400" dirty="0"/>
          </a:p>
        </p:txBody>
      </p:sp>
      <p:sp>
        <p:nvSpPr>
          <p:cNvPr id="10" name="Shape 6"/>
          <p:cNvSpPr/>
          <p:nvPr/>
        </p:nvSpPr>
        <p:spPr>
          <a:xfrm>
            <a:off x="5029200" y="1737360"/>
            <a:ext cx="685800" cy="6858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5193792" y="1901952"/>
            <a:ext cx="356616" cy="356616"/>
          </a:xfrm>
          <a:prstGeom prst="rect">
            <a:avLst/>
          </a:prstGeom>
        </p:spPr>
      </p:pic>
      <p:sp>
        <p:nvSpPr>
          <p:cNvPr id="12" name="Text 7"/>
          <p:cNvSpPr txBox="1"/>
          <p:nvPr/>
        </p:nvSpPr>
        <p:spPr>
          <a:xfrm>
            <a:off x="822960" y="2377440"/>
            <a:ext cx="4892040" cy="411480"/>
          </a:xfrm>
          <a:prstGeom prst="rect">
            <a:avLst/>
          </a:prstGeom>
          <a:noFill/>
          <a:ln/>
        </p:spPr>
        <p:txBody>
          <a:bodyPr wrap="square" lIns="0" tIns="0" rIns="0" bIns="0" rtlCol="0" anchor="ctr"/>
          <a:lstStyle/>
          <a:p>
            <a:pPr indent="0" marL="0">
              <a:buNone/>
            </a:pPr>
            <a:r>
              <a:rPr lang="en-US" sz="2000" b="1" dirty="0">
                <a:solidFill>
                  <a:schemeClr val="tx1"/>
                </a:solidFill>
              </a:rPr>
              <a:t>Architecture hybride double cœur</a:t>
            </a:r>
            <a:endParaRPr lang="en-US" sz="2000" dirty="0"/>
          </a:p>
        </p:txBody>
      </p:sp>
      <p:sp>
        <p:nvSpPr>
          <p:cNvPr id="13" name="Text 8"/>
          <p:cNvSpPr txBox="1"/>
          <p:nvPr/>
        </p:nvSpPr>
        <p:spPr>
          <a:xfrm>
            <a:off x="822960" y="2816352"/>
            <a:ext cx="4892040" cy="640080"/>
          </a:xfrm>
          <a:prstGeom prst="rect">
            <a:avLst/>
          </a:prstGeom>
          <a:noFill/>
          <a:ln/>
        </p:spPr>
        <p:txBody>
          <a:bodyPr wrap="square" lIns="0" tIns="0" rIns="0" bIns="0" rtlCol="0" anchor="t"/>
          <a:lstStyle/>
          <a:p>
            <a:pPr indent="0" marL="0">
              <a:buNone/>
            </a:pPr>
            <a:r>
              <a:rPr lang="en-US" sz="1400" dirty="0">
                <a:solidFill>
                  <a:schemeClr val="tx2"/>
                </a:solidFill>
              </a:rPr>
              <a:t>STM32H7 pour le vol, Hailo-8 pour la vision : dissociation étanche entre avionique critique et IA.</a:t>
            </a:r>
            <a:endParaRPr lang="en-US" sz="1400" dirty="0"/>
          </a:p>
        </p:txBody>
      </p:sp>
      <p:sp>
        <p:nvSpPr>
          <p:cNvPr id="14" name="VTOL hybride intelligent"/>
          <p:cNvSpPr/>
          <p:nvPr/>
        </p:nvSpPr>
        <p:spPr>
          <a:xfrm>
            <a:off x="6217920" y="1463040"/>
            <a:ext cx="5440680" cy="2103120"/>
          </a:xfrm>
          <a:prstGeom prst="roundRect">
            <a:avLst>
              <a:gd name="adj" fmla="val 5217"/>
            </a:avLst>
          </a:prstGeom>
          <a:solidFill>
            <a:schemeClr val="bg2">
              <a:alpha val="90000"/>
            </a:schemeClr>
          </a:solidFill>
          <a:ln w="19050">
            <a:solidFill>
              <a:schemeClr val="accent2"/>
            </a:solidFill>
            <a:prstDash val="solid"/>
          </a:ln>
        </p:spPr>
      </p:sp>
      <p:sp>
        <p:nvSpPr>
          <p:cNvPr id="15" name="Text 10"/>
          <p:cNvSpPr txBox="1"/>
          <p:nvPr/>
        </p:nvSpPr>
        <p:spPr>
          <a:xfrm>
            <a:off x="6492240" y="1691640"/>
            <a:ext cx="1097280" cy="731520"/>
          </a:xfrm>
          <a:prstGeom prst="rect">
            <a:avLst/>
          </a:prstGeom>
          <a:noFill/>
          <a:ln/>
        </p:spPr>
        <p:txBody>
          <a:bodyPr wrap="square" lIns="0" tIns="0" rIns="0" bIns="0" rtlCol="0" anchor="ctr"/>
          <a:lstStyle/>
          <a:p>
            <a:pPr indent="0" marL="0">
              <a:buNone/>
            </a:pPr>
            <a:r>
              <a:rPr lang="en-US" sz="4400" b="1" dirty="0">
                <a:solidFill>
                  <a:schemeClr val="accent2"/>
                </a:solidFill>
              </a:rPr>
              <a:t>02</a:t>
            </a:r>
            <a:endParaRPr lang="en-US" sz="4400" dirty="0"/>
          </a:p>
        </p:txBody>
      </p:sp>
      <p:sp>
        <p:nvSpPr>
          <p:cNvPr id="16" name="Shape 11"/>
          <p:cNvSpPr/>
          <p:nvPr/>
        </p:nvSpPr>
        <p:spPr>
          <a:xfrm>
            <a:off x="10698480" y="1737360"/>
            <a:ext cx="685800" cy="6858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10863072" y="1901952"/>
            <a:ext cx="356616" cy="356616"/>
          </a:xfrm>
          <a:prstGeom prst="rect">
            <a:avLst/>
          </a:prstGeom>
        </p:spPr>
      </p:pic>
      <p:sp>
        <p:nvSpPr>
          <p:cNvPr id="18" name="Text 12"/>
          <p:cNvSpPr txBox="1"/>
          <p:nvPr/>
        </p:nvSpPr>
        <p:spPr>
          <a:xfrm>
            <a:off x="6492240" y="2377440"/>
            <a:ext cx="4892040" cy="411480"/>
          </a:xfrm>
          <a:prstGeom prst="rect">
            <a:avLst/>
          </a:prstGeom>
          <a:noFill/>
          <a:ln/>
        </p:spPr>
        <p:txBody>
          <a:bodyPr wrap="square" lIns="0" tIns="0" rIns="0" bIns="0" rtlCol="0" anchor="ctr"/>
          <a:lstStyle/>
          <a:p>
            <a:pPr indent="0" marL="0">
              <a:buNone/>
            </a:pPr>
            <a:r>
              <a:rPr lang="en-US" sz="2000" b="1" dirty="0">
                <a:solidFill>
                  <a:schemeClr val="tx1"/>
                </a:solidFill>
              </a:rPr>
              <a:t>VTOL hybride intelligent</a:t>
            </a:r>
            <a:endParaRPr lang="en-US" sz="2000" dirty="0"/>
          </a:p>
        </p:txBody>
      </p:sp>
      <p:sp>
        <p:nvSpPr>
          <p:cNvPr id="19" name="Text 13"/>
          <p:cNvSpPr txBox="1"/>
          <p:nvPr/>
        </p:nvSpPr>
        <p:spPr>
          <a:xfrm>
            <a:off x="6492240" y="2816352"/>
            <a:ext cx="4892040" cy="640080"/>
          </a:xfrm>
          <a:prstGeom prst="rect">
            <a:avLst/>
          </a:prstGeom>
          <a:noFill/>
          <a:ln/>
        </p:spPr>
        <p:txBody>
          <a:bodyPr wrap="square" lIns="0" tIns="0" rIns="0" bIns="0" rtlCol="0" anchor="t"/>
          <a:lstStyle/>
          <a:p>
            <a:pPr indent="0" marL="0">
              <a:buNone/>
            </a:pPr>
            <a:r>
              <a:rPr lang="en-US" sz="1400" dirty="0">
                <a:solidFill>
                  <a:schemeClr val="tx2"/>
                </a:solidFill>
              </a:rPr>
              <a:t>Décollage vertical autonome, conversion automatique en croisière longue distance.</a:t>
            </a:r>
            <a:endParaRPr lang="en-US" sz="1400" dirty="0"/>
          </a:p>
        </p:txBody>
      </p:sp>
      <p:sp>
        <p:nvSpPr>
          <p:cNvPr id="20" name="Inférence en périphérie à 26 TOPS"/>
          <p:cNvSpPr/>
          <p:nvPr/>
        </p:nvSpPr>
        <p:spPr>
          <a:xfrm>
            <a:off x="548640" y="3840480"/>
            <a:ext cx="5440680" cy="2103120"/>
          </a:xfrm>
          <a:prstGeom prst="roundRect">
            <a:avLst>
              <a:gd name="adj" fmla="val 5217"/>
            </a:avLst>
          </a:prstGeom>
          <a:solidFill>
            <a:schemeClr val="bg2">
              <a:alpha val="90000"/>
            </a:schemeClr>
          </a:solidFill>
          <a:ln w="19050">
            <a:solidFill>
              <a:schemeClr val="accent2"/>
            </a:solidFill>
            <a:prstDash val="solid"/>
          </a:ln>
        </p:spPr>
      </p:sp>
      <p:sp>
        <p:nvSpPr>
          <p:cNvPr id="21" name="Text 15"/>
          <p:cNvSpPr txBox="1"/>
          <p:nvPr/>
        </p:nvSpPr>
        <p:spPr>
          <a:xfrm>
            <a:off x="822960" y="4069080"/>
            <a:ext cx="1097280" cy="731520"/>
          </a:xfrm>
          <a:prstGeom prst="rect">
            <a:avLst/>
          </a:prstGeom>
          <a:noFill/>
          <a:ln/>
        </p:spPr>
        <p:txBody>
          <a:bodyPr wrap="square" lIns="0" tIns="0" rIns="0" bIns="0" rtlCol="0" anchor="ctr"/>
          <a:lstStyle/>
          <a:p>
            <a:pPr indent="0" marL="0">
              <a:buNone/>
            </a:pPr>
            <a:r>
              <a:rPr lang="en-US" sz="4400" b="1" dirty="0">
                <a:solidFill>
                  <a:schemeClr val="accent2"/>
                </a:solidFill>
              </a:rPr>
              <a:t>03</a:t>
            </a:r>
            <a:endParaRPr lang="en-US" sz="4400" dirty="0"/>
          </a:p>
        </p:txBody>
      </p:sp>
      <p:sp>
        <p:nvSpPr>
          <p:cNvPr id="22" name="Shape 16"/>
          <p:cNvSpPr/>
          <p:nvPr/>
        </p:nvSpPr>
        <p:spPr>
          <a:xfrm>
            <a:off x="5029200" y="4114800"/>
            <a:ext cx="685800" cy="685800"/>
          </a:xfrm>
          <a:prstGeom prst="ellipse">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5193792" y="4279392"/>
            <a:ext cx="356616" cy="356616"/>
          </a:xfrm>
          <a:prstGeom prst="rect">
            <a:avLst/>
          </a:prstGeom>
        </p:spPr>
      </p:pic>
      <p:sp>
        <p:nvSpPr>
          <p:cNvPr id="24" name="Text 17"/>
          <p:cNvSpPr txBox="1"/>
          <p:nvPr/>
        </p:nvSpPr>
        <p:spPr>
          <a:xfrm>
            <a:off x="822960" y="4754880"/>
            <a:ext cx="4892040" cy="411480"/>
          </a:xfrm>
          <a:prstGeom prst="rect">
            <a:avLst/>
          </a:prstGeom>
          <a:noFill/>
          <a:ln/>
        </p:spPr>
        <p:txBody>
          <a:bodyPr wrap="square" lIns="0" tIns="0" rIns="0" bIns="0" rtlCol="0" anchor="ctr"/>
          <a:lstStyle/>
          <a:p>
            <a:pPr indent="0" marL="0">
              <a:buNone/>
            </a:pPr>
            <a:r>
              <a:rPr lang="en-US" sz="2000" b="1" dirty="0">
                <a:solidFill>
                  <a:schemeClr val="tx1"/>
                </a:solidFill>
              </a:rPr>
              <a:t>Inférence en périphérie à 26 TOPS</a:t>
            </a:r>
            <a:endParaRPr lang="en-US" sz="2000" dirty="0"/>
          </a:p>
        </p:txBody>
      </p:sp>
      <p:sp>
        <p:nvSpPr>
          <p:cNvPr id="25" name="Text 18"/>
          <p:cNvSpPr txBox="1"/>
          <p:nvPr/>
        </p:nvSpPr>
        <p:spPr>
          <a:xfrm>
            <a:off x="822960" y="5193792"/>
            <a:ext cx="4892040" cy="640080"/>
          </a:xfrm>
          <a:prstGeom prst="rect">
            <a:avLst/>
          </a:prstGeom>
          <a:noFill/>
          <a:ln/>
        </p:spPr>
        <p:txBody>
          <a:bodyPr wrap="square" lIns="0" tIns="0" rIns="0" bIns="0" rtlCol="0" anchor="t"/>
          <a:lstStyle/>
          <a:p>
            <a:pPr indent="0" marL="0">
              <a:buNone/>
            </a:pPr>
            <a:r>
              <a:rPr lang="en-US" sz="1400" dirty="0">
                <a:solidFill>
                  <a:schemeClr val="tx2"/>
                </a:solidFill>
              </a:rPr>
              <a:t>Images analysées à bord, en temps réel, sans aucune dépendance au cloud.</a:t>
            </a:r>
            <a:endParaRPr lang="en-US" sz="1400" dirty="0"/>
          </a:p>
        </p:txBody>
      </p:sp>
      <p:sp>
        <p:nvSpPr>
          <p:cNvPr id="26" name="Sécurisation multicouche"/>
          <p:cNvSpPr/>
          <p:nvPr/>
        </p:nvSpPr>
        <p:spPr>
          <a:xfrm>
            <a:off x="6217920" y="3840480"/>
            <a:ext cx="5440680" cy="2103120"/>
          </a:xfrm>
          <a:prstGeom prst="roundRect">
            <a:avLst>
              <a:gd name="adj" fmla="val 5217"/>
            </a:avLst>
          </a:prstGeom>
          <a:solidFill>
            <a:schemeClr val="bg2">
              <a:alpha val="90000"/>
            </a:schemeClr>
          </a:solidFill>
          <a:ln w="19050">
            <a:solidFill>
              <a:schemeClr val="accent2"/>
            </a:solidFill>
            <a:prstDash val="solid"/>
          </a:ln>
        </p:spPr>
      </p:sp>
      <p:sp>
        <p:nvSpPr>
          <p:cNvPr id="27" name="Text 20"/>
          <p:cNvSpPr txBox="1"/>
          <p:nvPr/>
        </p:nvSpPr>
        <p:spPr>
          <a:xfrm>
            <a:off x="6492240" y="4069080"/>
            <a:ext cx="1097280" cy="731520"/>
          </a:xfrm>
          <a:prstGeom prst="rect">
            <a:avLst/>
          </a:prstGeom>
          <a:noFill/>
          <a:ln/>
        </p:spPr>
        <p:txBody>
          <a:bodyPr wrap="square" lIns="0" tIns="0" rIns="0" bIns="0" rtlCol="0" anchor="ctr"/>
          <a:lstStyle/>
          <a:p>
            <a:pPr indent="0" marL="0">
              <a:buNone/>
            </a:pPr>
            <a:r>
              <a:rPr lang="en-US" sz="4400" b="1" dirty="0">
                <a:solidFill>
                  <a:schemeClr val="accent2"/>
                </a:solidFill>
              </a:rPr>
              <a:t>04</a:t>
            </a:r>
            <a:endParaRPr lang="en-US" sz="4400" dirty="0"/>
          </a:p>
        </p:txBody>
      </p:sp>
      <p:sp>
        <p:nvSpPr>
          <p:cNvPr id="28" name="Shape 21"/>
          <p:cNvSpPr/>
          <p:nvPr/>
        </p:nvSpPr>
        <p:spPr>
          <a:xfrm>
            <a:off x="10698480" y="4114800"/>
            <a:ext cx="685800" cy="685800"/>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10863072" y="4279392"/>
            <a:ext cx="356616" cy="356616"/>
          </a:xfrm>
          <a:prstGeom prst="rect">
            <a:avLst/>
          </a:prstGeom>
        </p:spPr>
      </p:pic>
      <p:sp>
        <p:nvSpPr>
          <p:cNvPr id="30" name="Text 22"/>
          <p:cNvSpPr txBox="1"/>
          <p:nvPr/>
        </p:nvSpPr>
        <p:spPr>
          <a:xfrm>
            <a:off x="6492240" y="4754880"/>
            <a:ext cx="4892040" cy="411480"/>
          </a:xfrm>
          <a:prstGeom prst="rect">
            <a:avLst/>
          </a:prstGeom>
          <a:noFill/>
          <a:ln/>
        </p:spPr>
        <p:txBody>
          <a:bodyPr wrap="square" lIns="0" tIns="0" rIns="0" bIns="0" rtlCol="0" anchor="ctr"/>
          <a:lstStyle/>
          <a:p>
            <a:pPr indent="0" marL="0">
              <a:buNone/>
            </a:pPr>
            <a:r>
              <a:rPr lang="en-US" sz="2000" b="1" dirty="0">
                <a:solidFill>
                  <a:schemeClr val="tx1"/>
                </a:solidFill>
              </a:rPr>
              <a:t>Sécurisation multicouche</a:t>
            </a:r>
            <a:endParaRPr lang="en-US" sz="2000" dirty="0"/>
          </a:p>
        </p:txBody>
      </p:sp>
      <p:sp>
        <p:nvSpPr>
          <p:cNvPr id="31" name="Text 23"/>
          <p:cNvSpPr txBox="1"/>
          <p:nvPr/>
        </p:nvSpPr>
        <p:spPr>
          <a:xfrm>
            <a:off x="6492240" y="5193792"/>
            <a:ext cx="4892040" cy="640080"/>
          </a:xfrm>
          <a:prstGeom prst="rect">
            <a:avLst/>
          </a:prstGeom>
          <a:noFill/>
          <a:ln/>
        </p:spPr>
        <p:txBody>
          <a:bodyPr wrap="square" lIns="0" tIns="0" rIns="0" bIns="0" rtlCol="0" anchor="t"/>
          <a:lstStyle/>
          <a:p>
            <a:pPr indent="0" marL="0">
              <a:buNone/>
            </a:pPr>
            <a:r>
              <a:rPr lang="en-US" sz="1400" dirty="0">
                <a:solidFill>
                  <a:schemeClr val="tx2"/>
                </a:solidFill>
              </a:rPr>
              <a:t>Chiffrement et signature MAVLink, anti-brouillage et anti-leurrage GPS, canal de secours.</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Polyvalence : un drone, cinq secteurs</a:t>
            </a:r>
            <a:endParaRPr lang="en-US" sz="3200" dirty="0"/>
          </a:p>
        </p:txBody>
      </p:sp>
      <p:sp>
        <p:nvSpPr>
          <p:cNvPr id="3" name="Intervenant Cédric"/>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Cédric</a:t>
            </a:r>
            <a:endParaRPr lang="en-US" sz="1400" dirty="0"/>
          </a:p>
          <a:p>
            <a:pPr indent="0" marL="0">
              <a:buNone/>
            </a:pPr>
            <a:r>
              <a:rPr lang="en-US" sz="1000" dirty="0">
                <a:solidFill>
                  <a:schemeClr val="tx2"/>
                </a:solidFill>
              </a:rPr>
              <a:t>Back-end et programme de vol</a:t>
            </a:r>
            <a:endParaRPr lang="en-US" sz="1400" dirty="0"/>
          </a:p>
        </p:txBody>
      </p:sp>
      <p:sp>
        <p:nvSpPr>
          <p:cNvPr id="8" name="Aviation civile"/>
          <p:cNvSpPr/>
          <p:nvPr/>
        </p:nvSpPr>
        <p:spPr>
          <a:xfrm>
            <a:off x="548640" y="1463040"/>
            <a:ext cx="2075688" cy="3657600"/>
          </a:xfrm>
          <a:prstGeom prst="roundRect">
            <a:avLst>
              <a:gd name="adj" fmla="val 5286"/>
            </a:avLst>
          </a:prstGeom>
          <a:solidFill>
            <a:schemeClr val="bg2">
              <a:alpha val="90000"/>
            </a:schemeClr>
          </a:solidFill>
          <a:ln w="12700">
            <a:solidFill>
              <a:schemeClr val="accent5"/>
            </a:solidFill>
            <a:prstDash val="solid"/>
          </a:ln>
        </p:spPr>
      </p:sp>
      <p:sp>
        <p:nvSpPr>
          <p:cNvPr id="9" name="Shape 5"/>
          <p:cNvSpPr/>
          <p:nvPr/>
        </p:nvSpPr>
        <p:spPr>
          <a:xfrm>
            <a:off x="1152144" y="1737360"/>
            <a:ext cx="868680" cy="8686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1360627" y="1945843"/>
            <a:ext cx="451714" cy="451714"/>
          </a:xfrm>
          <a:prstGeom prst="rect">
            <a:avLst/>
          </a:prstGeom>
        </p:spPr>
      </p:pic>
      <p:sp>
        <p:nvSpPr>
          <p:cNvPr id="11" name="Text 6"/>
          <p:cNvSpPr txBox="1"/>
          <p:nvPr/>
        </p:nvSpPr>
        <p:spPr>
          <a:xfrm>
            <a:off x="685800" y="2743200"/>
            <a:ext cx="1801368" cy="731520"/>
          </a:xfrm>
          <a:prstGeom prst="rect">
            <a:avLst/>
          </a:prstGeom>
          <a:noFill/>
          <a:ln/>
        </p:spPr>
        <p:txBody>
          <a:bodyPr wrap="square" lIns="0" tIns="0" rIns="0" bIns="0" rtlCol="0" anchor="t"/>
          <a:lstStyle/>
          <a:p>
            <a:pPr algn="ctr" indent="0" marL="0">
              <a:buNone/>
            </a:pPr>
            <a:r>
              <a:rPr lang="en-US" sz="1600" b="1" dirty="0">
                <a:solidFill>
                  <a:schemeClr val="tx1"/>
                </a:solidFill>
              </a:rPr>
              <a:t>Aviation civile</a:t>
            </a:r>
            <a:endParaRPr lang="en-US" sz="1600" dirty="0"/>
          </a:p>
        </p:txBody>
      </p:sp>
      <p:sp>
        <p:nvSpPr>
          <p:cNvPr id="12" name="Text 7"/>
          <p:cNvSpPr txBox="1"/>
          <p:nvPr/>
        </p:nvSpPr>
        <p:spPr>
          <a:xfrm>
            <a:off x="731520" y="3520440"/>
            <a:ext cx="175564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Inspection de piste</a:t>
            </a:r>
            <a:endParaRPr lang="en-US" sz="1400" dirty="0"/>
          </a:p>
          <a:p>
            <a:pPr marL="342900" indent="-342900">
              <a:spcAft>
                <a:spcPts val="600"/>
              </a:spcAft>
              <a:buSzPct val="100000"/>
              <a:buChar char="•"/>
            </a:pPr>
            <a:r>
              <a:rPr lang="en-US" sz="1400" dirty="0">
                <a:solidFill>
                  <a:schemeClr val="tx2"/>
                </a:solidFill>
              </a:rPr>
              <a:t>Détection de débris (FOD)</a:t>
            </a:r>
            <a:endParaRPr lang="en-US" sz="1400" dirty="0"/>
          </a:p>
          <a:p>
            <a:pPr marL="342900" indent="-342900">
              <a:spcAft>
                <a:spcPts val="600"/>
              </a:spcAft>
              <a:buSzPct val="100000"/>
              <a:buChar char="•"/>
            </a:pPr>
            <a:r>
              <a:rPr lang="en-US" sz="1400" dirty="0">
                <a:solidFill>
                  <a:schemeClr val="tx2"/>
                </a:solidFill>
              </a:rPr>
              <a:t>Surveillance des clôtures</a:t>
            </a:r>
            <a:endParaRPr lang="en-US" sz="1400" dirty="0"/>
          </a:p>
        </p:txBody>
      </p:sp>
      <p:sp>
        <p:nvSpPr>
          <p:cNvPr id="13" name="Agriculture et environnement"/>
          <p:cNvSpPr/>
          <p:nvPr/>
        </p:nvSpPr>
        <p:spPr>
          <a:xfrm>
            <a:off x="2807208" y="1463040"/>
            <a:ext cx="2075688" cy="3657600"/>
          </a:xfrm>
          <a:prstGeom prst="roundRect">
            <a:avLst>
              <a:gd name="adj" fmla="val 5286"/>
            </a:avLst>
          </a:prstGeom>
          <a:solidFill>
            <a:schemeClr val="bg2">
              <a:alpha val="90000"/>
            </a:schemeClr>
          </a:solidFill>
          <a:ln w="12700">
            <a:solidFill>
              <a:schemeClr val="accent5"/>
            </a:solidFill>
            <a:prstDash val="solid"/>
          </a:ln>
        </p:spPr>
      </p:sp>
      <p:sp>
        <p:nvSpPr>
          <p:cNvPr id="14" name="Shape 9"/>
          <p:cNvSpPr/>
          <p:nvPr/>
        </p:nvSpPr>
        <p:spPr>
          <a:xfrm>
            <a:off x="3410712" y="1737360"/>
            <a:ext cx="868680" cy="868680"/>
          </a:xfrm>
          <a:prstGeom prst="ellipse">
            <a:avLst/>
          </a:prstGeom>
          <a:solidFill>
            <a:schemeClr val="accent3"/>
          </a:solidFill>
          <a:ln/>
        </p:spPr>
      </p:sp>
      <p:pic>
        <p:nvPicPr>
          <p:cNvPr id="15" name="Image 2" descr="preencoded.png">    </p:cNvPr>
          <p:cNvPicPr>
            <a:picLocks noChangeAspect="1"/>
          </p:cNvPicPr>
          <p:nvPr/>
        </p:nvPicPr>
        <p:blipFill>
          <a:blip r:embed="rId3"/>
          <a:stretch>
            <a:fillRect/>
          </a:stretch>
        </p:blipFill>
        <p:spPr>
          <a:xfrm>
            <a:off x="3619195" y="1945843"/>
            <a:ext cx="451714" cy="451714"/>
          </a:xfrm>
          <a:prstGeom prst="rect">
            <a:avLst/>
          </a:prstGeom>
        </p:spPr>
      </p:pic>
      <p:sp>
        <p:nvSpPr>
          <p:cNvPr id="16" name="Text 10"/>
          <p:cNvSpPr txBox="1"/>
          <p:nvPr/>
        </p:nvSpPr>
        <p:spPr>
          <a:xfrm>
            <a:off x="2944368" y="2743200"/>
            <a:ext cx="1801368" cy="731520"/>
          </a:xfrm>
          <a:prstGeom prst="rect">
            <a:avLst/>
          </a:prstGeom>
          <a:noFill/>
          <a:ln/>
        </p:spPr>
        <p:txBody>
          <a:bodyPr wrap="square" lIns="0" tIns="0" rIns="0" bIns="0" rtlCol="0" anchor="t"/>
          <a:lstStyle/>
          <a:p>
            <a:pPr algn="ctr" indent="0" marL="0">
              <a:buNone/>
            </a:pPr>
            <a:r>
              <a:rPr lang="en-US" sz="1600" b="1" dirty="0">
                <a:solidFill>
                  <a:schemeClr val="tx1"/>
                </a:solidFill>
              </a:rPr>
              <a:t>Agriculture et environnement</a:t>
            </a:r>
            <a:endParaRPr lang="en-US" sz="1600" dirty="0"/>
          </a:p>
        </p:txBody>
      </p:sp>
      <p:sp>
        <p:nvSpPr>
          <p:cNvPr id="17" name="Text 11"/>
          <p:cNvSpPr txBox="1"/>
          <p:nvPr/>
        </p:nvSpPr>
        <p:spPr>
          <a:xfrm>
            <a:off x="2990088" y="3520440"/>
            <a:ext cx="175564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Surveillance des cultures</a:t>
            </a:r>
            <a:endParaRPr lang="en-US" sz="1400" dirty="0"/>
          </a:p>
          <a:p>
            <a:pPr marL="342900" indent="-342900">
              <a:spcAft>
                <a:spcPts val="600"/>
              </a:spcAft>
              <a:buSzPct val="100000"/>
              <a:buChar char="•"/>
            </a:pPr>
            <a:r>
              <a:rPr lang="en-US" sz="1400" dirty="0">
                <a:solidFill>
                  <a:schemeClr val="tx2"/>
                </a:solidFill>
              </a:rPr>
              <a:t>Suivi environnemental</a:t>
            </a:r>
            <a:endParaRPr lang="en-US" sz="1400" dirty="0"/>
          </a:p>
          <a:p>
            <a:pPr marL="342900" indent="-342900">
              <a:spcAft>
                <a:spcPts val="600"/>
              </a:spcAft>
              <a:buSzPct val="100000"/>
              <a:buChar char="•"/>
            </a:pPr>
            <a:r>
              <a:rPr lang="en-US" sz="1400" dirty="0">
                <a:solidFill>
                  <a:schemeClr val="tx2"/>
                </a:solidFill>
              </a:rPr>
              <a:t>Feux de brousse</a:t>
            </a:r>
            <a:endParaRPr lang="en-US" sz="1400" dirty="0"/>
          </a:p>
        </p:txBody>
      </p:sp>
      <p:sp>
        <p:nvSpPr>
          <p:cNvPr id="18" name="Infrastructures critiques"/>
          <p:cNvSpPr/>
          <p:nvPr/>
        </p:nvSpPr>
        <p:spPr>
          <a:xfrm>
            <a:off x="5065776" y="1463040"/>
            <a:ext cx="2075688" cy="3657600"/>
          </a:xfrm>
          <a:prstGeom prst="roundRect">
            <a:avLst>
              <a:gd name="adj" fmla="val 5286"/>
            </a:avLst>
          </a:prstGeom>
          <a:solidFill>
            <a:schemeClr val="bg2">
              <a:alpha val="90000"/>
            </a:schemeClr>
          </a:solidFill>
          <a:ln w="12700">
            <a:solidFill>
              <a:schemeClr val="accent5"/>
            </a:solidFill>
            <a:prstDash val="solid"/>
          </a:ln>
        </p:spPr>
      </p:sp>
      <p:sp>
        <p:nvSpPr>
          <p:cNvPr id="19" name="Shape 13"/>
          <p:cNvSpPr/>
          <p:nvPr/>
        </p:nvSpPr>
        <p:spPr>
          <a:xfrm>
            <a:off x="5669280" y="1737360"/>
            <a:ext cx="868680" cy="86868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5877763" y="1945843"/>
            <a:ext cx="451714" cy="451714"/>
          </a:xfrm>
          <a:prstGeom prst="rect">
            <a:avLst/>
          </a:prstGeom>
        </p:spPr>
      </p:pic>
      <p:sp>
        <p:nvSpPr>
          <p:cNvPr id="21" name="Text 14"/>
          <p:cNvSpPr txBox="1"/>
          <p:nvPr/>
        </p:nvSpPr>
        <p:spPr>
          <a:xfrm>
            <a:off x="5202936" y="2743200"/>
            <a:ext cx="1801368" cy="731520"/>
          </a:xfrm>
          <a:prstGeom prst="rect">
            <a:avLst/>
          </a:prstGeom>
          <a:noFill/>
          <a:ln/>
        </p:spPr>
        <p:txBody>
          <a:bodyPr wrap="square" lIns="0" tIns="0" rIns="0" bIns="0" rtlCol="0" anchor="t"/>
          <a:lstStyle/>
          <a:p>
            <a:pPr algn="ctr" indent="0" marL="0">
              <a:buNone/>
            </a:pPr>
            <a:r>
              <a:rPr lang="en-US" sz="1600" b="1" dirty="0">
                <a:solidFill>
                  <a:schemeClr val="tx1"/>
                </a:solidFill>
              </a:rPr>
              <a:t>Infrastructures critiques</a:t>
            </a:r>
            <a:endParaRPr lang="en-US" sz="1600" dirty="0"/>
          </a:p>
        </p:txBody>
      </p:sp>
      <p:sp>
        <p:nvSpPr>
          <p:cNvPr id="22" name="Text 15"/>
          <p:cNvSpPr txBox="1"/>
          <p:nvPr/>
        </p:nvSpPr>
        <p:spPr>
          <a:xfrm>
            <a:off x="5248656" y="3520440"/>
            <a:ext cx="175564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Lignes électriques, pylônes</a:t>
            </a:r>
            <a:endParaRPr lang="en-US" sz="1400" dirty="0"/>
          </a:p>
          <a:p>
            <a:pPr marL="342900" indent="-342900">
              <a:spcAft>
                <a:spcPts val="600"/>
              </a:spcAft>
              <a:buSzPct val="100000"/>
              <a:buChar char="•"/>
            </a:pPr>
            <a:r>
              <a:rPr lang="en-US" sz="1400" dirty="0">
                <a:solidFill>
                  <a:schemeClr val="tx2"/>
                </a:solidFill>
              </a:rPr>
              <a:t>Ponts</a:t>
            </a:r>
            <a:endParaRPr lang="en-US" sz="1400" dirty="0"/>
          </a:p>
          <a:p>
            <a:pPr marL="342900" indent="-342900">
              <a:spcAft>
                <a:spcPts val="600"/>
              </a:spcAft>
              <a:buSzPct val="100000"/>
              <a:buChar char="•"/>
            </a:pPr>
            <a:r>
              <a:rPr lang="en-US" sz="1400" dirty="0">
                <a:solidFill>
                  <a:schemeClr val="tx2"/>
                </a:solidFill>
              </a:rPr>
              <a:t>Port de Lomé</a:t>
            </a:r>
            <a:endParaRPr lang="en-US" sz="1400" dirty="0"/>
          </a:p>
        </p:txBody>
      </p:sp>
      <p:sp>
        <p:nvSpPr>
          <p:cNvPr id="23" name="Aide humanitaire"/>
          <p:cNvSpPr/>
          <p:nvPr/>
        </p:nvSpPr>
        <p:spPr>
          <a:xfrm>
            <a:off x="7324344" y="1463040"/>
            <a:ext cx="2075688" cy="3657600"/>
          </a:xfrm>
          <a:prstGeom prst="roundRect">
            <a:avLst>
              <a:gd name="adj" fmla="val 5286"/>
            </a:avLst>
          </a:prstGeom>
          <a:solidFill>
            <a:schemeClr val="bg2">
              <a:alpha val="90000"/>
            </a:schemeClr>
          </a:solidFill>
          <a:ln w="12700">
            <a:solidFill>
              <a:schemeClr val="accent5"/>
            </a:solidFill>
            <a:prstDash val="solid"/>
          </a:ln>
        </p:spPr>
      </p:sp>
      <p:sp>
        <p:nvSpPr>
          <p:cNvPr id="24" name="Shape 17"/>
          <p:cNvSpPr/>
          <p:nvPr/>
        </p:nvSpPr>
        <p:spPr>
          <a:xfrm>
            <a:off x="7927848" y="1737360"/>
            <a:ext cx="868680" cy="868680"/>
          </a:xfrm>
          <a:prstGeom prst="ellipse">
            <a:avLst/>
          </a:prstGeom>
          <a:solidFill>
            <a:schemeClr val="accent4"/>
          </a:solidFill>
          <a:ln/>
        </p:spPr>
      </p:sp>
      <p:pic>
        <p:nvPicPr>
          <p:cNvPr id="25" name="Image 4" descr="preencoded.png">    </p:cNvPr>
          <p:cNvPicPr>
            <a:picLocks noChangeAspect="1"/>
          </p:cNvPicPr>
          <p:nvPr/>
        </p:nvPicPr>
        <p:blipFill>
          <a:blip r:embed="rId5"/>
          <a:stretch>
            <a:fillRect/>
          </a:stretch>
        </p:blipFill>
        <p:spPr>
          <a:xfrm>
            <a:off x="8136331" y="1945843"/>
            <a:ext cx="451714" cy="451714"/>
          </a:xfrm>
          <a:prstGeom prst="rect">
            <a:avLst/>
          </a:prstGeom>
        </p:spPr>
      </p:pic>
      <p:sp>
        <p:nvSpPr>
          <p:cNvPr id="26" name="Text 18"/>
          <p:cNvSpPr txBox="1"/>
          <p:nvPr/>
        </p:nvSpPr>
        <p:spPr>
          <a:xfrm>
            <a:off x="7461504" y="2743200"/>
            <a:ext cx="1801368" cy="731520"/>
          </a:xfrm>
          <a:prstGeom prst="rect">
            <a:avLst/>
          </a:prstGeom>
          <a:noFill/>
          <a:ln/>
        </p:spPr>
        <p:txBody>
          <a:bodyPr wrap="square" lIns="0" tIns="0" rIns="0" bIns="0" rtlCol="0" anchor="t"/>
          <a:lstStyle/>
          <a:p>
            <a:pPr algn="ctr" indent="0" marL="0">
              <a:buNone/>
            </a:pPr>
            <a:r>
              <a:rPr lang="en-US" sz="1600" b="1" dirty="0">
                <a:solidFill>
                  <a:schemeClr val="tx1"/>
                </a:solidFill>
              </a:rPr>
              <a:t>Aide humanitaire</a:t>
            </a:r>
            <a:endParaRPr lang="en-US" sz="1600" dirty="0"/>
          </a:p>
        </p:txBody>
      </p:sp>
      <p:sp>
        <p:nvSpPr>
          <p:cNvPr id="27" name="Text 19"/>
          <p:cNvSpPr txBox="1"/>
          <p:nvPr/>
        </p:nvSpPr>
        <p:spPr>
          <a:xfrm>
            <a:off x="7507224" y="3520440"/>
            <a:ext cx="175564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Petits colis médicaux</a:t>
            </a:r>
            <a:endParaRPr lang="en-US" sz="1400" dirty="0"/>
          </a:p>
          <a:p>
            <a:pPr marL="342900" indent="-342900">
              <a:spcAft>
                <a:spcPts val="600"/>
              </a:spcAft>
              <a:buSzPct val="100000"/>
              <a:buChar char="•"/>
            </a:pPr>
            <a:r>
              <a:rPr lang="en-US" sz="1400" dirty="0">
                <a:solidFill>
                  <a:schemeClr val="tx2"/>
                </a:solidFill>
              </a:rPr>
              <a:t>Zones enclavées</a:t>
            </a:r>
            <a:endParaRPr lang="en-US" sz="1400" dirty="0"/>
          </a:p>
          <a:p>
            <a:pPr marL="342900" indent="-342900">
              <a:spcAft>
                <a:spcPts val="600"/>
              </a:spcAft>
              <a:buSzPct val="100000"/>
              <a:buChar char="•"/>
            </a:pPr>
            <a:r>
              <a:rPr lang="en-US" sz="1400" dirty="0">
                <a:solidFill>
                  <a:schemeClr val="tx2"/>
                </a:solidFill>
              </a:rPr>
              <a:t>Sans piste grâce au VTOL</a:t>
            </a:r>
            <a:endParaRPr lang="en-US" sz="1400" dirty="0"/>
          </a:p>
        </p:txBody>
      </p:sp>
      <p:sp>
        <p:nvSpPr>
          <p:cNvPr id="28" name="Cartographie"/>
          <p:cNvSpPr/>
          <p:nvPr/>
        </p:nvSpPr>
        <p:spPr>
          <a:xfrm>
            <a:off x="9582912" y="1463040"/>
            <a:ext cx="2075688" cy="3657600"/>
          </a:xfrm>
          <a:prstGeom prst="roundRect">
            <a:avLst>
              <a:gd name="adj" fmla="val 5286"/>
            </a:avLst>
          </a:prstGeom>
          <a:solidFill>
            <a:schemeClr val="bg2">
              <a:alpha val="90000"/>
            </a:schemeClr>
          </a:solidFill>
          <a:ln w="12700">
            <a:solidFill>
              <a:schemeClr val="accent5"/>
            </a:solidFill>
            <a:prstDash val="solid"/>
          </a:ln>
        </p:spPr>
      </p:sp>
      <p:sp>
        <p:nvSpPr>
          <p:cNvPr id="29" name="Shape 21"/>
          <p:cNvSpPr/>
          <p:nvPr/>
        </p:nvSpPr>
        <p:spPr>
          <a:xfrm>
            <a:off x="10186416" y="1737360"/>
            <a:ext cx="868680" cy="868680"/>
          </a:xfrm>
          <a:prstGeom prst="ellipse">
            <a:avLst/>
          </a:prstGeom>
          <a:solidFill>
            <a:schemeClr val="accent6"/>
          </a:solidFill>
          <a:ln/>
        </p:spPr>
      </p:sp>
      <p:pic>
        <p:nvPicPr>
          <p:cNvPr id="30" name="Image 5" descr="preencoded.png">    </p:cNvPr>
          <p:cNvPicPr>
            <a:picLocks noChangeAspect="1"/>
          </p:cNvPicPr>
          <p:nvPr/>
        </p:nvPicPr>
        <p:blipFill>
          <a:blip r:embed="rId6"/>
          <a:stretch>
            <a:fillRect/>
          </a:stretch>
        </p:blipFill>
        <p:spPr>
          <a:xfrm>
            <a:off x="10394899" y="1945843"/>
            <a:ext cx="451714" cy="451714"/>
          </a:xfrm>
          <a:prstGeom prst="rect">
            <a:avLst/>
          </a:prstGeom>
        </p:spPr>
      </p:pic>
      <p:sp>
        <p:nvSpPr>
          <p:cNvPr id="31" name="Text 22"/>
          <p:cNvSpPr txBox="1"/>
          <p:nvPr/>
        </p:nvSpPr>
        <p:spPr>
          <a:xfrm>
            <a:off x="9720072" y="2743200"/>
            <a:ext cx="1801368" cy="731520"/>
          </a:xfrm>
          <a:prstGeom prst="rect">
            <a:avLst/>
          </a:prstGeom>
          <a:noFill/>
          <a:ln/>
        </p:spPr>
        <p:txBody>
          <a:bodyPr wrap="square" lIns="0" tIns="0" rIns="0" bIns="0" rtlCol="0" anchor="t"/>
          <a:lstStyle/>
          <a:p>
            <a:pPr algn="ctr" indent="0" marL="0">
              <a:buNone/>
            </a:pPr>
            <a:r>
              <a:rPr lang="en-US" sz="1600" b="1" dirty="0">
                <a:solidFill>
                  <a:schemeClr val="tx1"/>
                </a:solidFill>
              </a:rPr>
              <a:t>Cartographie</a:t>
            </a:r>
            <a:endParaRPr lang="en-US" sz="1600" dirty="0"/>
          </a:p>
        </p:txBody>
      </p:sp>
      <p:sp>
        <p:nvSpPr>
          <p:cNvPr id="32" name="Text 23"/>
          <p:cNvSpPr txBox="1"/>
          <p:nvPr/>
        </p:nvSpPr>
        <p:spPr>
          <a:xfrm>
            <a:off x="9765792" y="3520440"/>
            <a:ext cx="1755648"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Orthophotographie</a:t>
            </a:r>
            <a:endParaRPr lang="en-US" sz="1400" dirty="0"/>
          </a:p>
          <a:p>
            <a:pPr marL="342900" indent="-342900">
              <a:spcAft>
                <a:spcPts val="600"/>
              </a:spcAft>
              <a:buSzPct val="100000"/>
              <a:buChar char="•"/>
            </a:pPr>
            <a:r>
              <a:rPr lang="en-US" sz="1400" dirty="0">
                <a:solidFill>
                  <a:schemeClr val="tx2"/>
                </a:solidFill>
              </a:rPr>
              <a:t>Relevés topographiques</a:t>
            </a:r>
            <a:endParaRPr lang="en-US" sz="1400" dirty="0"/>
          </a:p>
          <a:p>
            <a:pPr marL="342900" indent="-342900">
              <a:spcAft>
                <a:spcPts val="600"/>
              </a:spcAft>
              <a:buSzPct val="100000"/>
              <a:buChar char="•"/>
            </a:pPr>
            <a:r>
              <a:rPr lang="en-US" sz="1400" dirty="0">
                <a:solidFill>
                  <a:schemeClr val="tx2"/>
                </a:solidFill>
              </a:rPr>
              <a:t>Basse altitude</a:t>
            </a:r>
            <a:endParaRPr lang="en-US" sz="1400" dirty="0"/>
          </a:p>
        </p:txBody>
      </p:sp>
      <p:sp>
        <p:nvSpPr>
          <p:cNvPr id="33" name="Text 24"/>
          <p:cNvSpPr txBox="1"/>
          <p:nvPr/>
        </p:nvSpPr>
        <p:spPr>
          <a:xfrm>
            <a:off x="548640" y="5394960"/>
            <a:ext cx="11064240" cy="365760"/>
          </a:xfrm>
          <a:prstGeom prst="rect">
            <a:avLst/>
          </a:prstGeom>
          <a:noFill/>
          <a:ln/>
        </p:spPr>
        <p:txBody>
          <a:bodyPr wrap="square" lIns="0" tIns="0" rIns="0" bIns="0" rtlCol="0" anchor="ctr"/>
          <a:lstStyle/>
          <a:p>
            <a:pPr indent="0" marL="0">
              <a:buNone/>
            </a:pPr>
            <a:r>
              <a:rPr lang="en-US" sz="1500" i="1" dirty="0">
                <a:solidFill>
                  <a:schemeClr val="accent1"/>
                </a:solidFill>
              </a:rPr>
              <a:t>Même drone, même station, même back-end : seuls la charge utile et le modèle d'IA changent.</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863840" cy="731520"/>
          </a:xfrm>
          <a:prstGeom prst="rect">
            <a:avLst/>
          </a:prstGeom>
          <a:noFill/>
          <a:ln/>
        </p:spPr>
        <p:txBody>
          <a:bodyPr wrap="square" lIns="0" tIns="0" rIns="0" bIns="0" rtlCol="0" anchor="ctr"/>
          <a:lstStyle/>
          <a:p>
            <a:pPr algn="l" indent="0" marL="0">
              <a:buNone/>
            </a:pPr>
            <a:r>
              <a:rPr lang="en-US" sz="3200" b="1" dirty="0">
                <a:solidFill>
                  <a:schemeClr val="tx1"/>
                </a:solidFill>
              </a:rPr>
              <a:t>Avancement et prochaines étapes</a:t>
            </a:r>
            <a:endParaRPr lang="en-US" sz="3200" dirty="0"/>
          </a:p>
        </p:txBody>
      </p:sp>
      <p:sp>
        <p:nvSpPr>
          <p:cNvPr id="3" name="Intervenant Israel"/>
          <p:cNvSpPr/>
          <p:nvPr/>
        </p:nvSpPr>
        <p:spPr>
          <a:xfrm>
            <a:off x="9128455" y="457200"/>
            <a:ext cx="2514600" cy="640080"/>
          </a:xfrm>
          <a:prstGeom prst="roundRect">
            <a:avLst>
              <a:gd name="adj" fmla="val 50000"/>
            </a:avLst>
          </a:prstGeom>
          <a:solidFill>
            <a:schemeClr val="bg2"/>
          </a:solidFill>
          <a:ln w="12700">
            <a:solidFill>
              <a:schemeClr val="accent5"/>
            </a:solidFill>
            <a:prstDash val="solid"/>
          </a:ln>
        </p:spPr>
      </p:sp>
      <p:sp>
        <p:nvSpPr>
          <p:cNvPr id="4" name="Shape 2"/>
          <p:cNvSpPr/>
          <p:nvPr/>
        </p:nvSpPr>
        <p:spPr>
          <a:xfrm>
            <a:off x="9219895" y="54864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9623" y="658368"/>
            <a:ext cx="237744" cy="237744"/>
          </a:xfrm>
          <a:prstGeom prst="rect">
            <a:avLst/>
          </a:prstGeom>
        </p:spPr>
      </p:pic>
      <p:sp>
        <p:nvSpPr>
          <p:cNvPr id="6" name="Text 3"/>
          <p:cNvSpPr txBox="1"/>
          <p:nvPr/>
        </p:nvSpPr>
        <p:spPr>
          <a:xfrm>
            <a:off x="9786823" y="512064"/>
            <a:ext cx="1783080" cy="530352"/>
          </a:xfrm>
          <a:prstGeom prst="rect">
            <a:avLst/>
          </a:prstGeom>
          <a:noFill/>
          <a:ln/>
        </p:spPr>
        <p:txBody>
          <a:bodyPr wrap="square" lIns="0" tIns="0" rIns="0" bIns="0" rtlCol="0" anchor="ctr"/>
          <a:lstStyle/>
          <a:p>
            <a:pPr indent="0" marL="0">
              <a:buNone/>
            </a:pPr>
            <a:r>
              <a:rPr lang="en-US" sz="1400" b="1" dirty="0">
                <a:solidFill>
                  <a:schemeClr val="tx1"/>
                </a:solidFill>
              </a:rPr>
              <a:t>Israel</a:t>
            </a:r>
            <a:endParaRPr lang="en-US" sz="1400" dirty="0"/>
          </a:p>
          <a:p>
            <a:pPr indent="0" marL="0">
              <a:buNone/>
            </a:pPr>
            <a:r>
              <a:rPr lang="en-US" sz="1000" dirty="0">
                <a:solidFill>
                  <a:schemeClr val="tx2"/>
                </a:solidFill>
              </a:rPr>
              <a:t>Chef d'équipe</a:t>
            </a:r>
            <a:endParaRPr lang="en-US" sz="1400" dirty="0"/>
          </a:p>
        </p:txBody>
      </p:sp>
      <p:sp>
        <p:nvSpPr>
          <p:cNvPr id="8" name="Shape 4"/>
          <p:cNvSpPr/>
          <p:nvPr/>
        </p:nvSpPr>
        <p:spPr>
          <a:xfrm>
            <a:off x="1600200" y="2331720"/>
            <a:ext cx="8915400" cy="0"/>
          </a:xfrm>
          <a:prstGeom prst="line">
            <a:avLst/>
          </a:prstGeom>
          <a:noFill/>
          <a:ln w="38100">
            <a:solidFill>
              <a:schemeClr val="accent5"/>
            </a:solidFill>
            <a:prstDash val="solid"/>
          </a:ln>
        </p:spPr>
      </p:sp>
      <p:sp>
        <p:nvSpPr>
          <p:cNvPr id="9" name="Shape 5"/>
          <p:cNvSpPr/>
          <p:nvPr/>
        </p:nvSpPr>
        <p:spPr>
          <a:xfrm>
            <a:off x="1371600" y="2103120"/>
            <a:ext cx="457200" cy="457200"/>
          </a:xfrm>
          <a:prstGeom prst="ellipse">
            <a:avLst/>
          </a:prstGeom>
          <a:solidFill>
            <a:schemeClr val="accent3"/>
          </a:solidFill>
          <a:ln w="25400">
            <a:solidFill>
              <a:schemeClr val="accent5"/>
            </a:solidFill>
            <a:prstDash val="solid"/>
          </a:ln>
        </p:spPr>
      </p:sp>
      <p:sp>
        <p:nvSpPr>
          <p:cNvPr id="10" name="Text 6"/>
          <p:cNvSpPr txBox="1"/>
          <p:nvPr/>
        </p:nvSpPr>
        <p:spPr>
          <a:xfrm>
            <a:off x="411480" y="2697480"/>
            <a:ext cx="2377440" cy="411480"/>
          </a:xfrm>
          <a:prstGeom prst="rect">
            <a:avLst/>
          </a:prstGeom>
          <a:noFill/>
          <a:ln/>
        </p:spPr>
        <p:txBody>
          <a:bodyPr wrap="square" lIns="0" tIns="0" rIns="0" bIns="0" rtlCol="0" anchor="ctr"/>
          <a:lstStyle/>
          <a:p>
            <a:pPr algn="ctr" indent="0" marL="0">
              <a:buNone/>
            </a:pPr>
            <a:r>
              <a:rPr lang="en-US" sz="1700" b="1" dirty="0">
                <a:solidFill>
                  <a:schemeClr val="tx1"/>
                </a:solidFill>
              </a:rPr>
              <a:t>Août – sept.</a:t>
            </a:r>
            <a:endParaRPr lang="en-US" sz="1700" dirty="0"/>
          </a:p>
        </p:txBody>
      </p:sp>
      <p:sp>
        <p:nvSpPr>
          <p:cNvPr id="11" name="Text 7"/>
          <p:cNvSpPr txBox="1"/>
          <p:nvPr/>
        </p:nvSpPr>
        <p:spPr>
          <a:xfrm>
            <a:off x="411480" y="3108960"/>
            <a:ext cx="2377440" cy="640080"/>
          </a:xfrm>
          <a:prstGeom prst="rect">
            <a:avLst/>
          </a:prstGeom>
          <a:noFill/>
          <a:ln/>
        </p:spPr>
        <p:txBody>
          <a:bodyPr wrap="square" lIns="0" tIns="0" rIns="0" bIns="0" rtlCol="0" anchor="t"/>
          <a:lstStyle/>
          <a:p>
            <a:pPr algn="ctr" indent="0" marL="0">
              <a:buNone/>
            </a:pPr>
            <a:r>
              <a:rPr lang="en-US" sz="1400" dirty="0">
                <a:solidFill>
                  <a:schemeClr val="tx2"/>
                </a:solidFill>
              </a:rPr>
              <a:t>Conception et dossier soumis</a:t>
            </a:r>
            <a:endParaRPr lang="en-US" sz="1400" dirty="0"/>
          </a:p>
        </p:txBody>
      </p:sp>
      <p:sp>
        <p:nvSpPr>
          <p:cNvPr id="12" name="Shape 8"/>
          <p:cNvSpPr/>
          <p:nvPr/>
        </p:nvSpPr>
        <p:spPr>
          <a:xfrm>
            <a:off x="4343400" y="2103120"/>
            <a:ext cx="457200" cy="457200"/>
          </a:xfrm>
          <a:prstGeom prst="ellipse">
            <a:avLst/>
          </a:prstGeom>
          <a:solidFill>
            <a:schemeClr val="accent2"/>
          </a:solidFill>
          <a:ln w="25400">
            <a:solidFill>
              <a:schemeClr val="accent2"/>
            </a:solidFill>
            <a:prstDash val="solid"/>
          </a:ln>
        </p:spPr>
      </p:sp>
      <p:sp>
        <p:nvSpPr>
          <p:cNvPr id="13" name="Text 9"/>
          <p:cNvSpPr txBox="1"/>
          <p:nvPr/>
        </p:nvSpPr>
        <p:spPr>
          <a:xfrm>
            <a:off x="3383280" y="2697480"/>
            <a:ext cx="2377440" cy="411480"/>
          </a:xfrm>
          <a:prstGeom prst="rect">
            <a:avLst/>
          </a:prstGeom>
          <a:noFill/>
          <a:ln/>
        </p:spPr>
        <p:txBody>
          <a:bodyPr wrap="square" lIns="0" tIns="0" rIns="0" bIns="0" rtlCol="0" anchor="ctr"/>
          <a:lstStyle/>
          <a:p>
            <a:pPr algn="ctr" indent="0" marL="0">
              <a:buNone/>
            </a:pPr>
            <a:r>
              <a:rPr lang="en-US" sz="1700" b="1" dirty="0">
                <a:solidFill>
                  <a:schemeClr val="accent2"/>
                </a:solidFill>
              </a:rPr>
              <a:t>Octobre</a:t>
            </a:r>
            <a:endParaRPr lang="en-US" sz="1700" dirty="0"/>
          </a:p>
        </p:txBody>
      </p:sp>
      <p:sp>
        <p:nvSpPr>
          <p:cNvPr id="14" name="Text 10"/>
          <p:cNvSpPr txBox="1"/>
          <p:nvPr/>
        </p:nvSpPr>
        <p:spPr>
          <a:xfrm>
            <a:off x="3383280" y="3108960"/>
            <a:ext cx="2377440" cy="640080"/>
          </a:xfrm>
          <a:prstGeom prst="rect">
            <a:avLst/>
          </a:prstGeom>
          <a:noFill/>
          <a:ln/>
        </p:spPr>
        <p:txBody>
          <a:bodyPr wrap="square" lIns="0" tIns="0" rIns="0" bIns="0" rtlCol="0" anchor="t"/>
          <a:lstStyle/>
          <a:p>
            <a:pPr algn="ctr" indent="0" marL="0">
              <a:buNone/>
            </a:pPr>
            <a:r>
              <a:rPr lang="en-US" sz="1400" dirty="0">
                <a:solidFill>
                  <a:schemeClr val="tx2"/>
                </a:solidFill>
              </a:rPr>
              <a:t>Prototypage, intégration, banc d'essai</a:t>
            </a:r>
            <a:endParaRPr lang="en-US" sz="1400" dirty="0"/>
          </a:p>
        </p:txBody>
      </p:sp>
      <p:sp>
        <p:nvSpPr>
          <p:cNvPr id="15" name="Shape 11"/>
          <p:cNvSpPr/>
          <p:nvPr/>
        </p:nvSpPr>
        <p:spPr>
          <a:xfrm>
            <a:off x="7315200" y="2103120"/>
            <a:ext cx="457200" cy="457200"/>
          </a:xfrm>
          <a:prstGeom prst="ellipse">
            <a:avLst/>
          </a:prstGeom>
          <a:solidFill>
            <a:schemeClr val="bg2"/>
          </a:solidFill>
          <a:ln w="25400">
            <a:solidFill>
              <a:schemeClr val="accent5"/>
            </a:solidFill>
            <a:prstDash val="solid"/>
          </a:ln>
        </p:spPr>
      </p:sp>
      <p:sp>
        <p:nvSpPr>
          <p:cNvPr id="16" name="Text 12"/>
          <p:cNvSpPr txBox="1"/>
          <p:nvPr/>
        </p:nvSpPr>
        <p:spPr>
          <a:xfrm>
            <a:off x="6355080" y="2697480"/>
            <a:ext cx="2377440" cy="411480"/>
          </a:xfrm>
          <a:prstGeom prst="rect">
            <a:avLst/>
          </a:prstGeom>
          <a:noFill/>
          <a:ln/>
        </p:spPr>
        <p:txBody>
          <a:bodyPr wrap="square" lIns="0" tIns="0" rIns="0" bIns="0" rtlCol="0" anchor="ctr"/>
          <a:lstStyle/>
          <a:p>
            <a:pPr algn="ctr" indent="0" marL="0">
              <a:buNone/>
            </a:pPr>
            <a:r>
              <a:rPr lang="en-US" sz="1700" b="1" dirty="0">
                <a:solidFill>
                  <a:schemeClr val="tx1"/>
                </a:solidFill>
              </a:rPr>
              <a:t>Novembre</a:t>
            </a:r>
            <a:endParaRPr lang="en-US" sz="1700" dirty="0"/>
          </a:p>
        </p:txBody>
      </p:sp>
      <p:sp>
        <p:nvSpPr>
          <p:cNvPr id="17" name="Text 13"/>
          <p:cNvSpPr txBox="1"/>
          <p:nvPr/>
        </p:nvSpPr>
        <p:spPr>
          <a:xfrm>
            <a:off x="6355080" y="3108960"/>
            <a:ext cx="2377440" cy="640080"/>
          </a:xfrm>
          <a:prstGeom prst="rect">
            <a:avLst/>
          </a:prstGeom>
          <a:noFill/>
          <a:ln/>
        </p:spPr>
        <p:txBody>
          <a:bodyPr wrap="square" lIns="0" tIns="0" rIns="0" bIns="0" rtlCol="0" anchor="t"/>
          <a:lstStyle/>
          <a:p>
            <a:pPr algn="ctr" indent="0" marL="0">
              <a:buNone/>
            </a:pPr>
            <a:r>
              <a:rPr lang="en-US" sz="1400" dirty="0">
                <a:solidFill>
                  <a:schemeClr val="tx2"/>
                </a:solidFill>
              </a:rPr>
              <a:t>Essais au sol, en vol et de sécurité</a:t>
            </a:r>
            <a:endParaRPr lang="en-US" sz="1400" dirty="0"/>
          </a:p>
        </p:txBody>
      </p:sp>
      <p:sp>
        <p:nvSpPr>
          <p:cNvPr id="18" name="Shape 14"/>
          <p:cNvSpPr/>
          <p:nvPr/>
        </p:nvSpPr>
        <p:spPr>
          <a:xfrm>
            <a:off x="10287000" y="2103120"/>
            <a:ext cx="457200" cy="457200"/>
          </a:xfrm>
          <a:prstGeom prst="ellipse">
            <a:avLst/>
          </a:prstGeom>
          <a:solidFill>
            <a:schemeClr val="bg2"/>
          </a:solidFill>
          <a:ln w="25400">
            <a:solidFill>
              <a:schemeClr val="accent5"/>
            </a:solidFill>
            <a:prstDash val="solid"/>
          </a:ln>
        </p:spPr>
      </p:sp>
      <p:sp>
        <p:nvSpPr>
          <p:cNvPr id="19" name="Text 15"/>
          <p:cNvSpPr txBox="1"/>
          <p:nvPr/>
        </p:nvSpPr>
        <p:spPr>
          <a:xfrm>
            <a:off x="9326880" y="2697480"/>
            <a:ext cx="2377440" cy="411480"/>
          </a:xfrm>
          <a:prstGeom prst="rect">
            <a:avLst/>
          </a:prstGeom>
          <a:noFill/>
          <a:ln/>
        </p:spPr>
        <p:txBody>
          <a:bodyPr wrap="square" lIns="0" tIns="0" rIns="0" bIns="0" rtlCol="0" anchor="ctr"/>
          <a:lstStyle/>
          <a:p>
            <a:pPr algn="ctr" indent="0" marL="0">
              <a:buNone/>
            </a:pPr>
            <a:r>
              <a:rPr lang="en-US" sz="1700" b="1" dirty="0">
                <a:solidFill>
                  <a:schemeClr val="tx1"/>
                </a:solidFill>
              </a:rPr>
              <a:t>Décembre 2026</a:t>
            </a:r>
            <a:endParaRPr lang="en-US" sz="1700" dirty="0"/>
          </a:p>
        </p:txBody>
      </p:sp>
      <p:sp>
        <p:nvSpPr>
          <p:cNvPr id="20" name="Text 16"/>
          <p:cNvSpPr txBox="1"/>
          <p:nvPr/>
        </p:nvSpPr>
        <p:spPr>
          <a:xfrm>
            <a:off x="9326880" y="3108960"/>
            <a:ext cx="2377440" cy="640080"/>
          </a:xfrm>
          <a:prstGeom prst="rect">
            <a:avLst/>
          </a:prstGeom>
          <a:noFill/>
          <a:ln/>
        </p:spPr>
        <p:txBody>
          <a:bodyPr wrap="square" lIns="0" tIns="0" rIns="0" bIns="0" rtlCol="0" anchor="t"/>
          <a:lstStyle/>
          <a:p>
            <a:pPr algn="ctr" indent="0" marL="0">
              <a:buNone/>
            </a:pPr>
            <a:r>
              <a:rPr lang="en-US" sz="1400" dirty="0">
                <a:solidFill>
                  <a:schemeClr val="tx2"/>
                </a:solidFill>
              </a:rPr>
              <a:t>Finale : démonstration et oral</a:t>
            </a:r>
            <a:endParaRPr lang="en-US" sz="1400" dirty="0"/>
          </a:p>
        </p:txBody>
      </p:sp>
      <p:sp>
        <p:nvSpPr>
          <p:cNvPr id="21" name="Shape 17"/>
          <p:cNvSpPr/>
          <p:nvPr/>
        </p:nvSpPr>
        <p:spPr>
          <a:xfrm>
            <a:off x="3657600" y="1417320"/>
            <a:ext cx="1828800" cy="457200"/>
          </a:xfrm>
          <a:prstGeom prst="roundRect">
            <a:avLst>
              <a:gd name="adj" fmla="val 50000"/>
            </a:avLst>
          </a:prstGeom>
          <a:solidFill>
            <a:schemeClr val="accent2"/>
          </a:solidFill>
          <a:ln/>
        </p:spPr>
      </p:sp>
      <p:sp>
        <p:nvSpPr>
          <p:cNvPr id="22" name="Text 18"/>
          <p:cNvSpPr txBox="1"/>
          <p:nvPr/>
        </p:nvSpPr>
        <p:spPr>
          <a:xfrm>
            <a:off x="3657600" y="1417320"/>
            <a:ext cx="1828800" cy="457200"/>
          </a:xfrm>
          <a:prstGeom prst="rect">
            <a:avLst/>
          </a:prstGeom>
          <a:noFill/>
          <a:ln/>
        </p:spPr>
        <p:txBody>
          <a:bodyPr wrap="square" lIns="0" tIns="0" rIns="0" bIns="0" rtlCol="0" anchor="ctr"/>
          <a:lstStyle/>
          <a:p>
            <a:pPr algn="ctr" indent="0" marL="0">
              <a:buNone/>
            </a:pPr>
            <a:r>
              <a:rPr lang="en-US" sz="1400" b="1" dirty="0">
                <a:solidFill>
                  <a:schemeClr val="bg1"/>
                </a:solidFill>
              </a:rPr>
              <a:t>Nous sommes ici</a:t>
            </a:r>
            <a:endParaRPr lang="en-US" sz="1400" dirty="0"/>
          </a:p>
        </p:txBody>
      </p:sp>
      <p:sp>
        <p:nvSpPr>
          <p:cNvPr id="23" name="Remerciements"/>
          <p:cNvSpPr/>
          <p:nvPr/>
        </p:nvSpPr>
        <p:spPr>
          <a:xfrm>
            <a:off x="548640" y="4114800"/>
            <a:ext cx="11094415" cy="1737360"/>
          </a:xfrm>
          <a:prstGeom prst="roundRect">
            <a:avLst>
              <a:gd name="adj" fmla="val 6316"/>
            </a:avLst>
          </a:prstGeom>
          <a:solidFill>
            <a:schemeClr val="bg2">
              <a:alpha val="90000"/>
            </a:schemeClr>
          </a:solidFill>
          <a:ln w="19050">
            <a:solidFill>
              <a:schemeClr val="accent1"/>
            </a:solidFill>
            <a:prstDash val="solid"/>
          </a:ln>
        </p:spPr>
      </p:sp>
      <p:sp>
        <p:nvSpPr>
          <p:cNvPr id="24" name="Text 20"/>
          <p:cNvSpPr txBox="1"/>
          <p:nvPr/>
        </p:nvSpPr>
        <p:spPr>
          <a:xfrm>
            <a:off x="914400" y="4251960"/>
            <a:ext cx="10362895" cy="1463040"/>
          </a:xfrm>
          <a:prstGeom prst="rect">
            <a:avLst/>
          </a:prstGeom>
          <a:noFill/>
          <a:ln/>
        </p:spPr>
        <p:txBody>
          <a:bodyPr wrap="square" lIns="0" tIns="0" rIns="0" bIns="0" rtlCol="0" anchor="ctr"/>
          <a:lstStyle/>
          <a:p>
            <a:pPr indent="0" marL="0">
              <a:buNone/>
            </a:pPr>
            <a:r>
              <a:rPr lang="en-US" sz="2000" b="1" dirty="0">
                <a:solidFill>
                  <a:schemeClr val="tx1"/>
                </a:solidFill>
              </a:rPr>
              <a:t>Merci à l'ANAC et aux organisateurs du CECFD 2026</a:t>
            </a:r>
            <a:endParaRPr lang="en-US" sz="2000" dirty="0"/>
          </a:p>
          <a:p>
            <a:pPr indent="0" marL="0">
              <a:buNone/>
            </a:pPr>
            <a:r>
              <a:rPr lang="en-US" sz="1800" dirty="0">
                <a:solidFill>
                  <a:schemeClr val="accent2"/>
                </a:solidFill>
              </a:rPr>
              <a:t>Questions / Réponses : toute l'équipe SkyVision Togo est à votre écoute.</a:t>
            </a:r>
            <a:endParaRPr lang="en-US" sz="2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Sentinelle Aerienne">
  <a:themeElements>
    <a:clrScheme name="Sentinelle Aerienne">
      <a:dk1>
        <a:srgbClr val="E8F1FA"/>
      </a:dk1>
      <a:lt1>
        <a:srgbClr val="050C1B"/>
      </a:lt1>
      <a:dk2>
        <a:srgbClr val="9DB2C9"/>
      </a:dk2>
      <a:lt2>
        <a:srgbClr val="0F2140"/>
      </a:lt2>
      <a:accent1>
        <a:srgbClr val="00D4FF"/>
      </a:accent1>
      <a:accent2>
        <a:srgbClr val="F2A541"/>
      </a:accent2>
      <a:accent3>
        <a:srgbClr val="3CDC96"/>
      </a:accent3>
      <a:accent4>
        <a:srgbClr val="FF5F5F"/>
      </a:accent4>
      <a:accent5>
        <a:srgbClr val="1D3B63"/>
      </a:accent5>
      <a:accent6>
        <a:srgbClr val="7AA7FF"/>
      </a:accent6>
      <a:hlink>
        <a:srgbClr val="00D4FF"/>
      </a:hlink>
      <a:folHlink>
        <a:srgbClr val="7AA7FF"/>
      </a:folHlink>
    </a:clrScheme>
    <a:fontScheme name="Sentinelle Aerien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SkyVision Togo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Sentinelle Aérienne — Pitch CECFD 2026</dc:title>
  <dc:subject>PptxGenJS Presentation</dc:subject>
  <dc:creator>SkyVision Togo</dc:creator>
  <cp:lastModifiedBy>SkyVision Togo</cp:lastModifiedBy>
  <cp:revision>1</cp:revision>
  <dcterms:created xsi:type="dcterms:W3CDTF">2026-10-15T14:31:47Z</dcterms:created>
  <dcterms:modified xsi:type="dcterms:W3CDTF">2026-10-15T14:31:47Z</dcterms:modified>
</cp:coreProperties>
</file>