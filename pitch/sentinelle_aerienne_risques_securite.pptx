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10481d1-ef09-6077-7ca1-055b405772ba}">
          <p14:sldIdLst>
            <p14:sldId id="256"/>
          </p14:sldIdLst>
        </p14:section>
        <p14:section name="Avantages" id="{e055ba5c-6032-f44d-c062-92f2507051cc}">
          <p14:sldIdLst>
            <p14:sldId id="257"/>
          </p14:sldIdLst>
        </p14:section>
        <p14:section name="Risques" id="{9f02363e-b63e-d6bc-f9f7-2b8549c0d7ad}">
          <p14:sldIdLst>
            <p14:sldId id="258"/>
          </p14:sldIdLst>
        </p14:section>
        <p14:section name="Réglementation" id="{642bbb17-bb99-523d-f6e8-4404bdac2bdf}">
          <p14:sldIdLst>
            <p14:sldId id="259"/>
          </p14:sldIdLst>
        </p14:section>
        <p14:section name="Sécurité" id="{f678eb25-a766-37f7-c11a-c1d1e573fffd}">
          <p14:sldIdLst>
            <p14:sldId id="260"/>
          </p14:sldIdLst>
        </p14:section>
        <p14:section name="Conclusion" id="{9f8e8894-f60c-a243-74bd-13e448140eaa}">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30 s)
Bonjour. Dans cette partie, nous vous présentons ce que notre drone apporte, les risques que nous avons identifiés, le cadre réglementaire que nous respectons, et les mesures de sécurité prévues.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60 s)
Notre drone décolle à la verticale, donc il n'a pas besoin de piste. En croisière, c'est l'aile qui le porte : il vole longtemps et couvre de grandes surfaces.
L'IA à bord donne l'alerte pendant le vol, sans internet. La liaison est sécurisée. Les agents n'ont plus à parcourir la piste eux-mêmes. Et la même plateforme peut servir à d'autres missions en changeant la charge utile.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puis Makafui de MEDEIROS (environ 90 s)
Nous avons listé les risques principaux, et pour chacun une réponse.
Si la liaison radio est perdue, le drone rentre seul au point de départ et atterrit à la verticale. Si la batterie devient faible, il rentre ; si elle est critique, il atterrit immédiatement.
Le moment le plus délicat, c'est le vol vertical : on le garde court, à faible hauteur, au-dessus d'une zone dégagée. Les servos qui font basculer les moteurs sont contrôlés à chaque check-list.
[Makafui] Côté radio, contre le brouillage et le leurrage GPS, nous comparons deux GPS avec les autres capteurs. Contre le piratage, la liaison est chiffrée et les ordres sont signés. Le géorepérage empêche de sortir de la zone autorisée.
Enfin, l'IA peut se tromper : un objet incertain est signalé « à vérifier », et c'est toujours l'humain qui décide.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Cédric KODJOVI (environ 75 s)
Côté réglementation, nous respectons deux grandes familles de règles.
Pour le vol : nous ne volons qu'avec l'autorisation de l'ANAC, en vue directe du télépilote sauf autorisation particulière, dans une zone et à une hauteur limitées, que le géorepérage fait respecter. Pas de vol au-dessus de la foule ni près d'un aérodrome sans accord. Le télépilote est formé et suit des check-lists.
Pour les ondes et les données : nos fréquences radio doivent être autorisées par l'ARCEP. Comme le drone peut filmer des personnes, nous respectons la loi togolaise sur la protection des données personnelles : pas de reconnaissance faciale, on ne garde que les images d'alerte, et l'accès est réservé aux personnes autorisées.
Enfin, les essais sur un vrai site se font uniquement avec l'accord de l'exploitant.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Makafui de MEDEIROS (environ 75 s)
Bonjour, je m'appelle de MEDEIROS Makafui. La sécurité se joue à deux niveaux.
D'abord la sécurité du vol. Le contrôleur de vol est séparé du module IA, donc une panne de l'IA ne touche pas le vol. En cas de perte de radio, de batterie faible ou de GPS dégradé, le drone applique automatiquement une procédure de secours : retour au point de départ ou atterrissage. Le géorepérage limite la zone et la hauteur, et une coupure d'urgence reste toujours possible. Avant le décollage, le drone vérifie lui-même que tout est prêt.
Ensuite la cybersécurité. La liaison est chiffrée, et chaque message est signé avec une clé secrète chargée au sol : un faux ordre est rejeté. Nous détectons le brouillage, nous comparons les sources de position contre le leurrage GPS, et les journaux de vol sont signés pour qu'on ne puisse pas les modifier.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Israel AWADE (environ 35 s)
Pour résumer : notre drone est utile, il est rapide, autonome et n'a pas besoin de piste. Nous avons identifié ses risques et prévu une réponse pour chacun. Nous respectons le cadre de l'ANAC, de l'ARCEP et la protection des données. Et la sécurité est pensée dès la conception. Merci, nous sommes prêts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Shape 0"/>
          <p:cNvSpPr/>
          <p:nvPr/>
        </p:nvSpPr>
        <p:spPr>
          <a:xfrm>
            <a:off x="594360" y="6291072"/>
            <a:ext cx="11002975" cy="0"/>
          </a:xfrm>
          <a:prstGeom prst="line">
            <a:avLst/>
          </a:prstGeom>
          <a:noFill/>
          <a:ln w="9525">
            <a:solidFill>
              <a:schemeClr val="accent5"/>
            </a:solidFill>
            <a:prstDash val="solid"/>
          </a:ln>
        </p:spPr>
      </p:sp>
      <p:sp>
        <p:nvSpPr>
          <p:cNvPr id="4" name="Text 1"/>
          <p:cNvSpPr/>
          <p:nvPr/>
        </p:nvSpPr>
        <p:spPr>
          <a:xfrm>
            <a:off x="594360"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rPr>
              <a:t>SkyVision Togo · Sentinelle Aérienne · CECFD 2026</a:t>
            </a:r>
            <a:endParaRPr lang="en-US" sz="10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94360" y="640080"/>
            <a:ext cx="6400800" cy="320040"/>
          </a:xfrm>
          <a:prstGeom prst="rect">
            <a:avLst/>
          </a:prstGeom>
          <a:noFill/>
          <a:ln/>
        </p:spPr>
        <p:txBody>
          <a:bodyPr wrap="square" lIns="0" tIns="0" rIns="0" bIns="0" rtlCol="0" anchor="ctr"/>
          <a:lstStyle/>
          <a:p>
            <a:pPr indent="0" marL="0">
              <a:buNone/>
            </a:pPr>
            <a:r>
              <a:rPr lang="en-US" sz="1400" b="1" dirty="0">
                <a:solidFill>
                  <a:schemeClr val="accent1"/>
                </a:solidFill>
              </a:rPr>
              <a:t>SkyVision Togo · CECFD 2026 · ANAC</a:t>
            </a:r>
            <a:endParaRPr lang="en-US" sz="1400" dirty="0"/>
          </a:p>
        </p:txBody>
      </p:sp>
      <p:sp>
        <p:nvSpPr>
          <p:cNvPr id="3" name="Text 1"/>
          <p:cNvSpPr txBox="1"/>
          <p:nvPr/>
        </p:nvSpPr>
        <p:spPr>
          <a:xfrm>
            <a:off x="594360" y="1051560"/>
            <a:ext cx="6400800" cy="914400"/>
          </a:xfrm>
          <a:prstGeom prst="rect">
            <a:avLst/>
          </a:prstGeom>
          <a:noFill/>
          <a:ln/>
        </p:spPr>
        <p:txBody>
          <a:bodyPr wrap="square" lIns="0" tIns="0" rIns="0" bIns="0" rtlCol="0" anchor="ctr"/>
          <a:lstStyle/>
          <a:p>
            <a:pPr indent="0" marL="0">
              <a:buNone/>
            </a:pPr>
            <a:r>
              <a:rPr lang="en-US" sz="4800" b="1" dirty="0">
                <a:solidFill>
                  <a:schemeClr val="tx1"/>
                </a:solidFill>
              </a:rPr>
              <a:t>Sentinelle Aérienne</a:t>
            </a:r>
            <a:endParaRPr lang="en-US" sz="4800" dirty="0"/>
          </a:p>
        </p:txBody>
      </p:sp>
      <p:sp>
        <p:nvSpPr>
          <p:cNvPr id="4" name="Text 2"/>
          <p:cNvSpPr txBox="1"/>
          <p:nvPr/>
        </p:nvSpPr>
        <p:spPr>
          <a:xfrm>
            <a:off x="594360" y="2011680"/>
            <a:ext cx="5394960" cy="1097280"/>
          </a:xfrm>
          <a:prstGeom prst="rect">
            <a:avLst/>
          </a:prstGeom>
          <a:noFill/>
          <a:ln/>
        </p:spPr>
        <p:txBody>
          <a:bodyPr wrap="square" lIns="0" tIns="0" rIns="0" bIns="0" rtlCol="0" anchor="t"/>
          <a:lstStyle/>
          <a:p>
            <a:pPr indent="0" marL="0">
              <a:buNone/>
            </a:pPr>
            <a:r>
              <a:rPr lang="en-US" sz="2000" dirty="0">
                <a:solidFill>
                  <a:schemeClr val="tx2"/>
                </a:solidFill>
              </a:rPr>
              <a:t>Avantages, risques, réglementation et sécurité</a:t>
            </a:r>
            <a:endParaRPr lang="en-US" sz="2000" dirty="0"/>
          </a:p>
        </p:txBody>
      </p:sp>
      <p:pic>
        <p:nvPicPr>
          <p:cNvPr id="5" name="Image 0" descr="Vue CAO du drone">    </p:cNvPr>
          <p:cNvPicPr>
            <a:picLocks noChangeAspect="1"/>
          </p:cNvPicPr>
          <p:nvPr/>
        </p:nvPicPr>
        <p:blipFill>
          <a:blip r:embed="rId1"/>
          <a:stretch>
            <a:fillRect/>
          </a:stretch>
        </p:blipFill>
        <p:spPr>
          <a:xfrm>
            <a:off x="6400800" y="1870439"/>
            <a:ext cx="5196535" cy="2659921"/>
          </a:xfrm>
          <a:prstGeom prst="rect">
            <a:avLst/>
          </a:prstGeom>
        </p:spPr>
      </p:pic>
      <p:sp>
        <p:nvSpPr>
          <p:cNvPr id="6" name="Text 3"/>
          <p:cNvSpPr txBox="1"/>
          <p:nvPr/>
        </p:nvSpPr>
        <p:spPr>
          <a:xfrm>
            <a:off x="594360" y="6035040"/>
            <a:ext cx="11002975" cy="365760"/>
          </a:xfrm>
          <a:prstGeom prst="rect">
            <a:avLst/>
          </a:prstGeom>
          <a:noFill/>
          <a:ln/>
        </p:spPr>
        <p:txBody>
          <a:bodyPr wrap="square" lIns="0" tIns="0" rIns="0" bIns="0" rtlCol="0" anchor="ctr"/>
          <a:lstStyle/>
          <a:p>
            <a:pPr indent="0" marL="0">
              <a:buNone/>
            </a:pPr>
            <a:r>
              <a:rPr lang="en-US" sz="1400" dirty="0">
                <a:solidFill>
                  <a:schemeClr val="tx2"/>
                </a:solidFill>
              </a:rPr>
              <a:t>Drone VTOL de surveillance avec intelligence artificielle embarquée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Les avantages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3840480"/>
                <a:gridCol w="7162495"/>
              </a:tblGrid>
              <a:tr h="566928">
                <a:tc>
                  <a:txBody>
                    <a:bodyPr/>
                    <a:lstStyle/>
                    <a:p>
                      <a:pPr indent="0" marL="0">
                        <a:buNone/>
                      </a:pPr>
                      <a:r>
                        <a:rPr lang="en-US" sz="1600" b="1" dirty="0">
                          <a:solidFill>
                            <a:schemeClr val="accent1"/>
                          </a:solidFill>
                        </a:rPr>
                        <a:t>Avantage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600" b="1" dirty="0">
                          <a:solidFill>
                            <a:schemeClr val="accent1"/>
                          </a:solidFill>
                        </a:rPr>
                        <a:t>Ce que ça change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Décollage vertical</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Pas besoin de piste : il part de n'importe quelle zone dégagée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Vol sur l'aile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Grande autonomie (30 à 45 min visées) et grandes surfaces couvertes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IA à bord</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Alerte immédiate pendant le vol, sans internet ni cloud</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Liaison sécurisée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Données chiffrées, ordres signés, résistance au brouillage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Moins de risques humains</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Les agents ne parcourent plus la piste à pied ou en véhicule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566928">
                <a:tc>
                  <a:txBody>
                    <a:bodyPr/>
                    <a:lstStyle/>
                    <a:p>
                      <a:pPr indent="0" marL="0">
                        <a:buNone/>
                      </a:pPr>
                      <a:r>
                        <a:rPr lang="en-US" sz="1600" b="1" dirty="0">
                          <a:solidFill>
                            <a:schemeClr val="tx1"/>
                          </a:solidFill>
                        </a:rPr>
                        <a:t>Plateforme modulaire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600" dirty="0">
                          <a:solidFill>
                            <a:schemeClr val="tx1"/>
                          </a:solidFill>
                        </a:rPr>
                        <a:t>Aéroports, infrastructures, agriculture, cartographie, humanitaire</a:t>
                      </a:r>
                      <a:endParaRPr lang="en-US" sz="16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Les risques et nos réponses</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Israel AWADE et Makafui de MEDEIROS</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1463040"/>
          <a:ext cx="11002975" cy="914400"/>
        </p:xfrm>
        <a:graphic>
          <a:graphicData uri="http://schemas.openxmlformats.org/drawingml/2006/table">
            <a:tbl>
              <a:tblPr/>
              <a:tblGrid>
                <a:gridCol w="3566160"/>
                <a:gridCol w="7436815"/>
              </a:tblGrid>
              <a:tr h="457200">
                <a:tc>
                  <a:txBody>
                    <a:bodyPr/>
                    <a:lstStyle/>
                    <a:p>
                      <a:pPr indent="0" marL="0">
                        <a:buNone/>
                      </a:pPr>
                      <a:r>
                        <a:rPr lang="en-US" sz="1400" b="1" dirty="0">
                          <a:solidFill>
                            <a:schemeClr val="accent1"/>
                          </a:solidFill>
                        </a:rPr>
                        <a:t>Risque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Notre réponse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Perte de la liaison radio</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Retour automatique au point de départ, puis atterrissage vertical</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Batterie faible ou défaillante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Surveillance de la tension ; retour, puis atterrissage immédiat si critique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Panne en vol stationnaire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Phase verticale courte, à faible hauteur, au-dessus d'une zone dégagée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Servo de basculement bloqué</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Servos à engrenages métal, contrôle à chaque check-list, essais progressifs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Brouillage ou leurrage GPS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Deux GPS comparés aux autres capteurs ; atterrissage sécurisé si doute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Piratage, faux ordres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Liaison chiffrée, messages signés, canal d'urgence indépendant</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Sortie de zone autorisée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Géorepérage : demi-tour automatique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Erreur de l'IA</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Objet incertain signalé « à vérifier » ; l'humain décide, l'IA ne pilote pas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r h="457200">
                <a:tc>
                  <a:txBody>
                    <a:bodyPr/>
                    <a:lstStyle/>
                    <a:p>
                      <a:pPr indent="0" marL="0">
                        <a:buNone/>
                      </a:pPr>
                      <a:r>
                        <a:rPr lang="en-US" sz="1400" b="1" dirty="0">
                          <a:solidFill>
                            <a:schemeClr val="tx1"/>
                          </a:solidFill>
                        </a:rPr>
                        <a:t>Météo (vent, pluie)</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c>
                  <a:txBody>
                    <a:bodyPr/>
                    <a:lstStyle/>
                    <a:p>
                      <a:pPr indent="0" marL="0">
                        <a:buNone/>
                      </a:pPr>
                      <a:r>
                        <a:rPr lang="en-US" sz="1400" dirty="0">
                          <a:solidFill>
                            <a:schemeClr val="tx1"/>
                          </a:solidFill>
                        </a:rPr>
                        <a:t>Pas de vol hors des limites fixées après essais</a:t>
                      </a:r>
                      <a:endParaRPr lang="en-US" sz="1400" dirty="0"/>
                    </a:p>
                  </a:txBody>
                  <a:tcPr marL="109728" marR="109728" marT="36576" marB="36576" anchor="ctr">
                    <a:lnL w="0" cap="flat" cmpd="sng" algn="ctr">
                      <a:noFill/>
                    </a:lnL>
                    <a:lnR w="0" cap="flat" cmpd="sng" algn="ctr">
                      <a:noFill/>
                    </a:lnR>
                    <a:lnT w="0" cap="flat" cmpd="sng" algn="ctr">
                      <a:noFill/>
                    </a:lnT>
                    <a:lnB w="9525" cap="flat" cmpd="sng" algn="ctr">
                      <a:solidFill>
                        <a:srgbClr val="D3D9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La réglementation</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Cédric KODJOVI</a:t>
            </a:r>
            <a:endParaRPr lang="en-US" sz="1000" dirty="0"/>
          </a:p>
        </p:txBody>
      </p:sp>
      <p:sp>
        <p:nvSpPr>
          <p:cNvPr id="4" name="Text 2"/>
          <p:cNvSpPr txBox="1"/>
          <p:nvPr/>
        </p:nvSpPr>
        <p:spPr>
          <a:xfrm>
            <a:off x="594360"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Le vol</a:t>
            </a:r>
            <a:endParaRPr lang="en-US" sz="1800" dirty="0"/>
          </a:p>
        </p:txBody>
      </p:sp>
      <p:sp>
        <p:nvSpPr>
          <p:cNvPr id="5" name="Text 3"/>
          <p:cNvSpPr txBox="1"/>
          <p:nvPr/>
        </p:nvSpPr>
        <p:spPr>
          <a:xfrm>
            <a:off x="594360" y="1874520"/>
            <a:ext cx="5227168" cy="2834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Autorisation de l'ANAC Togo avant tout vol</a:t>
            </a:r>
            <a:endParaRPr lang="en-US" sz="1600" dirty="0"/>
          </a:p>
          <a:p>
            <a:pPr marL="228600" indent="-228600">
              <a:spcAft>
                <a:spcPts val="800"/>
              </a:spcAft>
              <a:buSzPct val="100000"/>
              <a:buChar char="•"/>
            </a:pPr>
            <a:r>
              <a:rPr lang="en-US" sz="1600" dirty="0">
                <a:solidFill>
                  <a:schemeClr val="tx1"/>
                </a:solidFill>
              </a:rPr>
              <a:t>Vol en vue directe du télépilote, sauf autorisation</a:t>
            </a:r>
            <a:endParaRPr lang="en-US" sz="1600" dirty="0"/>
          </a:p>
          <a:p>
            <a:pPr marL="228600" indent="-228600">
              <a:spcAft>
                <a:spcPts val="800"/>
              </a:spcAft>
              <a:buSzPct val="100000"/>
              <a:buChar char="•"/>
            </a:pPr>
            <a:r>
              <a:rPr lang="en-US" sz="1600" dirty="0">
                <a:solidFill>
                  <a:schemeClr val="tx1"/>
                </a:solidFill>
              </a:rPr>
              <a:t>Hauteur et zone limitées, géorepérage activé</a:t>
            </a:r>
            <a:endParaRPr lang="en-US" sz="1600" dirty="0"/>
          </a:p>
          <a:p>
            <a:pPr marL="228600" indent="-228600">
              <a:spcAft>
                <a:spcPts val="800"/>
              </a:spcAft>
              <a:buSzPct val="100000"/>
              <a:buChar char="•"/>
            </a:pPr>
            <a:r>
              <a:rPr lang="en-US" sz="1600" dirty="0">
                <a:solidFill>
                  <a:schemeClr val="tx1"/>
                </a:solidFill>
              </a:rPr>
              <a:t>Pas de vol au-dessus de la foule ni près d'un aérodrome sans accord</a:t>
            </a:r>
            <a:endParaRPr lang="en-US" sz="1600" dirty="0"/>
          </a:p>
          <a:p>
            <a:pPr marL="228600" indent="-228600">
              <a:spcAft>
                <a:spcPts val="800"/>
              </a:spcAft>
              <a:buSzPct val="100000"/>
              <a:buChar char="•"/>
            </a:pPr>
            <a:r>
              <a:rPr lang="en-US" sz="1600" dirty="0">
                <a:solidFill>
                  <a:schemeClr val="tx1"/>
                </a:solidFill>
              </a:rPr>
              <a:t>Télépilote formé, check-lists avant et après vol</a:t>
            </a:r>
            <a:endParaRPr lang="en-US" sz="1600" dirty="0"/>
          </a:p>
        </p:txBody>
      </p:sp>
      <p:sp>
        <p:nvSpPr>
          <p:cNvPr id="6" name="Text 4"/>
          <p:cNvSpPr txBox="1"/>
          <p:nvPr/>
        </p:nvSpPr>
        <p:spPr>
          <a:xfrm>
            <a:off x="6370168"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Les ondes et les données</a:t>
            </a:r>
            <a:endParaRPr lang="en-US" sz="1800" dirty="0"/>
          </a:p>
        </p:txBody>
      </p:sp>
      <p:sp>
        <p:nvSpPr>
          <p:cNvPr id="7" name="Text 5"/>
          <p:cNvSpPr txBox="1"/>
          <p:nvPr/>
        </p:nvSpPr>
        <p:spPr>
          <a:xfrm>
            <a:off x="6370168" y="1874520"/>
            <a:ext cx="5227168" cy="2834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Fréquences radio autorisées par l'ARCEP</a:t>
            </a:r>
            <a:endParaRPr lang="en-US" sz="1600" dirty="0"/>
          </a:p>
          <a:p>
            <a:pPr marL="228600" indent="-228600">
              <a:spcAft>
                <a:spcPts val="800"/>
              </a:spcAft>
              <a:buSzPct val="100000"/>
              <a:buChar char="•"/>
            </a:pPr>
            <a:r>
              <a:rPr lang="en-US" sz="1600" dirty="0">
                <a:solidFill>
                  <a:schemeClr val="tx1"/>
                </a:solidFill>
              </a:rPr>
              <a:t>Protection des données personnelles (loi togolaise de 2019)</a:t>
            </a:r>
            <a:endParaRPr lang="en-US" sz="1600" dirty="0"/>
          </a:p>
          <a:p>
            <a:pPr marL="228600" indent="-228600">
              <a:spcAft>
                <a:spcPts val="800"/>
              </a:spcAft>
              <a:buSzPct val="100000"/>
              <a:buChar char="•"/>
            </a:pPr>
            <a:r>
              <a:rPr lang="en-US" sz="1600" dirty="0">
                <a:solidFill>
                  <a:schemeClr val="tx1"/>
                </a:solidFill>
              </a:rPr>
              <a:t>Pas de reconnaissance faciale, images d'alerte seulement</a:t>
            </a:r>
            <a:endParaRPr lang="en-US" sz="1600" dirty="0"/>
          </a:p>
          <a:p>
            <a:pPr marL="228600" indent="-228600">
              <a:spcAft>
                <a:spcPts val="800"/>
              </a:spcAft>
              <a:buSzPct val="100000"/>
              <a:buChar char="•"/>
            </a:pPr>
            <a:r>
              <a:rPr lang="en-US" sz="1600" dirty="0">
                <a:solidFill>
                  <a:schemeClr val="tx1"/>
                </a:solidFill>
              </a:rPr>
              <a:t>Accès aux données réservé aux personnes autorisées</a:t>
            </a:r>
            <a:endParaRPr lang="en-US" sz="1600" dirty="0"/>
          </a:p>
          <a:p>
            <a:pPr marL="228600" indent="-228600">
              <a:spcAft>
                <a:spcPts val="800"/>
              </a:spcAft>
              <a:buSzPct val="100000"/>
              <a:buChar char="•"/>
            </a:pPr>
            <a:r>
              <a:rPr lang="en-US" sz="1600" dirty="0">
                <a:solidFill>
                  <a:schemeClr val="tx1"/>
                </a:solidFill>
              </a:rPr>
              <a:t>Essais sur site uniquement avec l'accord de l'exploitant</a:t>
            </a:r>
            <a:endParaRPr lang="en-US" sz="1600" dirty="0"/>
          </a:p>
        </p:txBody>
      </p:sp>
      <p:sp>
        <p:nvSpPr>
          <p:cNvPr id="8" name="Encadré"/>
          <p:cNvSpPr/>
          <p:nvPr/>
        </p:nvSpPr>
        <p:spPr>
          <a:xfrm>
            <a:off x="594360" y="4892040"/>
            <a:ext cx="11002975" cy="685800"/>
          </a:xfrm>
          <a:prstGeom prst="rect">
            <a:avLst/>
          </a:prstGeom>
          <a:solidFill>
            <a:schemeClr val="bg2"/>
          </a:solidFill>
          <a:ln w="9525">
            <a:solidFill>
              <a:schemeClr val="accent5"/>
            </a:solidFill>
            <a:prstDash val="solid"/>
          </a:ln>
        </p:spPr>
      </p:sp>
      <p:sp>
        <p:nvSpPr>
          <p:cNvPr id="9" name="Text 7"/>
          <p:cNvSpPr txBox="1"/>
          <p:nvPr/>
        </p:nvSpPr>
        <p:spPr>
          <a:xfrm>
            <a:off x="822960" y="4892040"/>
            <a:ext cx="10545775" cy="685800"/>
          </a:xfrm>
          <a:prstGeom prst="rect">
            <a:avLst/>
          </a:prstGeom>
          <a:noFill/>
          <a:ln/>
        </p:spPr>
        <p:txBody>
          <a:bodyPr wrap="square" lIns="0" tIns="0" rIns="0" bIns="0" rtlCol="0" anchor="ctr"/>
          <a:lstStyle/>
          <a:p>
            <a:pPr indent="0" marL="0">
              <a:buNone/>
            </a:pPr>
            <a:r>
              <a:rPr lang="en-US" sz="1700" dirty="0">
                <a:solidFill>
                  <a:schemeClr val="tx1"/>
                </a:solidFill>
              </a:rPr>
              <a:t>Nous ne volons qu'avec les autorisations nécessaires, et nous respectons le règlement du concours.</a:t>
            </a:r>
            <a:endParaRPr lang="en-US" sz="17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94360" y="411480"/>
            <a:ext cx="11002975" cy="685800"/>
          </a:xfrm>
          <a:prstGeom prst="rect">
            <a:avLst/>
          </a:prstGeom>
          <a:noFill/>
          <a:ln/>
        </p:spPr>
        <p:txBody>
          <a:bodyPr wrap="square" lIns="0" tIns="0" rIns="0" bIns="0" rtlCol="0" anchor="ctr"/>
          <a:lstStyle/>
          <a:p>
            <a:pPr algn="l" indent="0" marL="0">
              <a:buNone/>
            </a:pPr>
            <a:r>
              <a:rPr lang="en-US" sz="3000" b="1" dirty="0">
                <a:solidFill>
                  <a:schemeClr val="tx1"/>
                </a:solidFill>
              </a:rPr>
              <a:t>La sécurité</a:t>
            </a:r>
            <a:endParaRPr lang="en-US" sz="3000" dirty="0"/>
          </a:p>
        </p:txBody>
      </p:sp>
      <p:sp>
        <p:nvSpPr>
          <p:cNvPr id="3" name="Text 1"/>
          <p:cNvSpPr txBox="1"/>
          <p:nvPr/>
        </p:nvSpPr>
        <p:spPr>
          <a:xfrm>
            <a:off x="7025335" y="6382512"/>
            <a:ext cx="4069080" cy="274320"/>
          </a:xfrm>
          <a:prstGeom prst="rect">
            <a:avLst/>
          </a:prstGeom>
          <a:noFill/>
          <a:ln/>
        </p:spPr>
        <p:txBody>
          <a:bodyPr wrap="square" lIns="0" tIns="0" rIns="0" bIns="0" rtlCol="0" anchor="ctr"/>
          <a:lstStyle/>
          <a:p>
            <a:pPr algn="r" indent="0" marL="0">
              <a:buNone/>
            </a:pPr>
            <a:r>
              <a:rPr lang="en-US" sz="1000" dirty="0">
                <a:solidFill>
                  <a:schemeClr val="tx2"/>
                </a:solidFill>
              </a:rPr>
              <a:t>Makafui de MEDEIROS</a:t>
            </a:r>
            <a:endParaRPr lang="en-US" sz="1000" dirty="0"/>
          </a:p>
        </p:txBody>
      </p:sp>
      <p:sp>
        <p:nvSpPr>
          <p:cNvPr id="4" name="Text 2"/>
          <p:cNvSpPr txBox="1"/>
          <p:nvPr/>
        </p:nvSpPr>
        <p:spPr>
          <a:xfrm>
            <a:off x="594360"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Sécurité du vol</a:t>
            </a:r>
            <a:endParaRPr lang="en-US" sz="1800" dirty="0"/>
          </a:p>
        </p:txBody>
      </p:sp>
      <p:sp>
        <p:nvSpPr>
          <p:cNvPr id="5" name="Text 3"/>
          <p:cNvSpPr txBox="1"/>
          <p:nvPr/>
        </p:nvSpPr>
        <p:spPr>
          <a:xfrm>
            <a:off x="594360" y="1874520"/>
            <a:ext cx="5227168" cy="2834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Contrôleur de vol séparé du module IA</a:t>
            </a:r>
            <a:endParaRPr lang="en-US" sz="1600" dirty="0"/>
          </a:p>
          <a:p>
            <a:pPr marL="228600" indent="-228600">
              <a:spcAft>
                <a:spcPts val="800"/>
              </a:spcAft>
              <a:buSzPct val="100000"/>
              <a:buChar char="•"/>
            </a:pPr>
            <a:r>
              <a:rPr lang="en-US" sz="1600" dirty="0">
                <a:solidFill>
                  <a:schemeClr val="tx1"/>
                </a:solidFill>
              </a:rPr>
              <a:t>Retour automatique au point de départ (RTH)</a:t>
            </a:r>
            <a:endParaRPr lang="en-US" sz="1600" dirty="0"/>
          </a:p>
          <a:p>
            <a:pPr marL="228600" indent="-228600">
              <a:spcAft>
                <a:spcPts val="800"/>
              </a:spcAft>
              <a:buSzPct val="100000"/>
              <a:buChar char="•"/>
            </a:pPr>
            <a:r>
              <a:rPr lang="en-US" sz="1600" dirty="0">
                <a:solidFill>
                  <a:schemeClr val="tx1"/>
                </a:solidFill>
              </a:rPr>
              <a:t>Fail-safe radio, batterie et GPS</a:t>
            </a:r>
            <a:endParaRPr lang="en-US" sz="1600" dirty="0"/>
          </a:p>
          <a:p>
            <a:pPr marL="228600" indent="-228600">
              <a:spcAft>
                <a:spcPts val="800"/>
              </a:spcAft>
              <a:buSzPct val="100000"/>
              <a:buChar char="•"/>
            </a:pPr>
            <a:r>
              <a:rPr lang="en-US" sz="1600" dirty="0">
                <a:solidFill>
                  <a:schemeClr val="tx1"/>
                </a:solidFill>
              </a:rPr>
              <a:t>Coupure d'urgence des moteurs</a:t>
            </a:r>
            <a:endParaRPr lang="en-US" sz="1600" dirty="0"/>
          </a:p>
          <a:p>
            <a:pPr marL="228600" indent="-228600">
              <a:spcAft>
                <a:spcPts val="800"/>
              </a:spcAft>
              <a:buSzPct val="100000"/>
              <a:buChar char="•"/>
            </a:pPr>
            <a:r>
              <a:rPr lang="en-US" sz="1600" dirty="0">
                <a:solidFill>
                  <a:schemeClr val="tx1"/>
                </a:solidFill>
              </a:rPr>
              <a:t>Géorepérage : zone et hauteur maximales</a:t>
            </a:r>
            <a:endParaRPr lang="en-US" sz="1600" dirty="0"/>
          </a:p>
          <a:p>
            <a:pPr marL="228600" indent="-228600">
              <a:spcAft>
                <a:spcPts val="800"/>
              </a:spcAft>
              <a:buSzPct val="100000"/>
              <a:buChar char="•"/>
            </a:pPr>
            <a:r>
              <a:rPr lang="en-US" sz="1600" dirty="0">
                <a:solidFill>
                  <a:schemeClr val="tx1"/>
                </a:solidFill>
              </a:rPr>
              <a:t>Vérifications automatiques avant décollage</a:t>
            </a:r>
            <a:endParaRPr lang="en-US" sz="1600" dirty="0"/>
          </a:p>
        </p:txBody>
      </p:sp>
      <p:sp>
        <p:nvSpPr>
          <p:cNvPr id="6" name="Text 4"/>
          <p:cNvSpPr txBox="1"/>
          <p:nvPr/>
        </p:nvSpPr>
        <p:spPr>
          <a:xfrm>
            <a:off x="6370168" y="1417320"/>
            <a:ext cx="5227168" cy="365760"/>
          </a:xfrm>
          <a:prstGeom prst="rect">
            <a:avLst/>
          </a:prstGeom>
          <a:noFill/>
          <a:ln/>
        </p:spPr>
        <p:txBody>
          <a:bodyPr wrap="square" lIns="0" tIns="0" rIns="0" bIns="0" rtlCol="0" anchor="ctr"/>
          <a:lstStyle/>
          <a:p>
            <a:pPr indent="0" marL="0">
              <a:buNone/>
            </a:pPr>
            <a:r>
              <a:rPr lang="en-US" sz="1800" b="1" dirty="0">
                <a:solidFill>
                  <a:schemeClr val="accent1"/>
                </a:solidFill>
              </a:rPr>
              <a:t>Cybersécurité</a:t>
            </a:r>
            <a:endParaRPr lang="en-US" sz="1800" dirty="0"/>
          </a:p>
        </p:txBody>
      </p:sp>
      <p:sp>
        <p:nvSpPr>
          <p:cNvPr id="7" name="Text 5"/>
          <p:cNvSpPr txBox="1"/>
          <p:nvPr/>
        </p:nvSpPr>
        <p:spPr>
          <a:xfrm>
            <a:off x="6370168" y="1874520"/>
            <a:ext cx="5227168" cy="2834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Liaison chiffrée</a:t>
            </a:r>
            <a:endParaRPr lang="en-US" sz="1600" dirty="0"/>
          </a:p>
          <a:p>
            <a:pPr marL="228600" indent="-228600">
              <a:spcAft>
                <a:spcPts val="800"/>
              </a:spcAft>
              <a:buSzPct val="100000"/>
              <a:buChar char="•"/>
            </a:pPr>
            <a:r>
              <a:rPr lang="en-US" sz="1600" dirty="0">
                <a:solidFill>
                  <a:schemeClr val="tx1"/>
                </a:solidFill>
              </a:rPr>
              <a:t>Messages MAVLink signés : faux ordres rejetés</a:t>
            </a:r>
            <a:endParaRPr lang="en-US" sz="1600" dirty="0"/>
          </a:p>
          <a:p>
            <a:pPr marL="228600" indent="-228600">
              <a:spcAft>
                <a:spcPts val="800"/>
              </a:spcAft>
              <a:buSzPct val="100000"/>
              <a:buChar char="•"/>
            </a:pPr>
            <a:r>
              <a:rPr lang="en-US" sz="1600" dirty="0">
                <a:solidFill>
                  <a:schemeClr val="tx1"/>
                </a:solidFill>
              </a:rPr>
              <a:t>Clé secrète chargée au sol avant le vol</a:t>
            </a:r>
            <a:endParaRPr lang="en-US" sz="1600" dirty="0"/>
          </a:p>
          <a:p>
            <a:pPr marL="228600" indent="-228600">
              <a:spcAft>
                <a:spcPts val="800"/>
              </a:spcAft>
              <a:buSzPct val="100000"/>
              <a:buChar char="•"/>
            </a:pPr>
            <a:r>
              <a:rPr lang="en-US" sz="1600" dirty="0">
                <a:solidFill>
                  <a:schemeClr val="tx1"/>
                </a:solidFill>
              </a:rPr>
              <a:t>Détection du brouillage</a:t>
            </a:r>
            <a:endParaRPr lang="en-US" sz="1600" dirty="0"/>
          </a:p>
          <a:p>
            <a:pPr marL="228600" indent="-228600">
              <a:spcAft>
                <a:spcPts val="800"/>
              </a:spcAft>
              <a:buSzPct val="100000"/>
              <a:buChar char="•"/>
            </a:pPr>
            <a:r>
              <a:rPr lang="en-US" sz="1600" dirty="0">
                <a:solidFill>
                  <a:schemeClr val="tx1"/>
                </a:solidFill>
              </a:rPr>
              <a:t>Anti-leurrage GPS par comparaison des sources</a:t>
            </a:r>
            <a:endParaRPr lang="en-US" sz="1600" dirty="0"/>
          </a:p>
          <a:p>
            <a:pPr marL="228600" indent="-228600">
              <a:spcAft>
                <a:spcPts val="800"/>
              </a:spcAft>
              <a:buSzPct val="100000"/>
              <a:buChar char="•"/>
            </a:pPr>
            <a:r>
              <a:rPr lang="en-US" sz="1600" dirty="0">
                <a:solidFill>
                  <a:schemeClr val="tx1"/>
                </a:solidFill>
              </a:rPr>
              <a:t>Journaux de vol signés : toute modification se voit</a:t>
            </a:r>
            <a:endParaRPr lang="en-US" sz="1600" dirty="0"/>
          </a:p>
        </p:txBody>
      </p:sp>
      <p:sp>
        <p:nvSpPr>
          <p:cNvPr id="8" name="Encadré"/>
          <p:cNvSpPr/>
          <p:nvPr/>
        </p:nvSpPr>
        <p:spPr>
          <a:xfrm>
            <a:off x="594360" y="4892040"/>
            <a:ext cx="11002975" cy="685800"/>
          </a:xfrm>
          <a:prstGeom prst="rect">
            <a:avLst/>
          </a:prstGeom>
          <a:solidFill>
            <a:schemeClr val="bg2"/>
          </a:solidFill>
          <a:ln w="9525">
            <a:solidFill>
              <a:schemeClr val="accent5"/>
            </a:solidFill>
            <a:prstDash val="solid"/>
          </a:ln>
        </p:spPr>
      </p:sp>
      <p:sp>
        <p:nvSpPr>
          <p:cNvPr id="9" name="Text 7"/>
          <p:cNvSpPr txBox="1"/>
          <p:nvPr/>
        </p:nvSpPr>
        <p:spPr>
          <a:xfrm>
            <a:off x="822960" y="4892040"/>
            <a:ext cx="10545775" cy="685800"/>
          </a:xfrm>
          <a:prstGeom prst="rect">
            <a:avLst/>
          </a:prstGeom>
          <a:noFill/>
          <a:ln/>
        </p:spPr>
        <p:txBody>
          <a:bodyPr wrap="square" lIns="0" tIns="0" rIns="0" bIns="0" rtlCol="0" anchor="ctr"/>
          <a:lstStyle/>
          <a:p>
            <a:pPr indent="0" marL="0">
              <a:buNone/>
            </a:pPr>
            <a:r>
              <a:rPr lang="en-US" sz="1700" dirty="0">
                <a:solidFill>
                  <a:schemeClr val="tx1"/>
                </a:solidFill>
              </a:rPr>
              <a:t>En dernier recours, le canal d'urgence indépendant permet toujours de faire revenir le drone ou de couper les moteurs.</a:t>
            </a:r>
            <a:endParaRPr lang="en-US" sz="1700" dirty="0"/>
          </a:p>
        </p:txBody>
      </p:sp>
      <p:sp>
        <p:nvSpPr>
          <p:cNvPr id="25" name="Slide Number Placeholder 0"/>
          <p:cNvSpPr>
            <a:spLocks noGrp="1"/>
          </p:cNvSpPr>
          <p:nvPr>
            <p:ph type="sldNum" sz="quarter" idx="4294967295"/>
          </p:nvPr>
        </p:nvSpPr>
        <p:spPr>
          <a:xfrm>
            <a:off x="11231575" y="638251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94360" y="914400"/>
            <a:ext cx="5669280" cy="731520"/>
          </a:xfrm>
          <a:prstGeom prst="rect">
            <a:avLst/>
          </a:prstGeom>
          <a:noFill/>
          <a:ln/>
        </p:spPr>
        <p:txBody>
          <a:bodyPr wrap="square" lIns="0" tIns="0" rIns="0" bIns="0" rtlCol="0" anchor="ctr"/>
          <a:lstStyle/>
          <a:p>
            <a:pPr indent="0" marL="0">
              <a:buNone/>
            </a:pPr>
            <a:r>
              <a:rPr lang="en-US" sz="3600" b="1" dirty="0">
                <a:solidFill>
                  <a:schemeClr val="tx1"/>
                </a:solidFill>
              </a:rPr>
              <a:t>En résumé</a:t>
            </a:r>
            <a:endParaRPr lang="en-US" sz="3600" dirty="0"/>
          </a:p>
        </p:txBody>
      </p:sp>
      <p:sp>
        <p:nvSpPr>
          <p:cNvPr id="3" name="Text 1"/>
          <p:cNvSpPr txBox="1"/>
          <p:nvPr/>
        </p:nvSpPr>
        <p:spPr>
          <a:xfrm>
            <a:off x="594360" y="1828800"/>
            <a:ext cx="5486400" cy="237744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chemeClr val="tx1"/>
                </a:solidFill>
              </a:rPr>
              <a:t>Un drone utile : rapide, autonome, sans piste</a:t>
            </a:r>
            <a:endParaRPr lang="en-US" sz="2000" dirty="0"/>
          </a:p>
          <a:p>
            <a:pPr marL="228600" indent="-228600">
              <a:spcAft>
                <a:spcPts val="1000"/>
              </a:spcAft>
              <a:buSzPct val="100000"/>
              <a:buChar char="•"/>
            </a:pPr>
            <a:r>
              <a:rPr lang="en-US" sz="2000" dirty="0">
                <a:solidFill>
                  <a:schemeClr val="tx1"/>
                </a:solidFill>
              </a:rPr>
              <a:t>Des risques identifiés, chacun avec une réponse</a:t>
            </a:r>
            <a:endParaRPr lang="en-US" sz="2000" dirty="0"/>
          </a:p>
          <a:p>
            <a:pPr marL="228600" indent="-228600">
              <a:spcAft>
                <a:spcPts val="1000"/>
              </a:spcAft>
              <a:buSzPct val="100000"/>
              <a:buChar char="•"/>
            </a:pPr>
            <a:r>
              <a:rPr lang="en-US" sz="2000" dirty="0">
                <a:solidFill>
                  <a:schemeClr val="tx1"/>
                </a:solidFill>
              </a:rPr>
              <a:t>Un cadre respecté : ANAC, ARCEP, données personnelles</a:t>
            </a:r>
            <a:endParaRPr lang="en-US" sz="2000" dirty="0"/>
          </a:p>
          <a:p>
            <a:pPr marL="228600" indent="-228600">
              <a:spcAft>
                <a:spcPts val="1000"/>
              </a:spcAft>
              <a:buSzPct val="100000"/>
              <a:buChar char="•"/>
            </a:pPr>
            <a:r>
              <a:rPr lang="en-US" sz="2000" dirty="0">
                <a:solidFill>
                  <a:schemeClr val="tx1"/>
                </a:solidFill>
              </a:rPr>
              <a:t>Une sécurité pensée dès la conception</a:t>
            </a:r>
            <a:endParaRPr lang="en-US" sz="2000" dirty="0"/>
          </a:p>
        </p:txBody>
      </p:sp>
      <p:pic>
        <p:nvPicPr>
          <p:cNvPr id="4" name="Image 0" descr="Vue CAO du drone">    </p:cNvPr>
          <p:cNvPicPr>
            <a:picLocks noChangeAspect="1"/>
          </p:cNvPicPr>
          <p:nvPr/>
        </p:nvPicPr>
        <p:blipFill>
          <a:blip r:embed="rId1"/>
          <a:stretch>
            <a:fillRect/>
          </a:stretch>
        </p:blipFill>
        <p:spPr>
          <a:xfrm>
            <a:off x="6400800" y="1230359"/>
            <a:ext cx="5196535" cy="2659921"/>
          </a:xfrm>
          <a:prstGeom prst="rect">
            <a:avLst/>
          </a:prstGeom>
        </p:spPr>
      </p:pic>
      <p:sp>
        <p:nvSpPr>
          <p:cNvPr id="5" name="Text 2"/>
          <p:cNvSpPr txBox="1"/>
          <p:nvPr/>
        </p:nvSpPr>
        <p:spPr>
          <a:xfrm>
            <a:off x="594360" y="4846320"/>
            <a:ext cx="11002975" cy="548640"/>
          </a:xfrm>
          <a:prstGeom prst="rect">
            <a:avLst/>
          </a:prstGeom>
          <a:noFill/>
          <a:ln/>
        </p:spPr>
        <p:txBody>
          <a:bodyPr wrap="square" lIns="0" tIns="0" rIns="0" bIns="0" rtlCol="0" anchor="ctr"/>
          <a:lstStyle/>
          <a:p>
            <a:pPr indent="0" marL="0">
              <a:buNone/>
            </a:pPr>
            <a:r>
              <a:rPr lang="en-US" sz="2600" b="1" dirty="0">
                <a:solidFill>
                  <a:schemeClr val="accent1"/>
                </a:solidFill>
              </a:rPr>
              <a:t>Merci pour votre attention</a:t>
            </a:r>
            <a:endParaRPr lang="en-US" sz="2600" dirty="0"/>
          </a:p>
        </p:txBody>
      </p:sp>
      <p:sp>
        <p:nvSpPr>
          <p:cNvPr id="6" name="Text 3"/>
          <p:cNvSpPr txBox="1"/>
          <p:nvPr/>
        </p:nvSpPr>
        <p:spPr>
          <a:xfrm>
            <a:off x="594360" y="5440680"/>
            <a:ext cx="11002975" cy="365760"/>
          </a:xfrm>
          <a:prstGeom prst="rect">
            <a:avLst/>
          </a:prstGeom>
          <a:noFill/>
          <a:ln/>
        </p:spPr>
        <p:txBody>
          <a:bodyPr wrap="square" lIns="0" tIns="0" rIns="0" bIns="0" rtlCol="0" anchor="ctr"/>
          <a:lstStyle/>
          <a:p>
            <a:pPr indent="0" marL="0">
              <a:buNone/>
            </a:pPr>
            <a:r>
              <a:rPr lang="en-US" sz="1600" dirty="0">
                <a:solidFill>
                  <a:schemeClr val="tx2"/>
                </a:solidFill>
              </a:rPr>
              <a:t>Nous sommes prêts à répondre à vos questions.</a:t>
            </a:r>
            <a:endParaRPr lang="en-US" sz="1600" dirty="0"/>
          </a:p>
        </p:txBody>
      </p:sp>
    </p:spTree>
  </p:cSld>
  <p:clrMapOvr>
    <a:masterClrMapping/>
  </p:clrMapOvr>
</p:sld>
</file>

<file path=ppt/theme/theme1.xml><?xml version="1.0" encoding="utf-8"?>
<a:theme xmlns:a="http://schemas.openxmlformats.org/drawingml/2006/main" name="Sentinelle Aerienne">
  <a:themeElements>
    <a:clrScheme name="Sentinelle Aerienne">
      <a:dk1>
        <a:srgbClr val="1F2933"/>
      </a:dk1>
      <a:lt1>
        <a:srgbClr val="FFFFFF"/>
      </a:lt1>
      <a:dk2>
        <a:srgbClr val="5B6770"/>
      </a:dk2>
      <a:lt2>
        <a:srgbClr val="F2F4F6"/>
      </a:lt2>
      <a:accent1>
        <a:srgbClr val="0B6E4F"/>
      </a:accent1>
      <a:accent2>
        <a:srgbClr val="D9A400"/>
      </a:accent2>
      <a:accent3>
        <a:srgbClr val="B5322E"/>
      </a:accent3>
      <a:accent4>
        <a:srgbClr val="2F5D8A"/>
      </a:accent4>
      <a:accent5>
        <a:srgbClr val="D3D9DE"/>
      </a:accent5>
      <a:accent6>
        <a:srgbClr val="8A98A4"/>
      </a:accent6>
      <a:hlink>
        <a:srgbClr val="0B6E4F"/>
      </a:hlink>
      <a:folHlink>
        <a:srgbClr val="2F5D8A"/>
      </a:folHlink>
    </a:clrScheme>
    <a:fontScheme name="Sentinelle Aerien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SkyVision Togo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Sentinelle Aérienne, SkyVision Togo</dc:title>
  <dc:subject>PptxGenJS Presentation</dc:subject>
  <dc:creator>SkyVision Togo</dc:creator>
  <cp:lastModifiedBy>SkyVision Togo</cp:lastModifiedBy>
  <cp:revision>1</cp:revision>
  <dcterms:created xsi:type="dcterms:W3CDTF">2026-10-15T17:34:47Z</dcterms:created>
  <dcterms:modified xsi:type="dcterms:W3CDTF">2026-10-15T17:34:47Z</dcterms:modified>
</cp:coreProperties>
</file>