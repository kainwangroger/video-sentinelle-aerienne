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05774b-d061-5953-2dc3-e8b0d557302b}">
          <p14:sldIdLst>
            <p14:sldId id="256"/>
            <p14:sldId id="257"/>
          </p14:sldIdLst>
        </p14:section>
        <p14:section name="Le drone" id="{7ce63671-9292-361c-b8d3-8f55740b73a2}">
          <p14:sldIdLst>
            <p14:sldId id="258"/>
            <p14:sldId id="259"/>
            <p14:sldId id="260"/>
            <p14:sldId id="261"/>
          </p14:sldIdLst>
        </p14:section>
        <p14:section name="Vol et station sol" id="{abac20ef-279c-632a-4eab-6e59ae951cd2}">
          <p14:sldIdLst>
            <p14:sldId id="262"/>
            <p14:sldId id="263"/>
          </p14:sldIdLst>
        </p14:section>
        <p14:section name="Liaisons et sécurité" id="{8268ba4a-be75-a739-2de8-aee509f127ab}">
          <p14:sldIdLst>
            <p14:sldId id="264"/>
            <p14:sldId id="265"/>
          </p14:sldIdLst>
        </p14:section>
        <p14:section name="Intelligence artificielle" id="{61cee88f-af09-8e32-49f9-2476605aa497}">
          <p14:sldIdLst>
            <p14:sldId id="266"/>
            <p14:sldId id="267"/>
          </p14:sldIdLst>
        </p14:section>
        <p14:section name="Supervision et conformité" id="{363972fb-e2ed-4007-e9d5-0a93e97ed683}">
          <p14:sldIdLst>
            <p14:sldId id="268"/>
            <p14:sldId id="269"/>
            <p14:sldId id="270"/>
          </p14:sldIdLst>
        </p14:section>
        <p14:section name="Conclusion" id="{8cf88d18-2066-a27c-a5cc-9f33c526af32}">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40 s)
Bonjour Mesdames et Messieurs les membres du jury. Je m'appelle AWADE Constantin Israel, je suis le chef de l'équipe SkyVision Togo, et je m'occupe de la mécanique, de l'électronique et de la conception 3D.
Nous vous présentons la Sentinelle Aérienne : un drone qui décolle à la verticale, vole ensuite comme un avion, et analyse lui-même ses images pour repérer ce qui est anormal, en particulier sur les pistes d'aéroport.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35 s)
Nous sommes cinq, et chacun est responsable d'une partie du système.
Je vais vous présenter le besoin et le drone. Angelo parlera du vol et de la station sol, Makafui des liaisons radio et de la sécurité, Roger de l'intelligence artificielle, et Cédric de la supervision, de la conformité et du calendrier. Je reviendrai à la fin pour le budget et la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45 s)
Partons du besoin. Sur une piste, un débris comme un boulon ou un morceau de pneu peut être aspiré par un réacteur. Il faut aussi surveiller les abords et repérer les intrusions.
Aujourd'hui, l'inspection se fait surtout en véhicule : c'est lent, la piste est bloquée, et c'est difficile la nuit. Les drones existants ont chacun leur défaut : le multirotor décolle partout mais vole peu de temps, l'avion vole longtemps mais il lui faut une piste.
Et souvent, les images ne sont regardées qu'après le vol.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45 s)
Notre réponse, c'est un VTOL à rotors basculants. Il décolle à la verticale comme un multirotor, depuis n'importe quel terrain dégagé. Ensuite, ses deux moteurs avant basculent vers l'avant et il vole comme un avion : c'est l'aile qui le porte, ce qui consomme beaucoup moins d'énergie.
À cette plateforme, nous ajoutons deux choses qui répondent directement au thème surveillance et sécurité : une intelligence artificielle qui analyse les images à bord, et une liaison radio sécurisée.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45 s)
Voici les grandes lignes du drone. C'est une configuration à trois moteurs : deux moteurs avant qui basculent, et un moteur arrière qui ne sert qu'au vol vertical. L'empennage est en V.
Nous visons 30 à 45 minutes d'autonomie. Le contrôleur de vol est une carte STM32H743 sous ArduPilot, et le module IA un Raspberry Pi 5 avec un accélérateur Hailo-8. La charge utile, c'est une caméra stabilisée jour et nuit, et le drone communique par trois liaisons séparées.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50 s)
Côté structure, tout a été modélisé sous SolidWorks.
Le fuselage reçoit la batterie, l'électronique et le module IA. Les deux moteurs avant sont montés dans des nacelles sur l'aile, avec un servomoteur qui les fait pivoter. Le moteur arrière est logé dans le fuselage, sous la queue.
L'empennage en V remplace la dérive et la profondeur classiques : deux surfaces au lieu de trois, donc moins de servos et moins de masse. Le GPS est sur un mât au-dessus du fuselage, pour l'éloigner des perturbations, et un tube de Pitot dans le nez mesure la vitesse air. Enfin, on a fait attention à placer les antennes hors des zones en carbone, qui bloquent les ondes.
Angelo va maintenant vous expliquer comment le drone vole.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LOGO ADANTO (environ 60 s)
Bonjour, je m'appelle LOGO ADANTO Angelo, je m'occupe du logiciel embarqué et de la station sol.
Le vol se fait en quatre phases. Au décollage, les deux moteurs avant sont tournés vers le haut et, avec le moteur arrière, ils soulèvent le drone. Pendant la transition, les moteurs avant basculent petit à petit vers l'avant : le drone accélère et l'aile commence à porter. Une fois la vitesse suffisante, le moteur arrière s'arrête et on est en croisière : les deux moteurs avant tirent le drone, et l'aile le porte. À l'atterrissage, on fait l'inverse.
C'est ArduPilot qui gère tout ça automatiquement, à partir de la vitesse air mesurée par le tube de Pitot.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LOGO ADANTO (environ 45 s)
Au sol, nous développons la station en Flutter, ce qui donne une version mobile et une version web avec le même code.
Avant le vol, l'opérateur prépare sa mission sur la carte et définit la zone autorisée : si le drone en sort, il fait demi-tour automatiquement. Pendant le vol, il suit la télémétrie en direct et la vidéo est enregistrée.
Surtout, il reçoit les alertes de l'IA avec leur image. Il n'a pas besoin de fixer la vidéo en permanence : c'est le drone qui lui signale ce qu'il faut regarder. Je laisse la parole à Makafui pour les liaisons.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de MEDEIROS (environ 55 s)
Bonjour, je m'appelle de MEDEIROS Makafui Komlan Léopoldo, je m'occupe des réseaux, de la télémétrie et de la sécurité.
Notre principe : ne jamais dépendre d'un seul lien. Nous avons trois liaisons séparées. Un lien vidéo HD pour voir ce que voit le drone. Une radio longue portée chiffrée, qui transporte la télémétrie, les ordres et les alertes de l'IA. Et un canal d'urgence indépendant, qui sert uniquement à faire revenir le drone ou à couper les moteurs.
Nous avons écarté la 4G, parce que la couverture n'est pas garantie dans les zones visées. Le satellite, lui, est à l'essai comme liaison de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de MEDEIROS (environ 55 s)
Pour la sécurité, nous avons pensé à chaque menace. Les données sont chiffrées, donc on ne peut pas les lire. Chaque message MAVLink est signé : si quelqu'un essaie d'envoyer un ordre sans la bonne clé, le drone l'ignore.
Contre le brouillage, on surveille la qualité des liens et on bascule sur un autre. Contre le leurrage GPS, on utilise deux récepteurs et on compare leur position avec les autres capteurs du drone : si une source ne colle pas, elle est écartée.
Et si tout est perdu, le drone rentre seul et atterrit à la verticale. En dernier recours, on peut couper les moteurs. Roger va vous présenter l'intelligence artificielle.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Roger KAINWANG (environ 70 s)
Bonjour, je m'appelle KAINWANG Roger, je m'occupe de l'intelligence artificielle et des données.
Le module IA, c'est un Raspberry Pi 5 avec une carte AI HAT+ qui porte une puce Hailo-8 de 26 TOPS. Il est séparé du contrôleur de vol, donc il ne peut pas mettre le vol en danger. Et tout le calcul se fait à bord : aucune image ne part sur internet.
La chaîne est simple. La caméra fournit les images. Le détecteur YOLOv8s repère les personnes, les véhicules et les débris au sol. On ne garde que ce qui est dans la zone utile, la piste et ses abords. Un suivi relie les détections d'une image à l'autre pour qu'un objet ne déclenche qu'une seule alerte. Puis l'alerte part vers la station sol avec une image de preuve.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Roger KAINWANG (environ 60 s)
Pour le modèle, nous ne partons pas de zéro. Nous prenons un YOLOv8s déjà entraîné sur un grand nombre d'images, et nous l'adaptons à notre mission. Pour ça, nous utilisons FOD-A, une base publique de plus de 30 000 débris de piste annotés, et des images prises avec notre caméra, pour coller à l'angle de vue du drone. Nous ajoutons aussi des scènes vides, avec des ombres et des marquages, pour éviter les fausses alertes.
Si l'IA voit quelque chose qu'elle ne sait pas classer, elle ne devine pas : elle le signale comme « à vérifier », avec l'image. Si la liaison est coupée, elle continue à travailler et garde ses alertes à bord.
Enfin, c'est un outil d'aide : la décision reste à l'opérateur, et l'IA ne commande jamais le drone. Cédric va vous parler de la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50 s)
Bonjour, je m'appelle KODJOVI Eli Cédric Ankou, je m'occupe du back-end, du programme de vol et de la documentation.
Mon rôle, c'est que rien ne se perde. Le back-end enregistre chaque vol : la télémétrie, les alertes de l'IA avec leur image, et les journaux de vol. Toute l'équipe utilise le même format d'alerte. Les journaux sont signés : si quelqu'un modifie une ligne après coup, on le voit.
Je prépare aussi le programme de vol : les plans de mission, les check-lists avant et après le vol, et les procédures d'urgence. Et je tiens à jour le dossier de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40 s)
Voici comment nous répondons aux exigences du concours. La navigation GPS avec retour automatique est gérée par le contrôleur de vol. La coupure d'urgence est prévue, avec une descente sécurisée. Le lien est chiffré et les messages sont signés. Nous visons 30 à 45 minutes d'autonomie. La charge utile, c'est la caméra jour et nuit et le module IA. Et la documentation, c'est le dossier de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35 s)
Côté calendrier, la candidature a été validée en août, la conception détaillée faite en septembre, et le dossier déposé fin septembre.
Nous sommes maintenant dans la phase de prototypage et d'intégration. En novembre viendront les essais au sol, en vol et de sécurité, pour être prêts pour la finale en décembre. Je rends la parole à Israel.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35 s)
Un mot sur le budget. Notre estimation se situe entre 730 000 et 1 400 000 francs CFA pour le drone, avec en plus 120 000 à 160 000 francs pour le module d'intelligence artificielle. Nous avons choisi des composants courants, qu'on peut trouver et remplacer facilement.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35 s)
Pour résumer, la Sentinelle Aérienne décolle partout, vole longtemps grâce à son aile, analyse ses images à bord et communique de façon sécurisée. Nous l'avons pensée pour la sécurité de nos aéroports et de nos sites sensibles, et elle peut ensuite servir à la cartographie ou à l'aide humanitaire.
Merci à l'ANAC et aux organisateurs du CECFD. Merci pour votre attention, nous sommes prêts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594360" y="6291072"/>
            <a:ext cx="11002975" cy="0"/>
          </a:xfrm>
          <a:prstGeom prst="line">
            <a:avLst/>
          </a:prstGeom>
          <a:noFill/>
          <a:ln w="9525">
            <a:solidFill>
              <a:schemeClr val="accent5"/>
            </a:solidFill>
            <a:prstDash val="solid"/>
          </a:ln>
        </p:spPr>
      </p:sp>
      <p:sp>
        <p:nvSpPr>
          <p:cNvPr id="4" name="Text 1"/>
          <p:cNvSpPr/>
          <p:nvPr/>
        </p:nvSpPr>
        <p:spPr>
          <a:xfrm>
            <a:off x="59436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SkyVision Togo · Sentinelle Aérienne · CECFD 2026</a:t>
            </a:r>
            <a:endParaRPr lang="en-US" sz="10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640080"/>
            <a:ext cx="6400800" cy="320040"/>
          </a:xfrm>
          <a:prstGeom prst="rect">
            <a:avLst/>
          </a:prstGeom>
          <a:noFill/>
          <a:ln/>
        </p:spPr>
        <p:txBody>
          <a:bodyPr wrap="square" lIns="0" tIns="0" rIns="0" bIns="0" rtlCol="0" anchor="ctr"/>
          <a:lstStyle/>
          <a:p>
            <a:pPr indent="0" marL="0">
              <a:buNone/>
            </a:pPr>
            <a:r>
              <a:rPr lang="en-US" sz="1400" b="1" dirty="0">
                <a:solidFill>
                  <a:schemeClr val="accent1"/>
                </a:solidFill>
              </a:rPr>
              <a:t>SkyVision Togo · CECFD 2026 · ANAC</a:t>
            </a:r>
            <a:endParaRPr lang="en-US" sz="1400" dirty="0"/>
          </a:p>
        </p:txBody>
      </p:sp>
      <p:sp>
        <p:nvSpPr>
          <p:cNvPr id="3" name="Text 1"/>
          <p:cNvSpPr txBox="1"/>
          <p:nvPr/>
        </p:nvSpPr>
        <p:spPr>
          <a:xfrm>
            <a:off x="594360" y="1051560"/>
            <a:ext cx="6400800" cy="914400"/>
          </a:xfrm>
          <a:prstGeom prst="rect">
            <a:avLst/>
          </a:prstGeom>
          <a:noFill/>
          <a:ln/>
        </p:spPr>
        <p:txBody>
          <a:bodyPr wrap="square" lIns="0" tIns="0" rIns="0" bIns="0" rtlCol="0" anchor="ctr"/>
          <a:lstStyle/>
          <a:p>
            <a:pPr indent="0" marL="0">
              <a:buNone/>
            </a:pPr>
            <a:r>
              <a:rPr lang="en-US" sz="4800" b="1" dirty="0">
                <a:solidFill>
                  <a:schemeClr val="tx1"/>
                </a:solidFill>
              </a:rPr>
              <a:t>Sentinelle Aérienne</a:t>
            </a:r>
            <a:endParaRPr lang="en-US" sz="4800" dirty="0"/>
          </a:p>
        </p:txBody>
      </p:sp>
      <p:sp>
        <p:nvSpPr>
          <p:cNvPr id="4" name="Text 2"/>
          <p:cNvSpPr txBox="1"/>
          <p:nvPr/>
        </p:nvSpPr>
        <p:spPr>
          <a:xfrm>
            <a:off x="594360" y="2011680"/>
            <a:ext cx="5394960" cy="1097280"/>
          </a:xfrm>
          <a:prstGeom prst="rect">
            <a:avLst/>
          </a:prstGeom>
          <a:noFill/>
          <a:ln/>
        </p:spPr>
        <p:txBody>
          <a:bodyPr wrap="square" lIns="0" tIns="0" rIns="0" bIns="0" rtlCol="0" anchor="t"/>
          <a:lstStyle/>
          <a:p>
            <a:pPr indent="0" marL="0">
              <a:buNone/>
            </a:pPr>
            <a:r>
              <a:rPr lang="en-US" sz="2000" dirty="0">
                <a:solidFill>
                  <a:schemeClr val="tx2"/>
                </a:solidFill>
              </a:rPr>
              <a:t>Drone VTOL de surveillance des zones sensibles, avec intelligence artificielle embarquée et liaison sécurisée</a:t>
            </a:r>
            <a:endParaRPr lang="en-US" sz="2000" dirty="0"/>
          </a:p>
        </p:txBody>
      </p:sp>
      <p:pic>
        <p:nvPicPr>
          <p:cNvPr id="5" name="Image 0" descr="Vue CAO du drone">    </p:cNvPr>
          <p:cNvPicPr>
            <a:picLocks noChangeAspect="1"/>
          </p:cNvPicPr>
          <p:nvPr/>
        </p:nvPicPr>
        <p:blipFill>
          <a:blip r:embed="rId1"/>
          <a:stretch>
            <a:fillRect/>
          </a:stretch>
        </p:blipFill>
        <p:spPr>
          <a:xfrm>
            <a:off x="6400800" y="1870439"/>
            <a:ext cx="5196535" cy="2659921"/>
          </a:xfrm>
          <a:prstGeom prst="rect">
            <a:avLst/>
          </a:prstGeom>
        </p:spPr>
      </p:pic>
      <p:sp>
        <p:nvSpPr>
          <p:cNvPr id="6" name="Text 3"/>
          <p:cNvSpPr txBox="1"/>
          <p:nvPr/>
        </p:nvSpPr>
        <p:spPr>
          <a:xfrm>
            <a:off x="594360" y="6035040"/>
            <a:ext cx="11002975" cy="365760"/>
          </a:xfrm>
          <a:prstGeom prst="rect">
            <a:avLst/>
          </a:prstGeom>
          <a:noFill/>
          <a:ln/>
        </p:spPr>
        <p:txBody>
          <a:bodyPr wrap="square" lIns="0" tIns="0" rIns="0" bIns="0" rtlCol="0" anchor="ctr"/>
          <a:lstStyle/>
          <a:p>
            <a:pPr indent="0" marL="0">
              <a:buNone/>
            </a:pPr>
            <a:r>
              <a:rPr lang="en-US" sz="1400" dirty="0">
                <a:solidFill>
                  <a:schemeClr val="tx2"/>
                </a:solidFill>
              </a:rPr>
              <a:t>Thématique : Surveillance et sécurité</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L'équipe et l'ordre de passage</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548640"/>
                <a:gridCol w="3657600"/>
                <a:gridCol w="3931920"/>
                <a:gridCol w="2864815"/>
              </a:tblGrid>
              <a:tr h="566928">
                <a:tc>
                  <a:txBody>
                    <a:bodyPr/>
                    <a:lstStyle/>
                    <a:p>
                      <a:pPr indent="0" marL="0">
                        <a:buNone/>
                      </a:pP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Membre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Pôle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Partie présentée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1</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AWADE Constantin Israel</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Chef d'équipe, mécanique, électronique, 3D</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Besoin, conception, budget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dirty="0">
                          <a:solidFill>
                            <a:schemeClr val="tx1"/>
                          </a:solidFill>
                        </a:rPr>
                        <a:t>2</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LOGO ADANTO Angelo</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Logiciel embarqué et station sol</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Vol, transition, station sol</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dirty="0">
                          <a:solidFill>
                            <a:schemeClr val="tx1"/>
                          </a:solidFill>
                        </a:rPr>
                        <a:t>3</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de MEDEIROS Makafui Komlan Léopoldo</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Réseaux, télémétrie et sécurité</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Liaisons et sécurité</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dirty="0">
                          <a:solidFill>
                            <a:schemeClr val="tx1"/>
                          </a:solidFill>
                        </a:rPr>
                        <a:t>4</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KAINWANG Roger</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Intelligence artificielle et données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Module IA</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dirty="0">
                          <a:solidFill>
                            <a:schemeClr val="tx1"/>
                          </a:solidFill>
                        </a:rPr>
                        <a:t>5</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KODJOVI Eli Cédric Ankou</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Back-end, programme de vol, documentation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Supervision, conformité, calendrier</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 besoin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463040"/>
            <a:ext cx="11002975" cy="457200"/>
          </a:xfrm>
          <a:prstGeom prst="rect">
            <a:avLst/>
          </a:prstGeom>
          <a:noFill/>
          <a:ln/>
        </p:spPr>
        <p:txBody>
          <a:bodyPr wrap="square" lIns="0" tIns="0" rIns="0" bIns="0" rtlCol="0" anchor="ctr"/>
          <a:lstStyle/>
          <a:p>
            <a:pPr indent="0" marL="0">
              <a:buNone/>
            </a:pPr>
            <a:r>
              <a:rPr lang="en-US" sz="1700" dirty="0">
                <a:solidFill>
                  <a:schemeClr val="tx2"/>
                </a:solidFill>
              </a:rPr>
              <a:t>Surveiller une piste, une frontière ou un site sensible, c'est couvrir de grandes surfaces, souvent sans piste disponible.</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2057400"/>
          <a:ext cx="11002975" cy="914400"/>
        </p:xfrm>
        <a:graphic>
          <a:graphicData uri="http://schemas.openxmlformats.org/drawingml/2006/table">
            <a:tbl>
              <a:tblPr/>
              <a:tblGrid>
                <a:gridCol w="3108960"/>
                <a:gridCol w="3840480"/>
                <a:gridCol w="4053535"/>
              </a:tblGrid>
              <a:tr h="640080">
                <a:tc>
                  <a:txBody>
                    <a:bodyPr/>
                    <a:lstStyle/>
                    <a:p>
                      <a:pPr indent="0" marL="0">
                        <a:buNone/>
                      </a:pPr>
                      <a:r>
                        <a:rPr lang="en-US" sz="1600" b="1" dirty="0">
                          <a:solidFill>
                            <a:schemeClr val="accent1"/>
                          </a:solidFill>
                        </a:rPr>
                        <a:t>Solution actuelle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Point fort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Limite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Inspection en véhicule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Simple, sans équipement spécial</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Lente, bloque la piste, difficile la nuit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640080">
                <a:tc>
                  <a:txBody>
                    <a:bodyPr/>
                    <a:lstStyle/>
                    <a:p>
                      <a:pPr indent="0" marL="0">
                        <a:buNone/>
                      </a:pPr>
                      <a:r>
                        <a:rPr lang="en-US" sz="1600" b="1" dirty="0">
                          <a:solidFill>
                            <a:schemeClr val="tx1"/>
                          </a:solidFill>
                        </a:rPr>
                        <a:t>Drone multirotor</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Décolle n'importe où</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Vole peu de temps, en général 20 à 30 min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640080">
                <a:tc>
                  <a:txBody>
                    <a:bodyPr/>
                    <a:lstStyle/>
                    <a:p>
                      <a:pPr indent="0" marL="0">
                        <a:buNone/>
                      </a:pPr>
                      <a:r>
                        <a:rPr lang="en-US" sz="1600" b="1" dirty="0">
                          <a:solidFill>
                            <a:schemeClr val="tx1"/>
                          </a:solidFill>
                        </a:rPr>
                        <a:t>Drone avion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Vole longtemps et vite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A besoin d'une piste ou d'une catapulte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6" name="Text 3"/>
          <p:cNvSpPr txBox="1"/>
          <p:nvPr/>
        </p:nvSpPr>
        <p:spPr>
          <a:xfrm>
            <a:off x="594360" y="4937760"/>
            <a:ext cx="11002975" cy="411480"/>
          </a:xfrm>
          <a:prstGeom prst="rect">
            <a:avLst/>
          </a:prstGeom>
          <a:noFill/>
          <a:ln/>
        </p:spPr>
        <p:txBody>
          <a:bodyPr wrap="square" lIns="0" tIns="0" rIns="0" bIns="0" rtlCol="0" anchor="ctr"/>
          <a:lstStyle/>
          <a:p>
            <a:pPr indent="0" marL="0">
              <a:buNone/>
            </a:pPr>
            <a:r>
              <a:rPr lang="en-US" sz="1600" dirty="0">
                <a:solidFill>
                  <a:schemeClr val="tx2"/>
                </a:solidFill>
              </a:rPr>
              <a:t>Et dans la plupart des cas, les images sont analysées après le vol, quand il est déjà tard.</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Notre réponse : un VTOL à rotors basculants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41732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Le principe</a:t>
            </a:r>
            <a:endParaRPr lang="en-US" sz="1800" dirty="0"/>
          </a:p>
        </p:txBody>
      </p:sp>
      <p:sp>
        <p:nvSpPr>
          <p:cNvPr id="5" name="Text 3"/>
          <p:cNvSpPr txBox="1"/>
          <p:nvPr/>
        </p:nvSpPr>
        <p:spPr>
          <a:xfrm>
            <a:off x="594360" y="1874520"/>
            <a:ext cx="5120640" cy="1828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Décollage vertical, comme un multirotor</a:t>
            </a:r>
            <a:endParaRPr lang="en-US" sz="1700" dirty="0"/>
          </a:p>
          <a:p>
            <a:pPr marL="228600" indent="-228600">
              <a:spcAft>
                <a:spcPts val="800"/>
              </a:spcAft>
              <a:buSzPct val="100000"/>
              <a:buChar char="•"/>
            </a:pPr>
            <a:r>
              <a:rPr lang="en-US" sz="1700" dirty="0">
                <a:solidFill>
                  <a:schemeClr val="tx1"/>
                </a:solidFill>
              </a:rPr>
              <a:t>Les deux moteurs avant basculent vers l'avant</a:t>
            </a:r>
            <a:endParaRPr lang="en-US" sz="1700" dirty="0"/>
          </a:p>
          <a:p>
            <a:pPr marL="228600" indent="-228600">
              <a:spcAft>
                <a:spcPts val="800"/>
              </a:spcAft>
              <a:buSzPct val="100000"/>
              <a:buChar char="•"/>
            </a:pPr>
            <a:r>
              <a:rPr lang="en-US" sz="1700" dirty="0">
                <a:solidFill>
                  <a:schemeClr val="tx1"/>
                </a:solidFill>
              </a:rPr>
              <a:t>En croisière, l'aile porte le drone</a:t>
            </a:r>
            <a:endParaRPr lang="en-US" sz="1700" dirty="0"/>
          </a:p>
        </p:txBody>
      </p:sp>
      <p:sp>
        <p:nvSpPr>
          <p:cNvPr id="6" name="Text 4"/>
          <p:cNvSpPr txBox="1"/>
          <p:nvPr/>
        </p:nvSpPr>
        <p:spPr>
          <a:xfrm>
            <a:off x="594360" y="384048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Nos deux priorités</a:t>
            </a:r>
            <a:endParaRPr lang="en-US" sz="1800" dirty="0"/>
          </a:p>
        </p:txBody>
      </p:sp>
      <p:sp>
        <p:nvSpPr>
          <p:cNvPr id="7" name="Text 5"/>
          <p:cNvSpPr txBox="1"/>
          <p:nvPr/>
        </p:nvSpPr>
        <p:spPr>
          <a:xfrm>
            <a:off x="594360" y="4297680"/>
            <a:ext cx="5120640" cy="15544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Une IA qui analyse les images à bord, pendant le vol</a:t>
            </a:r>
            <a:endParaRPr lang="en-US" sz="1700" dirty="0"/>
          </a:p>
          <a:p>
            <a:pPr marL="228600" indent="-228600">
              <a:spcAft>
                <a:spcPts val="800"/>
              </a:spcAft>
              <a:buSzPct val="100000"/>
              <a:buChar char="•"/>
            </a:pPr>
            <a:r>
              <a:rPr lang="en-US" sz="1700" dirty="0">
                <a:solidFill>
                  <a:schemeClr val="tx1"/>
                </a:solidFill>
              </a:rPr>
              <a:t>Une liaison sécurisée dès la conception</a:t>
            </a:r>
            <a:endParaRPr lang="en-US" sz="1700" dirty="0"/>
          </a:p>
        </p:txBody>
      </p:sp>
      <p:pic>
        <p:nvPicPr>
          <p:cNvPr id="8" name="Image 0" descr="Vue en perspective (SolidWorks)">    </p:cNvPr>
          <p:cNvPicPr>
            <a:picLocks noChangeAspect="1"/>
          </p:cNvPicPr>
          <p:nvPr/>
        </p:nvPicPr>
        <p:blipFill>
          <a:blip r:embed="rId1"/>
          <a:stretch>
            <a:fillRect/>
          </a:stretch>
        </p:blipFill>
        <p:spPr>
          <a:xfrm>
            <a:off x="6126480" y="2143132"/>
            <a:ext cx="5470855" cy="2800336"/>
          </a:xfrm>
          <a:prstGeom prst="rect">
            <a:avLst/>
          </a:prstGeom>
        </p:spPr>
      </p:pic>
      <p:sp>
        <p:nvSpPr>
          <p:cNvPr id="9" name="Cadre cao_iso"/>
          <p:cNvSpPr/>
          <p:nvPr/>
        </p:nvSpPr>
        <p:spPr>
          <a:xfrm>
            <a:off x="6126480" y="2143132"/>
            <a:ext cx="5470855" cy="2800336"/>
          </a:xfrm>
          <a:prstGeom prst="rect">
            <a:avLst/>
          </a:prstGeom>
          <a:ln w="9525">
            <a:solidFill>
              <a:schemeClr val="accent5"/>
            </a:solidFill>
            <a:prstDash val="solid"/>
          </a:ln>
        </p:spPr>
      </p:sp>
      <p:sp>
        <p:nvSpPr>
          <p:cNvPr id="10" name="Text 7"/>
          <p:cNvSpPr txBox="1"/>
          <p:nvPr/>
        </p:nvSpPr>
        <p:spPr>
          <a:xfrm>
            <a:off x="6126480" y="4998332"/>
            <a:ext cx="5470855" cy="256032"/>
          </a:xfrm>
          <a:prstGeom prst="rect">
            <a:avLst/>
          </a:prstGeom>
          <a:noFill/>
          <a:ln/>
        </p:spPr>
        <p:txBody>
          <a:bodyPr wrap="square" lIns="0" tIns="0" rIns="0" bIns="0" rtlCol="0" anchor="ctr"/>
          <a:lstStyle/>
          <a:p>
            <a:pPr indent="0" marL="0">
              <a:buNone/>
            </a:pPr>
            <a:r>
              <a:rPr lang="en-US" sz="1100" i="1" dirty="0">
                <a:solidFill>
                  <a:schemeClr val="tx2"/>
                </a:solidFill>
              </a:rPr>
              <a:t>Vue en perspective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Caractéristiques principales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6949440" cy="914400"/>
        </p:xfrm>
        <a:graphic>
          <a:graphicData uri="http://schemas.openxmlformats.org/drawingml/2006/table">
            <a:tbl>
              <a:tblPr/>
              <a:tblGrid>
                <a:gridCol w="2743200"/>
                <a:gridCol w="4206240"/>
              </a:tblGrid>
              <a:tr h="457200">
                <a:tc>
                  <a:txBody>
                    <a:bodyPr/>
                    <a:lstStyle/>
                    <a:p>
                      <a:pPr indent="0" marL="0">
                        <a:buNone/>
                      </a:pPr>
                      <a:r>
                        <a:rPr lang="en-US" sz="1500" b="1" dirty="0">
                          <a:solidFill>
                            <a:schemeClr val="accent1"/>
                          </a:solidFill>
                        </a:rPr>
                        <a:t>Élément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Choix retenu</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Configuration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VTOL à rotors basculants, trois moteurs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Propulsion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2 moteurs avant basculants + 1 moteur arrière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Empennage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En V</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Autonomie visée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30 à 45 minutes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Contrôleur de vol</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STM32H743 sous ArduPilot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Module IA</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Raspberry Pi 5 + AI HAT+ (Hailo-8)</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Charge utile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Caméra stabilisée jour/nuit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Liaisons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Vidéo HD, radio chiffrée, canal d'urgence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pic>
        <p:nvPicPr>
          <p:cNvPr id="5" name="Image 0" descr="Vue de dessus (SolidWorks)">    </p:cNvPr>
          <p:cNvPicPr>
            <a:picLocks noChangeAspect="1"/>
          </p:cNvPicPr>
          <p:nvPr/>
        </p:nvPicPr>
        <p:blipFill>
          <a:blip r:embed="rId1"/>
          <a:stretch>
            <a:fillRect/>
          </a:stretch>
        </p:blipFill>
        <p:spPr>
          <a:xfrm>
            <a:off x="7909560" y="1905917"/>
            <a:ext cx="3687775" cy="2040327"/>
          </a:xfrm>
          <a:prstGeom prst="rect">
            <a:avLst/>
          </a:prstGeom>
        </p:spPr>
      </p:pic>
      <p:sp>
        <p:nvSpPr>
          <p:cNvPr id="6" name="Cadre cao_dessus"/>
          <p:cNvSpPr/>
          <p:nvPr/>
        </p:nvSpPr>
        <p:spPr>
          <a:xfrm>
            <a:off x="7909560" y="1905917"/>
            <a:ext cx="3687775" cy="2040327"/>
          </a:xfrm>
          <a:prstGeom prst="rect">
            <a:avLst/>
          </a:prstGeom>
          <a:ln w="9525">
            <a:solidFill>
              <a:schemeClr val="accent5"/>
            </a:solidFill>
            <a:prstDash val="solid"/>
          </a:ln>
        </p:spPr>
      </p:sp>
      <p:sp>
        <p:nvSpPr>
          <p:cNvPr id="7" name="Text 3"/>
          <p:cNvSpPr txBox="1"/>
          <p:nvPr/>
        </p:nvSpPr>
        <p:spPr>
          <a:xfrm>
            <a:off x="7909560" y="4001107"/>
            <a:ext cx="3687775" cy="256032"/>
          </a:xfrm>
          <a:prstGeom prst="rect">
            <a:avLst/>
          </a:prstGeom>
          <a:noFill/>
          <a:ln/>
        </p:spPr>
        <p:txBody>
          <a:bodyPr wrap="square" lIns="0" tIns="0" rIns="0" bIns="0" rtlCol="0" anchor="ctr"/>
          <a:lstStyle/>
          <a:p>
            <a:pPr indent="0" marL="0">
              <a:buNone/>
            </a:pPr>
            <a:r>
              <a:rPr lang="en-US" sz="1100" i="1" dirty="0">
                <a:solidFill>
                  <a:schemeClr val="tx2"/>
                </a:solidFill>
              </a:rPr>
              <a:t>Vue de dessus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Structure et conception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417320"/>
            <a:ext cx="5120640" cy="43891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Modélisation complète sous SolidWorks</a:t>
            </a:r>
            <a:endParaRPr lang="en-US" sz="1700" dirty="0"/>
          </a:p>
          <a:p>
            <a:pPr marL="228600" indent="-228600">
              <a:spcAft>
                <a:spcPts val="800"/>
              </a:spcAft>
              <a:buSzPct val="100000"/>
              <a:buChar char="•"/>
            </a:pPr>
            <a:r>
              <a:rPr lang="en-US" sz="1700" dirty="0">
                <a:solidFill>
                  <a:schemeClr val="tx1"/>
                </a:solidFill>
              </a:rPr>
              <a:t>Fuselage : batterie, électronique et module IA</a:t>
            </a:r>
            <a:endParaRPr lang="en-US" sz="1700" dirty="0"/>
          </a:p>
          <a:p>
            <a:pPr marL="228600" indent="-228600">
              <a:spcAft>
                <a:spcPts val="800"/>
              </a:spcAft>
              <a:buSzPct val="100000"/>
              <a:buChar char="•"/>
            </a:pPr>
            <a:r>
              <a:rPr lang="en-US" sz="1700" dirty="0">
                <a:solidFill>
                  <a:schemeClr val="tx1"/>
                </a:solidFill>
              </a:rPr>
              <a:t>Nacelles d'aile avec servomoteur de basculement</a:t>
            </a:r>
            <a:endParaRPr lang="en-US" sz="1700" dirty="0"/>
          </a:p>
          <a:p>
            <a:pPr marL="228600" indent="-228600">
              <a:spcAft>
                <a:spcPts val="800"/>
              </a:spcAft>
              <a:buSzPct val="100000"/>
              <a:buChar char="•"/>
            </a:pPr>
            <a:r>
              <a:rPr lang="en-US" sz="1700" dirty="0">
                <a:solidFill>
                  <a:schemeClr val="tx1"/>
                </a:solidFill>
              </a:rPr>
              <a:t>Moteur arrière logé dans le fuselage</a:t>
            </a:r>
            <a:endParaRPr lang="en-US" sz="1700" dirty="0"/>
          </a:p>
          <a:p>
            <a:pPr marL="228600" indent="-228600">
              <a:spcAft>
                <a:spcPts val="800"/>
              </a:spcAft>
              <a:buSzPct val="100000"/>
              <a:buChar char="•"/>
            </a:pPr>
            <a:r>
              <a:rPr lang="en-US" sz="1700" dirty="0">
                <a:solidFill>
                  <a:schemeClr val="tx1"/>
                </a:solidFill>
              </a:rPr>
              <a:t>Empennage en V : deux gouvernes au lieu de trois</a:t>
            </a:r>
            <a:endParaRPr lang="en-US" sz="1700" dirty="0"/>
          </a:p>
          <a:p>
            <a:pPr marL="228600" indent="-228600">
              <a:spcAft>
                <a:spcPts val="800"/>
              </a:spcAft>
              <a:buSzPct val="100000"/>
              <a:buChar char="•"/>
            </a:pPr>
            <a:r>
              <a:rPr lang="en-US" sz="1700" dirty="0">
                <a:solidFill>
                  <a:schemeClr val="tx1"/>
                </a:solidFill>
              </a:rPr>
              <a:t>Mât GNSS sur le dos, tube de Pitot dans le nez</a:t>
            </a:r>
            <a:endParaRPr lang="en-US" sz="1700" dirty="0"/>
          </a:p>
          <a:p>
            <a:pPr marL="228600" indent="-228600">
              <a:spcAft>
                <a:spcPts val="800"/>
              </a:spcAft>
              <a:buSzPct val="100000"/>
              <a:buChar char="•"/>
            </a:pPr>
            <a:r>
              <a:rPr lang="en-US" sz="1700" dirty="0">
                <a:solidFill>
                  <a:schemeClr val="tx1"/>
                </a:solidFill>
              </a:rPr>
              <a:t>Antennes placées hors des zones en carbone</a:t>
            </a:r>
            <a:endParaRPr lang="en-US" sz="1700" dirty="0"/>
          </a:p>
        </p:txBody>
      </p:sp>
      <p:pic>
        <p:nvPicPr>
          <p:cNvPr id="5" name="Image 0" descr="Vue de profil (SolidWorks)">    </p:cNvPr>
          <p:cNvPicPr>
            <a:picLocks noChangeAspect="1"/>
          </p:cNvPicPr>
          <p:nvPr/>
        </p:nvPicPr>
        <p:blipFill>
          <a:blip r:embed="rId1"/>
          <a:stretch>
            <a:fillRect/>
          </a:stretch>
        </p:blipFill>
        <p:spPr>
          <a:xfrm>
            <a:off x="6126480" y="1426803"/>
            <a:ext cx="5470855" cy="1764115"/>
          </a:xfrm>
          <a:prstGeom prst="rect">
            <a:avLst/>
          </a:prstGeom>
        </p:spPr>
      </p:pic>
      <p:sp>
        <p:nvSpPr>
          <p:cNvPr id="6" name="Cadre cao_profil"/>
          <p:cNvSpPr/>
          <p:nvPr/>
        </p:nvSpPr>
        <p:spPr>
          <a:xfrm>
            <a:off x="6126480" y="1426803"/>
            <a:ext cx="5470855" cy="1764115"/>
          </a:xfrm>
          <a:prstGeom prst="rect">
            <a:avLst/>
          </a:prstGeom>
          <a:ln w="9525">
            <a:solidFill>
              <a:schemeClr val="accent5"/>
            </a:solidFill>
            <a:prstDash val="solid"/>
          </a:ln>
        </p:spPr>
      </p:sp>
      <p:sp>
        <p:nvSpPr>
          <p:cNvPr id="7" name="Text 4"/>
          <p:cNvSpPr txBox="1"/>
          <p:nvPr/>
        </p:nvSpPr>
        <p:spPr>
          <a:xfrm>
            <a:off x="6126480" y="3245781"/>
            <a:ext cx="5470855" cy="256032"/>
          </a:xfrm>
          <a:prstGeom prst="rect">
            <a:avLst/>
          </a:prstGeom>
          <a:noFill/>
          <a:ln/>
        </p:spPr>
        <p:txBody>
          <a:bodyPr wrap="square" lIns="0" tIns="0" rIns="0" bIns="0" rtlCol="0" anchor="ctr"/>
          <a:lstStyle/>
          <a:p>
            <a:pPr indent="0" marL="0">
              <a:buNone/>
            </a:pPr>
            <a:r>
              <a:rPr lang="en-US" sz="1100" i="1" dirty="0">
                <a:solidFill>
                  <a:schemeClr val="tx2"/>
                </a:solidFill>
              </a:rPr>
              <a:t>Vue de profil (SolidWorks)</a:t>
            </a:r>
            <a:endParaRPr lang="en-US" sz="1100" dirty="0"/>
          </a:p>
        </p:txBody>
      </p:sp>
      <p:pic>
        <p:nvPicPr>
          <p:cNvPr id="8" name="Image 1" descr="Vue de face (SolidWorks)">    </p:cNvPr>
          <p:cNvPicPr>
            <a:picLocks noChangeAspect="1"/>
          </p:cNvPicPr>
          <p:nvPr/>
        </p:nvPicPr>
        <p:blipFill>
          <a:blip r:embed="rId2"/>
          <a:stretch>
            <a:fillRect/>
          </a:stretch>
        </p:blipFill>
        <p:spPr>
          <a:xfrm>
            <a:off x="6126480" y="4223926"/>
            <a:ext cx="5470855" cy="1107628"/>
          </a:xfrm>
          <a:prstGeom prst="rect">
            <a:avLst/>
          </a:prstGeom>
        </p:spPr>
      </p:pic>
      <p:sp>
        <p:nvSpPr>
          <p:cNvPr id="9" name="Cadre cao_face"/>
          <p:cNvSpPr/>
          <p:nvPr/>
        </p:nvSpPr>
        <p:spPr>
          <a:xfrm>
            <a:off x="6126480" y="4223926"/>
            <a:ext cx="5470855" cy="1107628"/>
          </a:xfrm>
          <a:prstGeom prst="rect">
            <a:avLst/>
          </a:prstGeom>
          <a:ln w="9525">
            <a:solidFill>
              <a:schemeClr val="accent5"/>
            </a:solidFill>
            <a:prstDash val="solid"/>
          </a:ln>
        </p:spPr>
      </p:sp>
      <p:sp>
        <p:nvSpPr>
          <p:cNvPr id="10" name="Text 6"/>
          <p:cNvSpPr txBox="1"/>
          <p:nvPr/>
        </p:nvSpPr>
        <p:spPr>
          <a:xfrm>
            <a:off x="6126480" y="5386418"/>
            <a:ext cx="5470855" cy="256032"/>
          </a:xfrm>
          <a:prstGeom prst="rect">
            <a:avLst/>
          </a:prstGeom>
          <a:noFill/>
          <a:ln/>
        </p:spPr>
        <p:txBody>
          <a:bodyPr wrap="square" lIns="0" tIns="0" rIns="0" bIns="0" rtlCol="0" anchor="ctr"/>
          <a:lstStyle/>
          <a:p>
            <a:pPr indent="0" marL="0">
              <a:buNone/>
            </a:pPr>
            <a:r>
              <a:rPr lang="en-US" sz="1100" i="1" dirty="0">
                <a:solidFill>
                  <a:schemeClr val="tx2"/>
                </a:solidFill>
              </a:rPr>
              <a:t>Vue de face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 vol : du décollage vertical à la croisière</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Angelo LOGO ADANTO</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2377440"/>
                <a:gridCol w="3108960"/>
                <a:gridCol w="2377440"/>
                <a:gridCol w="3139135"/>
              </a:tblGrid>
              <a:tr h="475488">
                <a:tc>
                  <a:txBody>
                    <a:bodyPr/>
                    <a:lstStyle/>
                    <a:p>
                      <a:pPr indent="0" marL="0">
                        <a:buNone/>
                      </a:pPr>
                      <a:r>
                        <a:rPr lang="en-US" sz="1600" b="1" dirty="0">
                          <a:solidFill>
                            <a:schemeClr val="accent1"/>
                          </a:solidFill>
                        </a:rPr>
                        <a:t>Phase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Moteurs avant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Moteur arrière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Ce qui porte le drone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75488">
                <a:tc>
                  <a:txBody>
                    <a:bodyPr/>
                    <a:lstStyle/>
                    <a:p>
                      <a:pPr indent="0" marL="0">
                        <a:buNone/>
                      </a:pPr>
                      <a:r>
                        <a:rPr lang="en-US" sz="1600" b="1" dirty="0">
                          <a:solidFill>
                            <a:schemeClr val="tx1"/>
                          </a:solidFill>
                        </a:rPr>
                        <a:t>Décollage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Vers le haut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En marche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trois moteurs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75488">
                <a:tc>
                  <a:txBody>
                    <a:bodyPr/>
                    <a:lstStyle/>
                    <a:p>
                      <a:pPr indent="0" marL="0">
                        <a:buNone/>
                      </a:pPr>
                      <a:r>
                        <a:rPr lang="en-US" sz="1600" b="1" dirty="0">
                          <a:solidFill>
                            <a:schemeClr val="tx1"/>
                          </a:solidFill>
                        </a:rPr>
                        <a:t>Transition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Basculent progressivement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En marche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moteurs, puis l'aile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75488">
                <a:tc>
                  <a:txBody>
                    <a:bodyPr/>
                    <a:lstStyle/>
                    <a:p>
                      <a:pPr indent="0" marL="0">
                        <a:buNone/>
                      </a:pPr>
                      <a:r>
                        <a:rPr lang="en-US" sz="1600" b="1" dirty="0">
                          <a:solidFill>
                            <a:schemeClr val="tx1"/>
                          </a:solidFill>
                        </a:rPr>
                        <a:t>Croisière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Vers l'avant, ils tirent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Arrêté</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L'aile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75488">
                <a:tc>
                  <a:txBody>
                    <a:bodyPr/>
                    <a:lstStyle/>
                    <a:p>
                      <a:pPr indent="0" marL="0">
                        <a:buNone/>
                      </a:pPr>
                      <a:r>
                        <a:rPr lang="en-US" sz="1600" b="1" dirty="0">
                          <a:solidFill>
                            <a:schemeClr val="tx1"/>
                          </a:solidFill>
                        </a:rPr>
                        <a:t>Atterrissage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Reviennent vers le haut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En marche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trois moteurs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pic>
        <p:nvPicPr>
          <p:cNvPr id="5" name="Image 0" descr="Moteur avant basculant à gauche, moteur arrière sous la queue (SolidWorks)">    </p:cNvPr>
          <p:cNvPicPr>
            <a:picLocks noChangeAspect="1"/>
          </p:cNvPicPr>
          <p:nvPr/>
        </p:nvPicPr>
        <p:blipFill>
          <a:blip r:embed="rId1"/>
          <a:stretch>
            <a:fillRect/>
          </a:stretch>
        </p:blipFill>
        <p:spPr>
          <a:xfrm>
            <a:off x="3614585" y="4206240"/>
            <a:ext cx="4962525" cy="1600200"/>
          </a:xfrm>
          <a:prstGeom prst="rect">
            <a:avLst/>
          </a:prstGeom>
        </p:spPr>
      </p:pic>
      <p:sp>
        <p:nvSpPr>
          <p:cNvPr id="6" name="Cadre cao_profil"/>
          <p:cNvSpPr/>
          <p:nvPr/>
        </p:nvSpPr>
        <p:spPr>
          <a:xfrm>
            <a:off x="3614585" y="4206240"/>
            <a:ext cx="4962525" cy="1600200"/>
          </a:xfrm>
          <a:prstGeom prst="rect">
            <a:avLst/>
          </a:prstGeom>
          <a:ln w="9525">
            <a:solidFill>
              <a:schemeClr val="accent5"/>
            </a:solidFill>
            <a:prstDash val="solid"/>
          </a:ln>
        </p:spPr>
      </p:sp>
      <p:sp>
        <p:nvSpPr>
          <p:cNvPr id="7" name="Text 3"/>
          <p:cNvSpPr txBox="1"/>
          <p:nvPr/>
        </p:nvSpPr>
        <p:spPr>
          <a:xfrm>
            <a:off x="3614585" y="5861304"/>
            <a:ext cx="4962525" cy="256032"/>
          </a:xfrm>
          <a:prstGeom prst="rect">
            <a:avLst/>
          </a:prstGeom>
          <a:noFill/>
          <a:ln/>
        </p:spPr>
        <p:txBody>
          <a:bodyPr wrap="square" lIns="0" tIns="0" rIns="0" bIns="0" rtlCol="0" anchor="ctr"/>
          <a:lstStyle/>
          <a:p>
            <a:pPr indent="0" marL="0">
              <a:buNone/>
            </a:pPr>
            <a:r>
              <a:rPr lang="en-US" sz="1100" i="1" dirty="0">
                <a:solidFill>
                  <a:schemeClr val="tx2"/>
                </a:solidFill>
              </a:rPr>
              <a:t>Moteur avant basculant à gauche, moteur arrière sous la queue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La station sol</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Angelo LOGO ADANTO</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Avant et pendant le vol</a:t>
            </a:r>
            <a:endParaRPr lang="en-US" sz="1800" dirty="0"/>
          </a:p>
        </p:txBody>
      </p:sp>
      <p:sp>
        <p:nvSpPr>
          <p:cNvPr id="5" name="Text 3"/>
          <p:cNvSpPr txBox="1"/>
          <p:nvPr/>
        </p:nvSpPr>
        <p:spPr>
          <a:xfrm>
            <a:off x="594360" y="1874520"/>
            <a:ext cx="5227168" cy="19202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Préparation de la mission sur la carte</a:t>
            </a:r>
            <a:endParaRPr lang="en-US" sz="1700" dirty="0"/>
          </a:p>
          <a:p>
            <a:pPr marL="228600" indent="-228600">
              <a:spcAft>
                <a:spcPts val="800"/>
              </a:spcAft>
              <a:buSzPct val="100000"/>
              <a:buChar char="•"/>
            </a:pPr>
            <a:r>
              <a:rPr lang="en-US" sz="1700" dirty="0">
                <a:solidFill>
                  <a:schemeClr val="tx1"/>
                </a:solidFill>
              </a:rPr>
              <a:t>Zone autorisée : le drone ne peut pas en sortir</a:t>
            </a:r>
            <a:endParaRPr lang="en-US" sz="1700" dirty="0"/>
          </a:p>
          <a:p>
            <a:pPr marL="228600" indent="-228600">
              <a:spcAft>
                <a:spcPts val="800"/>
              </a:spcAft>
              <a:buSzPct val="100000"/>
              <a:buChar char="•"/>
            </a:pPr>
            <a:r>
              <a:rPr lang="en-US" sz="1700" dirty="0">
                <a:solidFill>
                  <a:schemeClr val="tx1"/>
                </a:solidFill>
              </a:rPr>
              <a:t>Télémétrie MAVLink en direct</a:t>
            </a:r>
            <a:endParaRPr lang="en-US" sz="1700" dirty="0"/>
          </a:p>
          <a:p>
            <a:pPr marL="228600" indent="-228600">
              <a:spcAft>
                <a:spcPts val="800"/>
              </a:spcAft>
              <a:buSzPct val="100000"/>
              <a:buChar char="•"/>
            </a:pPr>
            <a:r>
              <a:rPr lang="en-US" sz="1700" dirty="0">
                <a:solidFill>
                  <a:schemeClr val="tx1"/>
                </a:solidFill>
              </a:rPr>
              <a:t>Enregistrement de la vidéo</a:t>
            </a:r>
            <a:endParaRPr lang="en-US" sz="17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Les alertes de l'IA</a:t>
            </a:r>
            <a:endParaRPr lang="en-US" sz="1800" dirty="0"/>
          </a:p>
        </p:txBody>
      </p:sp>
      <p:sp>
        <p:nvSpPr>
          <p:cNvPr id="7" name="Text 5"/>
          <p:cNvSpPr txBox="1"/>
          <p:nvPr/>
        </p:nvSpPr>
        <p:spPr>
          <a:xfrm>
            <a:off x="6370168" y="1874520"/>
            <a:ext cx="5227168" cy="19202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Classe de l'objet, heure et position dans l'image</a:t>
            </a:r>
            <a:endParaRPr lang="en-US" sz="1700" dirty="0"/>
          </a:p>
          <a:p>
            <a:pPr marL="228600" indent="-228600">
              <a:spcAft>
                <a:spcPts val="800"/>
              </a:spcAft>
              <a:buSzPct val="100000"/>
              <a:buChar char="•"/>
            </a:pPr>
            <a:r>
              <a:rPr lang="en-US" sz="1700" dirty="0">
                <a:solidFill>
                  <a:schemeClr val="tx1"/>
                </a:solidFill>
              </a:rPr>
              <a:t>Image de preuve</a:t>
            </a:r>
            <a:endParaRPr lang="en-US" sz="1700" dirty="0"/>
          </a:p>
          <a:p>
            <a:pPr marL="228600" indent="-228600">
              <a:spcAft>
                <a:spcPts val="800"/>
              </a:spcAft>
              <a:buSzPct val="100000"/>
              <a:buChar char="•"/>
            </a:pPr>
            <a:r>
              <a:rPr lang="en-US" sz="1700" dirty="0">
                <a:solidFill>
                  <a:schemeClr val="tx1"/>
                </a:solidFill>
              </a:rPr>
              <a:t>Historique conservé par le back-end</a:t>
            </a:r>
            <a:endParaRPr lang="en-US" sz="1700" dirty="0"/>
          </a:p>
        </p:txBody>
      </p:sp>
      <p:sp>
        <p:nvSpPr>
          <p:cNvPr id="8" name="Encadré"/>
          <p:cNvSpPr/>
          <p:nvPr/>
        </p:nvSpPr>
        <p:spPr>
          <a:xfrm>
            <a:off x="594360" y="3977640"/>
            <a:ext cx="11002975" cy="685800"/>
          </a:xfrm>
          <a:prstGeom prst="rect">
            <a:avLst/>
          </a:prstGeom>
          <a:solidFill>
            <a:schemeClr val="bg2"/>
          </a:solidFill>
          <a:ln w="9525">
            <a:solidFill>
              <a:schemeClr val="accent5"/>
            </a:solidFill>
            <a:prstDash val="solid"/>
          </a:ln>
        </p:spPr>
      </p:sp>
      <p:sp>
        <p:nvSpPr>
          <p:cNvPr id="9" name="Text 7"/>
          <p:cNvSpPr txBox="1"/>
          <p:nvPr/>
        </p:nvSpPr>
        <p:spPr>
          <a:xfrm>
            <a:off x="822960" y="3977640"/>
            <a:ext cx="10545775" cy="685800"/>
          </a:xfrm>
          <a:prstGeom prst="rect">
            <a:avLst/>
          </a:prstGeom>
          <a:noFill/>
          <a:ln/>
        </p:spPr>
        <p:txBody>
          <a:bodyPr wrap="square" lIns="0" tIns="0" rIns="0" bIns="0" rtlCol="0" anchor="ctr"/>
          <a:lstStyle/>
          <a:p>
            <a:pPr indent="0" marL="0">
              <a:buNone/>
            </a:pPr>
            <a:r>
              <a:rPr lang="en-US" sz="1700" dirty="0">
                <a:solidFill>
                  <a:schemeClr val="tx1"/>
                </a:solidFill>
              </a:rPr>
              <a:t>Développée en Flutter : une version mobile et une version web avec le même code.</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Trois liaisons indépendantes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Makafui de MEDEIROS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657600"/>
                <a:gridCol w="4572000"/>
                <a:gridCol w="2773375"/>
              </a:tblGrid>
              <a:tr h="594360">
                <a:tc>
                  <a:txBody>
                    <a:bodyPr/>
                    <a:lstStyle/>
                    <a:p>
                      <a:pPr indent="0" marL="0">
                        <a:buNone/>
                      </a:pPr>
                      <a:r>
                        <a:rPr lang="en-US" sz="1600" b="1" dirty="0">
                          <a:solidFill>
                            <a:schemeClr val="accent1"/>
                          </a:solidFill>
                        </a:rPr>
                        <a:t>Liaison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Ce qu'elle transporte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Portée visée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94360">
                <a:tc>
                  <a:txBody>
                    <a:bodyPr/>
                    <a:lstStyle/>
                    <a:p>
                      <a:pPr indent="0" marL="0">
                        <a:buNone/>
                      </a:pPr>
                      <a:r>
                        <a:rPr lang="en-US" sz="1600" b="1" dirty="0">
                          <a:solidFill>
                            <a:schemeClr val="tx1"/>
                          </a:solidFill>
                        </a:rPr>
                        <a:t>Vidéo HD</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Image de la caméra et informations de vol</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10 à 15 km</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94360">
                <a:tc>
                  <a:txBody>
                    <a:bodyPr/>
                    <a:lstStyle/>
                    <a:p>
                      <a:pPr indent="0" marL="0">
                        <a:buNone/>
                      </a:pPr>
                      <a:r>
                        <a:rPr lang="en-US" sz="1600" b="1" dirty="0">
                          <a:solidFill>
                            <a:schemeClr val="tx1"/>
                          </a:solidFill>
                        </a:rPr>
                        <a:t>Radio longue portée chiffrée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Télémétrie, ordres et alertes de l'IA</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30 à 50 km (théorique)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94360">
                <a:tc>
                  <a:txBody>
                    <a:bodyPr/>
                    <a:lstStyle/>
                    <a:p>
                      <a:pPr indent="0" marL="0">
                        <a:buNone/>
                      </a:pPr>
                      <a:r>
                        <a:rPr lang="en-US" sz="1600" b="1" dirty="0">
                          <a:solidFill>
                            <a:schemeClr val="tx1"/>
                          </a:solidFill>
                        </a:rPr>
                        <a:t>Canal d'urgence ExpressLRS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Retour au point de départ, coupure des moteurs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Indépendant des autres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5" name="Text 2"/>
          <p:cNvSpPr txBox="1"/>
          <p:nvPr/>
        </p:nvSpPr>
        <p:spPr>
          <a:xfrm>
            <a:off x="594360" y="4160520"/>
            <a:ext cx="11002975" cy="411480"/>
          </a:xfrm>
          <a:prstGeom prst="rect">
            <a:avLst/>
          </a:prstGeom>
          <a:noFill/>
          <a:ln/>
        </p:spPr>
        <p:txBody>
          <a:bodyPr wrap="square" lIns="0" tIns="0" rIns="0" bIns="0" rtlCol="0" anchor="ctr"/>
          <a:lstStyle/>
          <a:p>
            <a:pPr indent="0" marL="0">
              <a:buNone/>
            </a:pPr>
            <a:r>
              <a:rPr lang="en-US" sz="1600" dirty="0">
                <a:solidFill>
                  <a:schemeClr val="tx2"/>
                </a:solidFill>
              </a:rPr>
              <a:t>Écartés : la 4G (couverture incertaine) ; la liaison satellite est à l'essai comme secours.</a:t>
            </a:r>
            <a:endParaRPr lang="en-US" sz="1600" dirty="0"/>
          </a:p>
        </p:txBody>
      </p:sp>
      <p:pic>
        <p:nvPicPr>
          <p:cNvPr id="6" name="Image 0" descr="Mât GNSS sur le dos, antennes hors des zones en carbone (SolidWorks)">    </p:cNvPr>
          <p:cNvPicPr>
            <a:picLocks noChangeAspect="1"/>
          </p:cNvPicPr>
          <p:nvPr/>
        </p:nvPicPr>
        <p:blipFill>
          <a:blip r:embed="rId1"/>
          <a:stretch>
            <a:fillRect/>
          </a:stretch>
        </p:blipFill>
        <p:spPr>
          <a:xfrm>
            <a:off x="3498888" y="4754880"/>
            <a:ext cx="5193920" cy="1051560"/>
          </a:xfrm>
          <a:prstGeom prst="rect">
            <a:avLst/>
          </a:prstGeom>
        </p:spPr>
      </p:pic>
      <p:sp>
        <p:nvSpPr>
          <p:cNvPr id="7" name="Cadre cao_face"/>
          <p:cNvSpPr/>
          <p:nvPr/>
        </p:nvSpPr>
        <p:spPr>
          <a:xfrm>
            <a:off x="3498888" y="4754880"/>
            <a:ext cx="5193920" cy="1051560"/>
          </a:xfrm>
          <a:prstGeom prst="rect">
            <a:avLst/>
          </a:prstGeom>
          <a:ln w="9525">
            <a:solidFill>
              <a:schemeClr val="accent5"/>
            </a:solidFill>
            <a:prstDash val="solid"/>
          </a:ln>
        </p:spPr>
      </p:sp>
      <p:sp>
        <p:nvSpPr>
          <p:cNvPr id="8" name="Text 4"/>
          <p:cNvSpPr txBox="1"/>
          <p:nvPr/>
        </p:nvSpPr>
        <p:spPr>
          <a:xfrm>
            <a:off x="3498888" y="5861304"/>
            <a:ext cx="5193920" cy="256032"/>
          </a:xfrm>
          <a:prstGeom prst="rect">
            <a:avLst/>
          </a:prstGeom>
          <a:noFill/>
          <a:ln/>
        </p:spPr>
        <p:txBody>
          <a:bodyPr wrap="square" lIns="0" tIns="0" rIns="0" bIns="0" rtlCol="0" anchor="ctr"/>
          <a:lstStyle/>
          <a:p>
            <a:pPr indent="0" marL="0">
              <a:buNone/>
            </a:pPr>
            <a:r>
              <a:rPr lang="en-US" sz="1100" i="1" dirty="0">
                <a:solidFill>
                  <a:schemeClr val="tx2"/>
                </a:solidFill>
              </a:rPr>
              <a:t>Mât GNSS sur le dos, antennes hors des zones en carbone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Sécurité des communications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Makafui de MEDEIROS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291840"/>
                <a:gridCol w="7711135"/>
              </a:tblGrid>
              <a:tr h="566928">
                <a:tc>
                  <a:txBody>
                    <a:bodyPr/>
                    <a:lstStyle/>
                    <a:p>
                      <a:pPr indent="0" marL="0">
                        <a:buNone/>
                      </a:pPr>
                      <a:r>
                        <a:rPr lang="en-US" sz="1600" b="1" dirty="0">
                          <a:solidFill>
                            <a:schemeClr val="accent1"/>
                          </a:solidFill>
                        </a:rPr>
                        <a:t>Menace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Notre réponse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Écoute des données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Liaison chiffrée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Faux ordres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Messages MAVLink signés : un ordre sans la bonne clé est ignoré</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Brouillage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Surveillance de la qualité des liens, bascule sur un autre lien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Leurrage GPS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Deux récepteurs comparés aux autres capteurs ; la source incohérente est écartée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Perte de toutes les liaisons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Retour automatique au point de départ, puis atterrissage vertical</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Dernier recours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Coupure des moteurs par le canal d'urgence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 module d'intelligence artificielle</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Roger KAINWANG</a:t>
            </a:r>
            <a:endParaRPr lang="en-US" sz="1000" dirty="0"/>
          </a:p>
        </p:txBody>
      </p:sp>
      <p:sp>
        <p:nvSpPr>
          <p:cNvPr id="4" name="Étape 1"/>
          <p:cNvSpPr/>
          <p:nvPr/>
        </p:nvSpPr>
        <p:spPr>
          <a:xfrm>
            <a:off x="594360" y="1463040"/>
            <a:ext cx="1589989" cy="1051560"/>
          </a:xfrm>
          <a:prstGeom prst="rect">
            <a:avLst/>
          </a:prstGeom>
          <a:solidFill>
            <a:schemeClr val="bg2"/>
          </a:solidFill>
          <a:ln w="9525">
            <a:solidFill>
              <a:schemeClr val="accent5"/>
            </a:solidFill>
            <a:prstDash val="solid"/>
          </a:ln>
        </p:spPr>
      </p:sp>
      <p:sp>
        <p:nvSpPr>
          <p:cNvPr id="5" name="Text 3"/>
          <p:cNvSpPr txBox="1"/>
          <p:nvPr/>
        </p:nvSpPr>
        <p:spPr>
          <a:xfrm>
            <a:off x="685800"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Caméra</a:t>
            </a:r>
            <a:endParaRPr lang="en-US" sz="1500" dirty="0"/>
          </a:p>
          <a:p>
            <a:pPr algn="ctr" indent="0" marL="0">
              <a:buNone/>
            </a:pPr>
            <a:r>
              <a:rPr lang="en-US" sz="1200" dirty="0">
                <a:solidFill>
                  <a:schemeClr val="tx2"/>
                </a:solidFill>
              </a:rPr>
              <a:t>images horodatées</a:t>
            </a:r>
            <a:endParaRPr lang="en-US" sz="1500" dirty="0"/>
          </a:p>
        </p:txBody>
      </p:sp>
      <p:sp>
        <p:nvSpPr>
          <p:cNvPr id="6" name="Shape 4"/>
          <p:cNvSpPr/>
          <p:nvPr/>
        </p:nvSpPr>
        <p:spPr>
          <a:xfrm>
            <a:off x="2220925" y="1988820"/>
            <a:ext cx="219456" cy="0"/>
          </a:xfrm>
          <a:prstGeom prst="line">
            <a:avLst/>
          </a:prstGeom>
          <a:noFill/>
          <a:ln w="19050">
            <a:solidFill>
              <a:schemeClr val="tx2"/>
            </a:solidFill>
            <a:prstDash val="solid"/>
            <a:tailEnd type="triangle"/>
          </a:ln>
        </p:spPr>
      </p:sp>
      <p:sp>
        <p:nvSpPr>
          <p:cNvPr id="7" name="Étape 2"/>
          <p:cNvSpPr/>
          <p:nvPr/>
        </p:nvSpPr>
        <p:spPr>
          <a:xfrm>
            <a:off x="2476957" y="1463040"/>
            <a:ext cx="1589989" cy="1051560"/>
          </a:xfrm>
          <a:prstGeom prst="rect">
            <a:avLst/>
          </a:prstGeom>
          <a:solidFill>
            <a:schemeClr val="bg2"/>
          </a:solidFill>
          <a:ln w="9525">
            <a:solidFill>
              <a:schemeClr val="accent5"/>
            </a:solidFill>
            <a:prstDash val="solid"/>
          </a:ln>
        </p:spPr>
      </p:sp>
      <p:sp>
        <p:nvSpPr>
          <p:cNvPr id="8" name="Text 6"/>
          <p:cNvSpPr txBox="1"/>
          <p:nvPr/>
        </p:nvSpPr>
        <p:spPr>
          <a:xfrm>
            <a:off x="2568397"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Détection</a:t>
            </a:r>
            <a:endParaRPr lang="en-US" sz="1500" dirty="0"/>
          </a:p>
          <a:p>
            <a:pPr algn="ctr" indent="0" marL="0">
              <a:buNone/>
            </a:pPr>
            <a:r>
              <a:rPr lang="en-US" sz="1200" dirty="0">
                <a:solidFill>
                  <a:schemeClr val="tx2"/>
                </a:solidFill>
              </a:rPr>
              <a:t>YOLOv8s sur Hailo-8</a:t>
            </a:r>
            <a:endParaRPr lang="en-US" sz="1500" dirty="0"/>
          </a:p>
        </p:txBody>
      </p:sp>
      <p:sp>
        <p:nvSpPr>
          <p:cNvPr id="9" name="Shape 7"/>
          <p:cNvSpPr/>
          <p:nvPr/>
        </p:nvSpPr>
        <p:spPr>
          <a:xfrm>
            <a:off x="4103522" y="1988820"/>
            <a:ext cx="219456" cy="0"/>
          </a:xfrm>
          <a:prstGeom prst="line">
            <a:avLst/>
          </a:prstGeom>
          <a:noFill/>
          <a:ln w="19050">
            <a:solidFill>
              <a:schemeClr val="tx2"/>
            </a:solidFill>
            <a:prstDash val="solid"/>
            <a:tailEnd type="triangle"/>
          </a:ln>
        </p:spPr>
      </p:sp>
      <p:sp>
        <p:nvSpPr>
          <p:cNvPr id="10" name="Étape 3"/>
          <p:cNvSpPr/>
          <p:nvPr/>
        </p:nvSpPr>
        <p:spPr>
          <a:xfrm>
            <a:off x="4359554" y="1463040"/>
            <a:ext cx="1589989" cy="1051560"/>
          </a:xfrm>
          <a:prstGeom prst="rect">
            <a:avLst/>
          </a:prstGeom>
          <a:solidFill>
            <a:schemeClr val="bg2"/>
          </a:solidFill>
          <a:ln w="9525">
            <a:solidFill>
              <a:schemeClr val="accent5"/>
            </a:solidFill>
            <a:prstDash val="solid"/>
          </a:ln>
        </p:spPr>
      </p:sp>
      <p:sp>
        <p:nvSpPr>
          <p:cNvPr id="11" name="Text 9"/>
          <p:cNvSpPr txBox="1"/>
          <p:nvPr/>
        </p:nvSpPr>
        <p:spPr>
          <a:xfrm>
            <a:off x="4450994"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Zone d'intérêt</a:t>
            </a:r>
            <a:endParaRPr lang="en-US" sz="1500" dirty="0"/>
          </a:p>
          <a:p>
            <a:pPr algn="ctr" indent="0" marL="0">
              <a:buNone/>
            </a:pPr>
            <a:r>
              <a:rPr lang="en-US" sz="1200" dirty="0">
                <a:solidFill>
                  <a:schemeClr val="tx2"/>
                </a:solidFill>
              </a:rPr>
              <a:t>piste et abords</a:t>
            </a:r>
            <a:endParaRPr lang="en-US" sz="1500" dirty="0"/>
          </a:p>
        </p:txBody>
      </p:sp>
      <p:sp>
        <p:nvSpPr>
          <p:cNvPr id="12" name="Shape 10"/>
          <p:cNvSpPr/>
          <p:nvPr/>
        </p:nvSpPr>
        <p:spPr>
          <a:xfrm>
            <a:off x="5986120" y="1988820"/>
            <a:ext cx="219456" cy="0"/>
          </a:xfrm>
          <a:prstGeom prst="line">
            <a:avLst/>
          </a:prstGeom>
          <a:noFill/>
          <a:ln w="19050">
            <a:solidFill>
              <a:schemeClr val="tx2"/>
            </a:solidFill>
            <a:prstDash val="solid"/>
            <a:tailEnd type="triangle"/>
          </a:ln>
        </p:spPr>
      </p:sp>
      <p:sp>
        <p:nvSpPr>
          <p:cNvPr id="13" name="Étape 4"/>
          <p:cNvSpPr/>
          <p:nvPr/>
        </p:nvSpPr>
        <p:spPr>
          <a:xfrm>
            <a:off x="6242152" y="1463040"/>
            <a:ext cx="1589989" cy="1051560"/>
          </a:xfrm>
          <a:prstGeom prst="rect">
            <a:avLst/>
          </a:prstGeom>
          <a:solidFill>
            <a:schemeClr val="bg2"/>
          </a:solidFill>
          <a:ln w="9525">
            <a:solidFill>
              <a:schemeClr val="accent5"/>
            </a:solidFill>
            <a:prstDash val="solid"/>
          </a:ln>
        </p:spPr>
      </p:sp>
      <p:sp>
        <p:nvSpPr>
          <p:cNvPr id="14" name="Text 12"/>
          <p:cNvSpPr txBox="1"/>
          <p:nvPr/>
        </p:nvSpPr>
        <p:spPr>
          <a:xfrm>
            <a:off x="6333592"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Suivi</a:t>
            </a:r>
            <a:endParaRPr lang="en-US" sz="1500" dirty="0"/>
          </a:p>
          <a:p>
            <a:pPr algn="ctr" indent="0" marL="0">
              <a:buNone/>
            </a:pPr>
            <a:r>
              <a:rPr lang="en-US" sz="1200" dirty="0">
                <a:solidFill>
                  <a:schemeClr val="tx2"/>
                </a:solidFill>
              </a:rPr>
              <a:t>un objet, une alerte</a:t>
            </a:r>
            <a:endParaRPr lang="en-US" sz="1500" dirty="0"/>
          </a:p>
        </p:txBody>
      </p:sp>
      <p:sp>
        <p:nvSpPr>
          <p:cNvPr id="15" name="Shape 13"/>
          <p:cNvSpPr/>
          <p:nvPr/>
        </p:nvSpPr>
        <p:spPr>
          <a:xfrm>
            <a:off x="7868717" y="1988820"/>
            <a:ext cx="219456" cy="0"/>
          </a:xfrm>
          <a:prstGeom prst="line">
            <a:avLst/>
          </a:prstGeom>
          <a:noFill/>
          <a:ln w="19050">
            <a:solidFill>
              <a:schemeClr val="tx2"/>
            </a:solidFill>
            <a:prstDash val="solid"/>
            <a:tailEnd type="triangle"/>
          </a:ln>
        </p:spPr>
      </p:sp>
      <p:sp>
        <p:nvSpPr>
          <p:cNvPr id="16" name="Étape 5"/>
          <p:cNvSpPr/>
          <p:nvPr/>
        </p:nvSpPr>
        <p:spPr>
          <a:xfrm>
            <a:off x="8124749" y="1463040"/>
            <a:ext cx="1589989" cy="1051560"/>
          </a:xfrm>
          <a:prstGeom prst="rect">
            <a:avLst/>
          </a:prstGeom>
          <a:solidFill>
            <a:schemeClr val="bg2"/>
          </a:solidFill>
          <a:ln w="9525">
            <a:solidFill>
              <a:schemeClr val="accent5"/>
            </a:solidFill>
            <a:prstDash val="solid"/>
          </a:ln>
        </p:spPr>
      </p:sp>
      <p:sp>
        <p:nvSpPr>
          <p:cNvPr id="17" name="Text 15"/>
          <p:cNvSpPr txBox="1"/>
          <p:nvPr/>
        </p:nvSpPr>
        <p:spPr>
          <a:xfrm>
            <a:off x="8216189"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Alerte</a:t>
            </a:r>
            <a:endParaRPr lang="en-US" sz="1500" dirty="0"/>
          </a:p>
          <a:p>
            <a:pPr algn="ctr" indent="0" marL="0">
              <a:buNone/>
            </a:pPr>
            <a:r>
              <a:rPr lang="en-US" sz="1200" dirty="0">
                <a:solidFill>
                  <a:schemeClr val="tx2"/>
                </a:solidFill>
              </a:rPr>
              <a:t>avec image de preuve</a:t>
            </a:r>
            <a:endParaRPr lang="en-US" sz="1500" dirty="0"/>
          </a:p>
        </p:txBody>
      </p:sp>
      <p:sp>
        <p:nvSpPr>
          <p:cNvPr id="18" name="Shape 16"/>
          <p:cNvSpPr/>
          <p:nvPr/>
        </p:nvSpPr>
        <p:spPr>
          <a:xfrm>
            <a:off x="9751314" y="1988820"/>
            <a:ext cx="219456" cy="0"/>
          </a:xfrm>
          <a:prstGeom prst="line">
            <a:avLst/>
          </a:prstGeom>
          <a:noFill/>
          <a:ln w="19050">
            <a:solidFill>
              <a:schemeClr val="tx2"/>
            </a:solidFill>
            <a:prstDash val="solid"/>
            <a:tailEnd type="triangle"/>
          </a:ln>
        </p:spPr>
      </p:sp>
      <p:sp>
        <p:nvSpPr>
          <p:cNvPr id="19" name="Étape 6"/>
          <p:cNvSpPr/>
          <p:nvPr/>
        </p:nvSpPr>
        <p:spPr>
          <a:xfrm>
            <a:off x="10007346" y="1463040"/>
            <a:ext cx="1589989" cy="1051560"/>
          </a:xfrm>
          <a:prstGeom prst="rect">
            <a:avLst/>
          </a:prstGeom>
          <a:solidFill>
            <a:schemeClr val="bg2"/>
          </a:solidFill>
          <a:ln w="9525">
            <a:solidFill>
              <a:schemeClr val="accent5"/>
            </a:solidFill>
            <a:prstDash val="solid"/>
          </a:ln>
        </p:spPr>
      </p:sp>
      <p:sp>
        <p:nvSpPr>
          <p:cNvPr id="20" name="Text 18"/>
          <p:cNvSpPr txBox="1"/>
          <p:nvPr/>
        </p:nvSpPr>
        <p:spPr>
          <a:xfrm>
            <a:off x="10098786"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Station sol</a:t>
            </a:r>
            <a:endParaRPr lang="en-US" sz="1500" dirty="0"/>
          </a:p>
          <a:p>
            <a:pPr algn="ctr" indent="0" marL="0">
              <a:buNone/>
            </a:pPr>
            <a:r>
              <a:rPr lang="en-US" sz="1200" dirty="0">
                <a:solidFill>
                  <a:schemeClr val="tx2"/>
                </a:solidFill>
              </a:rPr>
              <a:t>par la liaison sécurisée</a:t>
            </a:r>
            <a:endParaRPr lang="en-US" sz="1500" dirty="0"/>
          </a:p>
        </p:txBody>
      </p:sp>
      <p:sp>
        <p:nvSpPr>
          <p:cNvPr id="21" name="Text 19"/>
          <p:cNvSpPr txBox="1"/>
          <p:nvPr/>
        </p:nvSpPr>
        <p:spPr>
          <a:xfrm>
            <a:off x="594360" y="288036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Matériel</a:t>
            </a:r>
            <a:endParaRPr lang="en-US" sz="1800" dirty="0"/>
          </a:p>
        </p:txBody>
      </p:sp>
      <p:sp>
        <p:nvSpPr>
          <p:cNvPr id="22" name="Text 20"/>
          <p:cNvSpPr txBox="1"/>
          <p:nvPr/>
        </p:nvSpPr>
        <p:spPr>
          <a:xfrm>
            <a:off x="594360" y="333756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Raspberry Pi 5</a:t>
            </a:r>
            <a:endParaRPr lang="en-US" sz="1600" dirty="0"/>
          </a:p>
          <a:p>
            <a:pPr marL="228600" indent="-228600">
              <a:spcAft>
                <a:spcPts val="800"/>
              </a:spcAft>
              <a:buSzPct val="100000"/>
              <a:buChar char="•"/>
            </a:pPr>
            <a:r>
              <a:rPr lang="en-US" sz="1600" dirty="0">
                <a:solidFill>
                  <a:schemeClr val="tx1"/>
                </a:solidFill>
              </a:rPr>
              <a:t>AI HAT+ 26 TOPS (puce Hailo-8)</a:t>
            </a:r>
            <a:endParaRPr lang="en-US" sz="1600" dirty="0"/>
          </a:p>
          <a:p>
            <a:pPr marL="228600" indent="-228600">
              <a:spcAft>
                <a:spcPts val="800"/>
              </a:spcAft>
              <a:buSzPct val="100000"/>
              <a:buChar char="•"/>
            </a:pPr>
            <a:r>
              <a:rPr lang="en-US" sz="1600" dirty="0">
                <a:solidFill>
                  <a:schemeClr val="tx1"/>
                </a:solidFill>
              </a:rPr>
              <a:t>Séparé du contrôleur de vol</a:t>
            </a:r>
            <a:endParaRPr lang="en-US" sz="1600" dirty="0"/>
          </a:p>
        </p:txBody>
      </p:sp>
      <p:sp>
        <p:nvSpPr>
          <p:cNvPr id="23" name="Text 21"/>
          <p:cNvSpPr txBox="1"/>
          <p:nvPr/>
        </p:nvSpPr>
        <p:spPr>
          <a:xfrm>
            <a:off x="6370168" y="288036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Ce qu'il détecte</a:t>
            </a:r>
            <a:endParaRPr lang="en-US" sz="1800" dirty="0"/>
          </a:p>
        </p:txBody>
      </p:sp>
      <p:sp>
        <p:nvSpPr>
          <p:cNvPr id="24" name="Text 22"/>
          <p:cNvSpPr txBox="1"/>
          <p:nvPr/>
        </p:nvSpPr>
        <p:spPr>
          <a:xfrm>
            <a:off x="6370168" y="333756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Personnes</a:t>
            </a:r>
            <a:endParaRPr lang="en-US" sz="1600" dirty="0"/>
          </a:p>
          <a:p>
            <a:pPr marL="228600" indent="-228600">
              <a:spcAft>
                <a:spcPts val="800"/>
              </a:spcAft>
              <a:buSzPct val="100000"/>
              <a:buChar char="•"/>
            </a:pPr>
            <a:r>
              <a:rPr lang="en-US" sz="1600" dirty="0">
                <a:solidFill>
                  <a:schemeClr val="tx1"/>
                </a:solidFill>
              </a:rPr>
              <a:t>Véhicules</a:t>
            </a:r>
            <a:endParaRPr lang="en-US" sz="1600" dirty="0"/>
          </a:p>
          <a:p>
            <a:pPr marL="228600" indent="-228600">
              <a:spcAft>
                <a:spcPts val="800"/>
              </a:spcAft>
              <a:buSzPct val="100000"/>
              <a:buChar char="•"/>
            </a:pPr>
            <a:r>
              <a:rPr lang="en-US" sz="1600" dirty="0">
                <a:solidFill>
                  <a:schemeClr val="tx1"/>
                </a:solidFill>
              </a:rPr>
              <a:t>Débris et objets au sol</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Données et fiabilité</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Roger KAINWANG</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 modèle et ses données</a:t>
            </a:r>
            <a:endParaRPr lang="en-US" sz="1800" dirty="0"/>
          </a:p>
        </p:txBody>
      </p:sp>
      <p:sp>
        <p:nvSpPr>
          <p:cNvPr id="5" name="Text 3"/>
          <p:cNvSpPr txBox="1"/>
          <p:nvPr/>
        </p:nvSpPr>
        <p:spPr>
          <a:xfrm>
            <a:off x="594360" y="1874520"/>
            <a:ext cx="5227168" cy="40233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YOLOv8s pré-entraîné, adapté par fine-tuning</a:t>
            </a:r>
            <a:endParaRPr lang="en-US" sz="1700" dirty="0"/>
          </a:p>
          <a:p>
            <a:pPr marL="228600" indent="-228600">
              <a:spcAft>
                <a:spcPts val="800"/>
              </a:spcAft>
              <a:buSzPct val="100000"/>
              <a:buChar char="•"/>
            </a:pPr>
            <a:r>
              <a:rPr lang="en-US" sz="1700" dirty="0">
                <a:solidFill>
                  <a:schemeClr val="tx1"/>
                </a:solidFill>
              </a:rPr>
              <a:t>FOD-A : plus de 30 000 débris de piste annotés</a:t>
            </a:r>
            <a:endParaRPr lang="en-US" sz="1700" dirty="0"/>
          </a:p>
          <a:p>
            <a:pPr marL="228600" indent="-228600">
              <a:spcAft>
                <a:spcPts val="800"/>
              </a:spcAft>
              <a:buSzPct val="100000"/>
              <a:buChar char="•"/>
            </a:pPr>
            <a:r>
              <a:rPr lang="en-US" sz="1700" dirty="0">
                <a:solidFill>
                  <a:schemeClr val="tx1"/>
                </a:solidFill>
              </a:rPr>
              <a:t>Images prises avec notre caméra, à l'angle de vue du drone</a:t>
            </a:r>
            <a:endParaRPr lang="en-US" sz="1700" dirty="0"/>
          </a:p>
          <a:p>
            <a:pPr marL="228600" indent="-228600">
              <a:spcAft>
                <a:spcPts val="800"/>
              </a:spcAft>
              <a:buSzPct val="100000"/>
              <a:buChar char="•"/>
            </a:pPr>
            <a:r>
              <a:rPr lang="en-US" sz="1700" dirty="0">
                <a:solidFill>
                  <a:schemeClr val="tx1"/>
                </a:solidFill>
              </a:rPr>
              <a:t>Scènes vides et pièges (ombres, marquages) pour limiter les fausses alertes</a:t>
            </a:r>
            <a:endParaRPr lang="en-US" sz="17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Ce que l'IA fait, et ne fait pas</a:t>
            </a:r>
            <a:endParaRPr lang="en-US" sz="1800" dirty="0"/>
          </a:p>
        </p:txBody>
      </p:sp>
      <p:sp>
        <p:nvSpPr>
          <p:cNvPr id="7" name="Text 5"/>
          <p:cNvSpPr txBox="1"/>
          <p:nvPr/>
        </p:nvSpPr>
        <p:spPr>
          <a:xfrm>
            <a:off x="6370168" y="1874520"/>
            <a:ext cx="5227168" cy="40233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Un objet inconnu est signalé « à vérifier », avec son image</a:t>
            </a:r>
            <a:endParaRPr lang="en-US" sz="1700" dirty="0"/>
          </a:p>
          <a:p>
            <a:pPr marL="228600" indent="-228600">
              <a:spcAft>
                <a:spcPts val="800"/>
              </a:spcAft>
              <a:buSzPct val="100000"/>
              <a:buChar char="•"/>
            </a:pPr>
            <a:r>
              <a:rPr lang="en-US" sz="1700" dirty="0">
                <a:solidFill>
                  <a:schemeClr val="tx1"/>
                </a:solidFill>
              </a:rPr>
              <a:t>Sans liaison, les alertes sont gardées à bord puis envoyées</a:t>
            </a:r>
            <a:endParaRPr lang="en-US" sz="1700" dirty="0"/>
          </a:p>
          <a:p>
            <a:pPr marL="228600" indent="-228600">
              <a:spcAft>
                <a:spcPts val="800"/>
              </a:spcAft>
              <a:buSzPct val="100000"/>
              <a:buChar char="•"/>
            </a:pPr>
            <a:r>
              <a:rPr lang="en-US" sz="1700" dirty="0">
                <a:solidFill>
                  <a:schemeClr val="tx1"/>
                </a:solidFill>
              </a:rPr>
              <a:t>Elle aide l'opérateur, la décision reste humaine</a:t>
            </a:r>
            <a:endParaRPr lang="en-US" sz="1700" dirty="0"/>
          </a:p>
          <a:p>
            <a:pPr marL="228600" indent="-228600">
              <a:spcAft>
                <a:spcPts val="800"/>
              </a:spcAft>
              <a:buSzPct val="100000"/>
              <a:buChar char="•"/>
            </a:pPr>
            <a:r>
              <a:rPr lang="en-US" sz="1700" dirty="0">
                <a:solidFill>
                  <a:schemeClr val="tx1"/>
                </a:solidFill>
              </a:rPr>
              <a:t>Elle ne commande jamais le drone</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Supervision et documentation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sp>
        <p:nvSpPr>
          <p:cNvPr id="4" name="Étape 1"/>
          <p:cNvSpPr/>
          <p:nvPr/>
        </p:nvSpPr>
        <p:spPr>
          <a:xfrm>
            <a:off x="594360" y="1463040"/>
            <a:ext cx="2531288" cy="1051560"/>
          </a:xfrm>
          <a:prstGeom prst="rect">
            <a:avLst/>
          </a:prstGeom>
          <a:solidFill>
            <a:schemeClr val="bg2"/>
          </a:solidFill>
          <a:ln w="9525">
            <a:solidFill>
              <a:schemeClr val="accent5"/>
            </a:solidFill>
            <a:prstDash val="solid"/>
          </a:ln>
        </p:spPr>
      </p:sp>
      <p:sp>
        <p:nvSpPr>
          <p:cNvPr id="5" name="Text 3"/>
          <p:cNvSpPr txBox="1"/>
          <p:nvPr/>
        </p:nvSpPr>
        <p:spPr>
          <a:xfrm>
            <a:off x="685800" y="1536192"/>
            <a:ext cx="2348408" cy="905256"/>
          </a:xfrm>
          <a:prstGeom prst="rect">
            <a:avLst/>
          </a:prstGeom>
          <a:noFill/>
          <a:ln/>
        </p:spPr>
        <p:txBody>
          <a:bodyPr wrap="square" lIns="0" tIns="0" rIns="0" bIns="0" rtlCol="0" anchor="ctr"/>
          <a:lstStyle/>
          <a:p>
            <a:pPr algn="ctr" indent="0" marL="0">
              <a:buNone/>
            </a:pPr>
            <a:r>
              <a:rPr lang="en-US" sz="1500" b="1" dirty="0">
                <a:solidFill>
                  <a:schemeClr val="tx1"/>
                </a:solidFill>
              </a:rPr>
              <a:t>Drone</a:t>
            </a:r>
            <a:endParaRPr lang="en-US" sz="1500" dirty="0"/>
          </a:p>
          <a:p>
            <a:pPr algn="ctr" indent="0" marL="0">
              <a:buNone/>
            </a:pPr>
            <a:r>
              <a:rPr lang="en-US" sz="1200" dirty="0">
                <a:solidFill>
                  <a:schemeClr val="tx2"/>
                </a:solidFill>
              </a:rPr>
              <a:t>journal à bord</a:t>
            </a:r>
            <a:endParaRPr lang="en-US" sz="1500" dirty="0"/>
          </a:p>
        </p:txBody>
      </p:sp>
      <p:sp>
        <p:nvSpPr>
          <p:cNvPr id="6" name="Shape 4"/>
          <p:cNvSpPr/>
          <p:nvPr/>
        </p:nvSpPr>
        <p:spPr>
          <a:xfrm>
            <a:off x="3162224" y="1988820"/>
            <a:ext cx="219456" cy="0"/>
          </a:xfrm>
          <a:prstGeom prst="line">
            <a:avLst/>
          </a:prstGeom>
          <a:noFill/>
          <a:ln w="19050">
            <a:solidFill>
              <a:schemeClr val="tx2"/>
            </a:solidFill>
            <a:prstDash val="solid"/>
            <a:tailEnd type="triangle"/>
          </a:ln>
        </p:spPr>
      </p:sp>
      <p:sp>
        <p:nvSpPr>
          <p:cNvPr id="7" name="Étape 2"/>
          <p:cNvSpPr/>
          <p:nvPr/>
        </p:nvSpPr>
        <p:spPr>
          <a:xfrm>
            <a:off x="3418256" y="1463040"/>
            <a:ext cx="2531288" cy="1051560"/>
          </a:xfrm>
          <a:prstGeom prst="rect">
            <a:avLst/>
          </a:prstGeom>
          <a:solidFill>
            <a:schemeClr val="bg2"/>
          </a:solidFill>
          <a:ln w="9525">
            <a:solidFill>
              <a:schemeClr val="accent5"/>
            </a:solidFill>
            <a:prstDash val="solid"/>
          </a:ln>
        </p:spPr>
      </p:sp>
      <p:sp>
        <p:nvSpPr>
          <p:cNvPr id="8" name="Text 6"/>
          <p:cNvSpPr txBox="1"/>
          <p:nvPr/>
        </p:nvSpPr>
        <p:spPr>
          <a:xfrm>
            <a:off x="3509696" y="1536192"/>
            <a:ext cx="2348408" cy="905256"/>
          </a:xfrm>
          <a:prstGeom prst="rect">
            <a:avLst/>
          </a:prstGeom>
          <a:noFill/>
          <a:ln/>
        </p:spPr>
        <p:txBody>
          <a:bodyPr wrap="square" lIns="0" tIns="0" rIns="0" bIns="0" rtlCol="0" anchor="ctr"/>
          <a:lstStyle/>
          <a:p>
            <a:pPr algn="ctr" indent="0" marL="0">
              <a:buNone/>
            </a:pPr>
            <a:r>
              <a:rPr lang="en-US" sz="1500" b="1" dirty="0">
                <a:solidFill>
                  <a:schemeClr val="tx1"/>
                </a:solidFill>
              </a:rPr>
              <a:t>Station sol</a:t>
            </a:r>
            <a:endParaRPr lang="en-US" sz="1500" dirty="0"/>
          </a:p>
          <a:p>
            <a:pPr algn="ctr" indent="0" marL="0">
              <a:buNone/>
            </a:pPr>
            <a:r>
              <a:rPr lang="en-US" sz="1200" dirty="0">
                <a:solidFill>
                  <a:schemeClr val="tx2"/>
                </a:solidFill>
              </a:rPr>
              <a:t>affichage et contrôle</a:t>
            </a:r>
            <a:endParaRPr lang="en-US" sz="1500" dirty="0"/>
          </a:p>
        </p:txBody>
      </p:sp>
      <p:sp>
        <p:nvSpPr>
          <p:cNvPr id="9" name="Shape 7"/>
          <p:cNvSpPr/>
          <p:nvPr/>
        </p:nvSpPr>
        <p:spPr>
          <a:xfrm>
            <a:off x="5986120" y="1988820"/>
            <a:ext cx="219456" cy="0"/>
          </a:xfrm>
          <a:prstGeom prst="line">
            <a:avLst/>
          </a:prstGeom>
          <a:noFill/>
          <a:ln w="19050">
            <a:solidFill>
              <a:schemeClr val="tx2"/>
            </a:solidFill>
            <a:prstDash val="solid"/>
            <a:tailEnd type="triangle"/>
          </a:ln>
        </p:spPr>
      </p:sp>
      <p:sp>
        <p:nvSpPr>
          <p:cNvPr id="10" name="Étape 3"/>
          <p:cNvSpPr/>
          <p:nvPr/>
        </p:nvSpPr>
        <p:spPr>
          <a:xfrm>
            <a:off x="6242152" y="1463040"/>
            <a:ext cx="2531288" cy="1051560"/>
          </a:xfrm>
          <a:prstGeom prst="rect">
            <a:avLst/>
          </a:prstGeom>
          <a:solidFill>
            <a:schemeClr val="bg2"/>
          </a:solidFill>
          <a:ln w="9525">
            <a:solidFill>
              <a:schemeClr val="accent5"/>
            </a:solidFill>
            <a:prstDash val="solid"/>
          </a:ln>
        </p:spPr>
      </p:sp>
      <p:sp>
        <p:nvSpPr>
          <p:cNvPr id="11" name="Text 9"/>
          <p:cNvSpPr txBox="1"/>
          <p:nvPr/>
        </p:nvSpPr>
        <p:spPr>
          <a:xfrm>
            <a:off x="6333592" y="1536192"/>
            <a:ext cx="2348408" cy="905256"/>
          </a:xfrm>
          <a:prstGeom prst="rect">
            <a:avLst/>
          </a:prstGeom>
          <a:noFill/>
          <a:ln/>
        </p:spPr>
        <p:txBody>
          <a:bodyPr wrap="square" lIns="0" tIns="0" rIns="0" bIns="0" rtlCol="0" anchor="ctr"/>
          <a:lstStyle/>
          <a:p>
            <a:pPr algn="ctr" indent="0" marL="0">
              <a:buNone/>
            </a:pPr>
            <a:r>
              <a:rPr lang="en-US" sz="1500" b="1" dirty="0">
                <a:solidFill>
                  <a:schemeClr val="tx1"/>
                </a:solidFill>
              </a:rPr>
              <a:t>Back-end</a:t>
            </a:r>
            <a:endParaRPr lang="en-US" sz="1500" dirty="0"/>
          </a:p>
          <a:p>
            <a:pPr algn="ctr" indent="0" marL="0">
              <a:buNone/>
            </a:pPr>
            <a:r>
              <a:rPr lang="en-US" sz="1200" dirty="0">
                <a:solidFill>
                  <a:schemeClr val="tx2"/>
                </a:solidFill>
              </a:rPr>
              <a:t>API REST, base MySQL</a:t>
            </a:r>
            <a:endParaRPr lang="en-US" sz="1500" dirty="0"/>
          </a:p>
        </p:txBody>
      </p:sp>
      <p:sp>
        <p:nvSpPr>
          <p:cNvPr id="12" name="Shape 10"/>
          <p:cNvSpPr/>
          <p:nvPr/>
        </p:nvSpPr>
        <p:spPr>
          <a:xfrm>
            <a:off x="8810015" y="1988820"/>
            <a:ext cx="219456" cy="0"/>
          </a:xfrm>
          <a:prstGeom prst="line">
            <a:avLst/>
          </a:prstGeom>
          <a:noFill/>
          <a:ln w="19050">
            <a:solidFill>
              <a:schemeClr val="tx2"/>
            </a:solidFill>
            <a:prstDash val="solid"/>
            <a:tailEnd type="triangle"/>
          </a:ln>
        </p:spPr>
      </p:sp>
      <p:sp>
        <p:nvSpPr>
          <p:cNvPr id="13" name="Étape 4"/>
          <p:cNvSpPr/>
          <p:nvPr/>
        </p:nvSpPr>
        <p:spPr>
          <a:xfrm>
            <a:off x="9066047" y="1463040"/>
            <a:ext cx="2531288" cy="1051560"/>
          </a:xfrm>
          <a:prstGeom prst="rect">
            <a:avLst/>
          </a:prstGeom>
          <a:solidFill>
            <a:schemeClr val="bg2"/>
          </a:solidFill>
          <a:ln w="9525">
            <a:solidFill>
              <a:schemeClr val="accent5"/>
            </a:solidFill>
            <a:prstDash val="solid"/>
          </a:ln>
        </p:spPr>
      </p:sp>
      <p:sp>
        <p:nvSpPr>
          <p:cNvPr id="14" name="Text 12"/>
          <p:cNvSpPr txBox="1"/>
          <p:nvPr/>
        </p:nvSpPr>
        <p:spPr>
          <a:xfrm>
            <a:off x="9157487" y="1536192"/>
            <a:ext cx="2348408" cy="905256"/>
          </a:xfrm>
          <a:prstGeom prst="rect">
            <a:avLst/>
          </a:prstGeom>
          <a:noFill/>
          <a:ln/>
        </p:spPr>
        <p:txBody>
          <a:bodyPr wrap="square" lIns="0" tIns="0" rIns="0" bIns="0" rtlCol="0" anchor="ctr"/>
          <a:lstStyle/>
          <a:p>
            <a:pPr algn="ctr" indent="0" marL="0">
              <a:buNone/>
            </a:pPr>
            <a:r>
              <a:rPr lang="en-US" sz="1500" b="1" dirty="0">
                <a:solidFill>
                  <a:schemeClr val="tx1"/>
                </a:solidFill>
              </a:rPr>
              <a:t>Archives</a:t>
            </a:r>
            <a:endParaRPr lang="en-US" sz="1500" dirty="0"/>
          </a:p>
          <a:p>
            <a:pPr algn="ctr" indent="0" marL="0">
              <a:buNone/>
            </a:pPr>
            <a:r>
              <a:rPr lang="en-US" sz="1200" dirty="0">
                <a:solidFill>
                  <a:schemeClr val="tx2"/>
                </a:solidFill>
              </a:rPr>
              <a:t>journaux de vol signés</a:t>
            </a:r>
            <a:endParaRPr lang="en-US" sz="1500" dirty="0"/>
          </a:p>
        </p:txBody>
      </p:sp>
      <p:sp>
        <p:nvSpPr>
          <p:cNvPr id="15" name="Text 13"/>
          <p:cNvSpPr txBox="1"/>
          <p:nvPr/>
        </p:nvSpPr>
        <p:spPr>
          <a:xfrm>
            <a:off x="594360" y="288036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 back-end</a:t>
            </a:r>
            <a:endParaRPr lang="en-US" sz="1800" dirty="0"/>
          </a:p>
        </p:txBody>
      </p:sp>
      <p:sp>
        <p:nvSpPr>
          <p:cNvPr id="16" name="Text 14"/>
          <p:cNvSpPr txBox="1"/>
          <p:nvPr/>
        </p:nvSpPr>
        <p:spPr>
          <a:xfrm>
            <a:off x="594360" y="333756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Enregistre les vols, la télémétrie et les alertes</a:t>
            </a:r>
            <a:endParaRPr lang="en-US" sz="1600" dirty="0"/>
          </a:p>
          <a:p>
            <a:pPr marL="228600" indent="-228600">
              <a:spcAft>
                <a:spcPts val="800"/>
              </a:spcAft>
              <a:buSzPct val="100000"/>
              <a:buChar char="•"/>
            </a:pPr>
            <a:r>
              <a:rPr lang="en-US" sz="1600" dirty="0">
                <a:solidFill>
                  <a:schemeClr val="tx1"/>
                </a:solidFill>
              </a:rPr>
              <a:t>Format d'alerte commun à toute l'équipe</a:t>
            </a:r>
            <a:endParaRPr lang="en-US" sz="1600" dirty="0"/>
          </a:p>
          <a:p>
            <a:pPr marL="228600" indent="-228600">
              <a:spcAft>
                <a:spcPts val="800"/>
              </a:spcAft>
              <a:buSzPct val="100000"/>
              <a:buChar char="•"/>
            </a:pPr>
            <a:r>
              <a:rPr lang="en-US" sz="1600" dirty="0">
                <a:solidFill>
                  <a:schemeClr val="tx1"/>
                </a:solidFill>
              </a:rPr>
              <a:t>Journaux signés : toute modification se voit</a:t>
            </a:r>
            <a:endParaRPr lang="en-US" sz="1600" dirty="0"/>
          </a:p>
        </p:txBody>
      </p:sp>
      <p:sp>
        <p:nvSpPr>
          <p:cNvPr id="17" name="Text 15"/>
          <p:cNvSpPr txBox="1"/>
          <p:nvPr/>
        </p:nvSpPr>
        <p:spPr>
          <a:xfrm>
            <a:off x="6370168" y="288036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 programme de vol et le dossier</a:t>
            </a:r>
            <a:endParaRPr lang="en-US" sz="1800" dirty="0"/>
          </a:p>
        </p:txBody>
      </p:sp>
      <p:sp>
        <p:nvSpPr>
          <p:cNvPr id="18" name="Text 16"/>
          <p:cNvSpPr txBox="1"/>
          <p:nvPr/>
        </p:nvSpPr>
        <p:spPr>
          <a:xfrm>
            <a:off x="6370168" y="333756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Plans de mission et check-lists avant et après vol</a:t>
            </a:r>
            <a:endParaRPr lang="en-US" sz="1600" dirty="0"/>
          </a:p>
          <a:p>
            <a:pPr marL="228600" indent="-228600">
              <a:spcAft>
                <a:spcPts val="800"/>
              </a:spcAft>
              <a:buSzPct val="100000"/>
              <a:buChar char="•"/>
            </a:pPr>
            <a:r>
              <a:rPr lang="en-US" sz="1600" dirty="0">
                <a:solidFill>
                  <a:schemeClr val="tx1"/>
                </a:solidFill>
              </a:rPr>
              <a:t>Procédures d'urgence</a:t>
            </a:r>
            <a:endParaRPr lang="en-US" sz="1600" dirty="0"/>
          </a:p>
          <a:p>
            <a:pPr marL="228600" indent="-228600">
              <a:spcAft>
                <a:spcPts val="800"/>
              </a:spcAft>
              <a:buSzPct val="100000"/>
              <a:buChar char="•"/>
            </a:pPr>
            <a:r>
              <a:rPr lang="en-US" sz="1600" dirty="0">
                <a:solidFill>
                  <a:schemeClr val="tx1"/>
                </a:solidFill>
              </a:rPr>
              <a:t>Dossier de conception : schémas, dimensionnement, sécurité</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Conformité aux exigences du concours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4572000"/>
                <a:gridCol w="6430975"/>
              </a:tblGrid>
              <a:tr h="566928">
                <a:tc>
                  <a:txBody>
                    <a:bodyPr/>
                    <a:lstStyle/>
                    <a:p>
                      <a:pPr indent="0" marL="0">
                        <a:buNone/>
                      </a:pPr>
                      <a:r>
                        <a:rPr lang="en-US" sz="1600" b="1" dirty="0">
                          <a:solidFill>
                            <a:schemeClr val="accent1"/>
                          </a:solidFill>
                        </a:rPr>
                        <a:t>Exigence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Notre solution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Navigation GPS et retour au point de départ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GNSS relié au contrôleur de vol, retour automatique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Coupure d'urgence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Coupure des moteurs et mode de descente sécurisée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Lien sécurisé drone / station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Liaison chiffrée et messages signés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Autonomie minimale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30 à 45 minutes visées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Charge utile adaptée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Caméra jour/nuit stabilisée et module IA</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Documentation technique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Dossier de conception complet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Calendrier</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sp>
        <p:nvSpPr>
          <p:cNvPr id="4" name="Shape 2"/>
          <p:cNvSpPr/>
          <p:nvPr/>
        </p:nvSpPr>
        <p:spPr>
          <a:xfrm>
            <a:off x="1783080" y="2103120"/>
            <a:ext cx="8625535" cy="0"/>
          </a:xfrm>
          <a:prstGeom prst="line">
            <a:avLst/>
          </a:prstGeom>
          <a:noFill/>
          <a:ln w="25400">
            <a:solidFill>
              <a:schemeClr val="accent5"/>
            </a:solidFill>
            <a:prstDash val="solid"/>
          </a:ln>
        </p:spPr>
      </p:sp>
      <p:sp>
        <p:nvSpPr>
          <p:cNvPr id="5" name="Shape 3"/>
          <p:cNvSpPr/>
          <p:nvPr/>
        </p:nvSpPr>
        <p:spPr>
          <a:xfrm>
            <a:off x="1655064" y="1975104"/>
            <a:ext cx="256032" cy="256032"/>
          </a:xfrm>
          <a:prstGeom prst="ellipse">
            <a:avLst/>
          </a:prstGeom>
          <a:solidFill>
            <a:schemeClr val="accent1"/>
          </a:solidFill>
          <a:ln w="19050">
            <a:solidFill>
              <a:schemeClr val="accent1"/>
            </a:solidFill>
            <a:prstDash val="solid"/>
          </a:ln>
        </p:spPr>
      </p:sp>
      <p:sp>
        <p:nvSpPr>
          <p:cNvPr id="6" name="Text 4"/>
          <p:cNvSpPr txBox="1"/>
          <p:nvPr/>
        </p:nvSpPr>
        <p:spPr>
          <a:xfrm>
            <a:off x="640080"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Août</a:t>
            </a:r>
            <a:endParaRPr lang="en-US" sz="1600" dirty="0"/>
          </a:p>
        </p:txBody>
      </p:sp>
      <p:sp>
        <p:nvSpPr>
          <p:cNvPr id="7" name="Text 5"/>
          <p:cNvSpPr txBox="1"/>
          <p:nvPr/>
        </p:nvSpPr>
        <p:spPr>
          <a:xfrm>
            <a:off x="640080"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Candidature et cahier des charges</a:t>
            </a:r>
            <a:endParaRPr lang="en-US" sz="1400" dirty="0"/>
          </a:p>
        </p:txBody>
      </p:sp>
      <p:sp>
        <p:nvSpPr>
          <p:cNvPr id="8" name="Shape 6"/>
          <p:cNvSpPr/>
          <p:nvPr/>
        </p:nvSpPr>
        <p:spPr>
          <a:xfrm>
            <a:off x="3811448" y="1975104"/>
            <a:ext cx="256032" cy="256032"/>
          </a:xfrm>
          <a:prstGeom prst="ellipse">
            <a:avLst/>
          </a:prstGeom>
          <a:solidFill>
            <a:schemeClr val="accent1"/>
          </a:solidFill>
          <a:ln w="19050">
            <a:solidFill>
              <a:schemeClr val="accent1"/>
            </a:solidFill>
            <a:prstDash val="solid"/>
          </a:ln>
        </p:spPr>
      </p:sp>
      <p:sp>
        <p:nvSpPr>
          <p:cNvPr id="9" name="Text 7"/>
          <p:cNvSpPr txBox="1"/>
          <p:nvPr/>
        </p:nvSpPr>
        <p:spPr>
          <a:xfrm>
            <a:off x="2796464"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Septembre</a:t>
            </a:r>
            <a:endParaRPr lang="en-US" sz="1600" dirty="0"/>
          </a:p>
        </p:txBody>
      </p:sp>
      <p:sp>
        <p:nvSpPr>
          <p:cNvPr id="10" name="Text 8"/>
          <p:cNvSpPr txBox="1"/>
          <p:nvPr/>
        </p:nvSpPr>
        <p:spPr>
          <a:xfrm>
            <a:off x="2796464"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Conception détaillée et dossier</a:t>
            </a:r>
            <a:endParaRPr lang="en-US" sz="1400" dirty="0"/>
          </a:p>
        </p:txBody>
      </p:sp>
      <p:sp>
        <p:nvSpPr>
          <p:cNvPr id="11" name="Shape 9"/>
          <p:cNvSpPr/>
          <p:nvPr/>
        </p:nvSpPr>
        <p:spPr>
          <a:xfrm>
            <a:off x="5967832" y="1975104"/>
            <a:ext cx="256032" cy="256032"/>
          </a:xfrm>
          <a:prstGeom prst="ellipse">
            <a:avLst/>
          </a:prstGeom>
          <a:solidFill>
            <a:schemeClr val="accent2"/>
          </a:solidFill>
          <a:ln w="19050">
            <a:solidFill>
              <a:schemeClr val="accent2"/>
            </a:solidFill>
            <a:prstDash val="solid"/>
          </a:ln>
        </p:spPr>
      </p:sp>
      <p:sp>
        <p:nvSpPr>
          <p:cNvPr id="12" name="Text 10"/>
          <p:cNvSpPr txBox="1"/>
          <p:nvPr/>
        </p:nvSpPr>
        <p:spPr>
          <a:xfrm>
            <a:off x="4952848"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Octobre (en cours)</a:t>
            </a:r>
            <a:endParaRPr lang="en-US" sz="1600" dirty="0"/>
          </a:p>
        </p:txBody>
      </p:sp>
      <p:sp>
        <p:nvSpPr>
          <p:cNvPr id="13" name="Text 11"/>
          <p:cNvSpPr txBox="1"/>
          <p:nvPr/>
        </p:nvSpPr>
        <p:spPr>
          <a:xfrm>
            <a:off x="4952848"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Prototypage et intégration</a:t>
            </a:r>
            <a:endParaRPr lang="en-US" sz="1400" dirty="0"/>
          </a:p>
        </p:txBody>
      </p:sp>
      <p:sp>
        <p:nvSpPr>
          <p:cNvPr id="14" name="Shape 12"/>
          <p:cNvSpPr/>
          <p:nvPr/>
        </p:nvSpPr>
        <p:spPr>
          <a:xfrm>
            <a:off x="8124215" y="1975104"/>
            <a:ext cx="256032" cy="256032"/>
          </a:xfrm>
          <a:prstGeom prst="ellipse">
            <a:avLst/>
          </a:prstGeom>
          <a:solidFill>
            <a:schemeClr val="bg1"/>
          </a:solidFill>
          <a:ln w="19050">
            <a:solidFill>
              <a:schemeClr val="accent6"/>
            </a:solidFill>
            <a:prstDash val="solid"/>
          </a:ln>
        </p:spPr>
      </p:sp>
      <p:sp>
        <p:nvSpPr>
          <p:cNvPr id="15" name="Text 13"/>
          <p:cNvSpPr txBox="1"/>
          <p:nvPr/>
        </p:nvSpPr>
        <p:spPr>
          <a:xfrm>
            <a:off x="7109231"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Novembre</a:t>
            </a:r>
            <a:endParaRPr lang="en-US" sz="1600" dirty="0"/>
          </a:p>
        </p:txBody>
      </p:sp>
      <p:sp>
        <p:nvSpPr>
          <p:cNvPr id="16" name="Text 14"/>
          <p:cNvSpPr txBox="1"/>
          <p:nvPr/>
        </p:nvSpPr>
        <p:spPr>
          <a:xfrm>
            <a:off x="7109231"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Essais au sol, en vol et de sécurité</a:t>
            </a:r>
            <a:endParaRPr lang="en-US" sz="1400" dirty="0"/>
          </a:p>
        </p:txBody>
      </p:sp>
      <p:sp>
        <p:nvSpPr>
          <p:cNvPr id="17" name="Shape 15"/>
          <p:cNvSpPr/>
          <p:nvPr/>
        </p:nvSpPr>
        <p:spPr>
          <a:xfrm>
            <a:off x="10280599" y="1975104"/>
            <a:ext cx="256032" cy="256032"/>
          </a:xfrm>
          <a:prstGeom prst="ellipse">
            <a:avLst/>
          </a:prstGeom>
          <a:solidFill>
            <a:schemeClr val="bg1"/>
          </a:solidFill>
          <a:ln w="19050">
            <a:solidFill>
              <a:schemeClr val="accent6"/>
            </a:solidFill>
            <a:prstDash val="solid"/>
          </a:ln>
        </p:spPr>
      </p:sp>
      <p:sp>
        <p:nvSpPr>
          <p:cNvPr id="18" name="Text 16"/>
          <p:cNvSpPr txBox="1"/>
          <p:nvPr/>
        </p:nvSpPr>
        <p:spPr>
          <a:xfrm>
            <a:off x="9265615"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Décembre 2026</a:t>
            </a:r>
            <a:endParaRPr lang="en-US" sz="1600" dirty="0"/>
          </a:p>
        </p:txBody>
      </p:sp>
      <p:sp>
        <p:nvSpPr>
          <p:cNvPr id="19" name="Text 17"/>
          <p:cNvSpPr txBox="1"/>
          <p:nvPr/>
        </p:nvSpPr>
        <p:spPr>
          <a:xfrm>
            <a:off x="9265615"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Finale et démonstration</a:t>
            </a:r>
            <a:endParaRPr lang="en-US" sz="14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Budget prévisionnel</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7315200"/>
                <a:gridCol w="3687775"/>
              </a:tblGrid>
              <a:tr h="457200">
                <a:tc>
                  <a:txBody>
                    <a:bodyPr/>
                    <a:lstStyle/>
                    <a:p>
                      <a:pPr indent="0" marL="0">
                        <a:buNone/>
                      </a:pPr>
                      <a:r>
                        <a:rPr lang="en-US" sz="1500" b="1" dirty="0">
                          <a:solidFill>
                            <a:schemeClr val="accent1"/>
                          </a:solidFill>
                        </a:rPr>
                        <a:t>Poste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Estimation (FCFA)</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Cellule, moteurs, ESC, hélices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200 000 à 350 000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Contrôleur de vol, GPS, capteurs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200 000 à 350 000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Caméra et nacelle stabilisée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120 000 à 300 000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Batteries et alimentation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80 000 à 150 000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Liaison radio et télémétrie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80 000 à 150 000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Consommables et divers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50 000 à 100 000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Total (fiche projet)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730 000 à 1 400 000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5" name="Text 2"/>
          <p:cNvSpPr txBox="1"/>
          <p:nvPr/>
        </p:nvSpPr>
        <p:spPr>
          <a:xfrm>
            <a:off x="594360" y="5440680"/>
            <a:ext cx="11002975" cy="411480"/>
          </a:xfrm>
          <a:prstGeom prst="rect">
            <a:avLst/>
          </a:prstGeom>
          <a:noFill/>
          <a:ln/>
        </p:spPr>
        <p:txBody>
          <a:bodyPr wrap="square" lIns="0" tIns="0" rIns="0" bIns="0" rtlCol="0" anchor="ctr"/>
          <a:lstStyle/>
          <a:p>
            <a:pPr indent="0" marL="0">
              <a:buNone/>
            </a:pPr>
            <a:r>
              <a:rPr lang="en-US" sz="1600" dirty="0">
                <a:solidFill>
                  <a:schemeClr val="tx2"/>
                </a:solidFill>
              </a:rPr>
              <a:t>À ajouter : le module IA (Raspberry Pi 5 + AI HAT+), 120 000 à 160 000 FCFA.</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94360" y="914400"/>
            <a:ext cx="5669280" cy="731520"/>
          </a:xfrm>
          <a:prstGeom prst="rect">
            <a:avLst/>
          </a:prstGeom>
          <a:noFill/>
          <a:ln/>
        </p:spPr>
        <p:txBody>
          <a:bodyPr wrap="square" lIns="0" tIns="0" rIns="0" bIns="0" rtlCol="0" anchor="ctr"/>
          <a:lstStyle/>
          <a:p>
            <a:pPr indent="0" marL="0">
              <a:buNone/>
            </a:pPr>
            <a:r>
              <a:rPr lang="en-US" sz="3600" b="1" dirty="0">
                <a:solidFill>
                  <a:schemeClr val="tx1"/>
                </a:solidFill>
              </a:rPr>
              <a:t>En résumé</a:t>
            </a:r>
            <a:endParaRPr lang="en-US" sz="3600" dirty="0"/>
          </a:p>
        </p:txBody>
      </p:sp>
      <p:sp>
        <p:nvSpPr>
          <p:cNvPr id="3" name="Text 1"/>
          <p:cNvSpPr txBox="1"/>
          <p:nvPr/>
        </p:nvSpPr>
        <p:spPr>
          <a:xfrm>
            <a:off x="594360" y="1828800"/>
            <a:ext cx="5486400" cy="237744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chemeClr val="tx1"/>
                </a:solidFill>
              </a:rPr>
              <a:t>Il décolle partout, sans piste</a:t>
            </a:r>
            <a:endParaRPr lang="en-US" sz="2000" dirty="0"/>
          </a:p>
          <a:p>
            <a:pPr marL="228600" indent="-228600">
              <a:spcAft>
                <a:spcPts val="1000"/>
              </a:spcAft>
              <a:buSzPct val="100000"/>
              <a:buChar char="•"/>
            </a:pPr>
            <a:r>
              <a:rPr lang="en-US" sz="2000" dirty="0">
                <a:solidFill>
                  <a:schemeClr val="tx1"/>
                </a:solidFill>
              </a:rPr>
              <a:t>Il vole longtemps grâce à son aile</a:t>
            </a:r>
            <a:endParaRPr lang="en-US" sz="2000" dirty="0"/>
          </a:p>
          <a:p>
            <a:pPr marL="228600" indent="-228600">
              <a:spcAft>
                <a:spcPts val="1000"/>
              </a:spcAft>
              <a:buSzPct val="100000"/>
              <a:buChar char="•"/>
            </a:pPr>
            <a:r>
              <a:rPr lang="en-US" sz="2000" dirty="0">
                <a:solidFill>
                  <a:schemeClr val="tx1"/>
                </a:solidFill>
              </a:rPr>
              <a:t>Il analyse ses images à bord</a:t>
            </a:r>
            <a:endParaRPr lang="en-US" sz="2000" dirty="0"/>
          </a:p>
          <a:p>
            <a:pPr marL="228600" indent="-228600">
              <a:spcAft>
                <a:spcPts val="1000"/>
              </a:spcAft>
              <a:buSzPct val="100000"/>
              <a:buChar char="•"/>
            </a:pPr>
            <a:r>
              <a:rPr lang="en-US" sz="2000" dirty="0">
                <a:solidFill>
                  <a:schemeClr val="tx1"/>
                </a:solidFill>
              </a:rPr>
              <a:t>Il communique de façon sécurisée</a:t>
            </a:r>
            <a:endParaRPr lang="en-US" sz="2000" dirty="0"/>
          </a:p>
        </p:txBody>
      </p:sp>
      <p:pic>
        <p:nvPicPr>
          <p:cNvPr id="4" name="Image 0" descr="Vue CAO du drone">    </p:cNvPr>
          <p:cNvPicPr>
            <a:picLocks noChangeAspect="1"/>
          </p:cNvPicPr>
          <p:nvPr/>
        </p:nvPicPr>
        <p:blipFill>
          <a:blip r:embed="rId1"/>
          <a:stretch>
            <a:fillRect/>
          </a:stretch>
        </p:blipFill>
        <p:spPr>
          <a:xfrm>
            <a:off x="6400800" y="1230359"/>
            <a:ext cx="5196535" cy="2659921"/>
          </a:xfrm>
          <a:prstGeom prst="rect">
            <a:avLst/>
          </a:prstGeom>
        </p:spPr>
      </p:pic>
      <p:sp>
        <p:nvSpPr>
          <p:cNvPr id="5" name="Text 2"/>
          <p:cNvSpPr txBox="1"/>
          <p:nvPr/>
        </p:nvSpPr>
        <p:spPr>
          <a:xfrm>
            <a:off x="594360" y="4846320"/>
            <a:ext cx="11002975" cy="548640"/>
          </a:xfrm>
          <a:prstGeom prst="rect">
            <a:avLst/>
          </a:prstGeom>
          <a:noFill/>
          <a:ln/>
        </p:spPr>
        <p:txBody>
          <a:bodyPr wrap="square" lIns="0" tIns="0" rIns="0" bIns="0" rtlCol="0" anchor="ctr"/>
          <a:lstStyle/>
          <a:p>
            <a:pPr indent="0" marL="0">
              <a:buNone/>
            </a:pPr>
            <a:r>
              <a:rPr lang="en-US" sz="2600" b="1" dirty="0">
                <a:solidFill>
                  <a:schemeClr val="accent1"/>
                </a:solidFill>
              </a:rPr>
              <a:t>Merci pour votre attention</a:t>
            </a:r>
            <a:endParaRPr lang="en-US" sz="2600" dirty="0"/>
          </a:p>
        </p:txBody>
      </p:sp>
      <p:sp>
        <p:nvSpPr>
          <p:cNvPr id="6" name="Text 3"/>
          <p:cNvSpPr txBox="1"/>
          <p:nvPr/>
        </p:nvSpPr>
        <p:spPr>
          <a:xfrm>
            <a:off x="594360" y="5440680"/>
            <a:ext cx="11002975" cy="365760"/>
          </a:xfrm>
          <a:prstGeom prst="rect">
            <a:avLst/>
          </a:prstGeom>
          <a:noFill/>
          <a:ln/>
        </p:spPr>
        <p:txBody>
          <a:bodyPr wrap="square" lIns="0" tIns="0" rIns="0" bIns="0" rtlCol="0" anchor="ctr"/>
          <a:lstStyle/>
          <a:p>
            <a:pPr indent="0" marL="0">
              <a:buNone/>
            </a:pPr>
            <a:r>
              <a:rPr lang="en-US" sz="1600" dirty="0">
                <a:solidFill>
                  <a:schemeClr val="tx2"/>
                </a:solidFill>
              </a:rPr>
              <a:t>Merci à l'ANAC et aux organisateurs du CECFD 2026. Nous répondons à vos questions.</a:t>
            </a:r>
            <a:endParaRPr lang="en-US" sz="1600" dirty="0"/>
          </a:p>
        </p:txBody>
      </p:sp>
    </p:spTree>
  </p:cSld>
  <p:clrMapOvr>
    <a:masterClrMapping/>
  </p:clrMapOvr>
</p:sld>
</file>

<file path=ppt/theme/theme1.xml><?xml version="1.0" encoding="utf-8"?>
<a:theme xmlns:a="http://schemas.openxmlformats.org/drawingml/2006/main" name="Sentinelle Aerienne">
  <a:themeElements>
    <a:clrScheme name="Sentinelle Aerienne">
      <a:dk1>
        <a:srgbClr val="1F2933"/>
      </a:dk1>
      <a:lt1>
        <a:srgbClr val="FFFFFF"/>
      </a:lt1>
      <a:dk2>
        <a:srgbClr val="5B6770"/>
      </a:dk2>
      <a:lt2>
        <a:srgbClr val="F2F4F6"/>
      </a:lt2>
      <a:accent1>
        <a:srgbClr val="0B6E4F"/>
      </a:accent1>
      <a:accent2>
        <a:srgbClr val="D9A400"/>
      </a:accent2>
      <a:accent3>
        <a:srgbClr val="B5322E"/>
      </a:accent3>
      <a:accent4>
        <a:srgbClr val="2F5D8A"/>
      </a:accent4>
      <a:accent5>
        <a:srgbClr val="D3D9DE"/>
      </a:accent5>
      <a:accent6>
        <a:srgbClr val="8A98A4"/>
      </a:accent6>
      <a:hlink>
        <a:srgbClr val="0B6E4F"/>
      </a:hlink>
      <a:folHlink>
        <a:srgbClr val="2F5D8A"/>
      </a:folHlink>
    </a:clrScheme>
    <a:fontScheme name="Sentinelle Aerien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SkyVision Togo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Sentinelle Aérienne, SkyVision Togo</dc:title>
  <dc:subject>PptxGenJS Presentation</dc:subject>
  <dc:creator>SkyVision Togo</dc:creator>
  <cp:lastModifiedBy>SkyVision Togo</cp:lastModifiedBy>
  <cp:revision>1</cp:revision>
  <dcterms:created xsi:type="dcterms:W3CDTF">2026-10-15T15:03:35Z</dcterms:created>
  <dcterms:modified xsi:type="dcterms:W3CDTF">2026-10-15T15:03:35Z</dcterms:modified>
</cp:coreProperties>
</file>