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73c15bf-96be-f8bd-d801-105f9d3185f2}">
          <p14:sldIdLst>
            <p14:sldId id="256"/>
            <p14:sldId id="257"/>
          </p14:sldIdLst>
        </p14:section>
        <p14:section name="Le drone" id="{34898e6f-f9e9-c4ed-f2d9-ae8a49f5600d}">
          <p14:sldIdLst>
            <p14:sldId id="258"/>
            <p14:sldId id="259"/>
            <p14:sldId id="260"/>
            <p14:sldId id="261"/>
            <p14:sldId id="262"/>
          </p14:sldIdLst>
        </p14:section>
        <p14:section name="Technologies" id="{997727b8-940d-5ba8-f572-cdb1ce31145f}">
          <p14:sldIdLst>
            <p14:sldId id="263"/>
            <p14:sldId id="264"/>
            <p14:sldId id="265"/>
            <p14:sldId id="266"/>
            <p14:sldId id="267"/>
            <p14:sldId id="268"/>
            <p14:sldId id="269"/>
            <p14:sldId id="270"/>
          </p14:sldIdLst>
        </p14:section>
        <p14:section name="Avantages et risques" id="{df4dc8fe-66d6-5efe-04b2-b8c07e616ea7}">
          <p14:sldIdLst>
            <p14:sldId id="271"/>
            <p14:sldId id="272"/>
          </p14:sldIdLst>
        </p14:section>
        <p14:section name="Réglementation et sécurité" id="{51a520f9-9129-b0d5-8e6f-563b9b18669f}">
          <p14:sldIdLst>
            <p14:sldId id="273"/>
            <p14:sldId id="274"/>
          </p14:sldIdLst>
        </p14:section>
        <p14:section name="Applications et projet" id="{618e11ac-4434-bf8c-1168-6c8fb3865771}">
          <p14:sldIdLst>
            <p14:sldId id="275"/>
            <p14:sldId id="276"/>
            <p14:sldId id="277"/>
          </p14:sldIdLst>
        </p14:section>
        <p14:section name="Conclusion" id="{62aa9ed3-0b24-e090-3fb1-7d6f5f1b7785}">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60 s)
Bonjour Mesdames et Messieurs les membres du jury. Je m'appelle AWADE Constantin Israel, je suis le chef de l'équipe SkyVision Togo et je m'occupe de la mécanique, de l'électronique et de la conception 3D.
Notre projet s'appelle Sentinelle Aérienne : un drone qui décolle à la verticale, vole ensuite comme un avion, et analyse lui-même les images de sa caméra pour repérer ce qui ne va pas, en particulier sur une piste d'aéroport.
Nous sommes cinq : Angelo au logiciel embarqué et à la station sol, Cédric au back-end, au programme de vol et à la documentation, Makafui aux réseaux, à la télémétrie et à la sécurité, et Roger à l'intelligence artificielle. Cédric commence par le besoin.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Cédric KODJOVI (environ 60 s)
Merci Israel. Bonjour, je m'appelle KODJOVI Eli Cédric Ankou, je m'occupe du back-end, du programme de vol et de la documentation.
Sur une piste, un petit objet peut avoir de grosses conséquences : un boulon ou un morceau de pneu peut être aspiré par un réacteur ou faire éclater un pneu au décollage. On parle de FOD, pour Foreign Object Debris. Il faut aussi surveiller les abords, les clôtures, et repérer les personnes ou les véhicules qui n'ont rien à faire là.
Aujourd'hui, ce contrôle se fait surtout à la main, en véhicule. Ça prend du temps, la piste est bloquée, et le résultat dépend de l'attention des agents, surtout la nuit.
Notre objectif : inspecter depuis les airs, plus vite, et signaler tout de suite ce qui est anormal. Israel va vous présenter le drone.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45 s)
Merci Cédric. Notre réponse, c'est un VTOL à rotors basculants. Il décolle à la verticale comme un multirotor, depuis n'importe quel terrain dégagé. Ensuite, ses deux moteurs avant basculent vers l'avant et il vole comme un avion : c'est l'aile qui le porte, ce qui consomme beaucoup moins d'énergie.
À cette plateforme, nous ajoutons deux choses : une intelligence artificielle qui analyse les images à bord, et une liaison radio sécurisée.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70 s)
Voici les parties du drone, vues de dessus.
À l'avant, le nez porte le tube de Pitot, qui mesure la vitesse de l'air : c'est indispensable pour savoir quand l'aile porte assez. De chaque côté, un moteur monté en nacelle sur l'aile, avec un servomoteur qui le fait pivoter.
Au centre, le fuselage contient la batterie, l'électronique et le module d'intelligence artificielle. Sur le dos, le mât porte le GPS, loin des perturbations électriques.
À l'arrière, le moteur arrière ne sert qu'au vol vertical, et l'empennage en V gère à la fois la profondeur et la direction. Je vais détailler les deux parties les plus importantes.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60 s)
Les deux moteurs avant sont la pièce maîtresse du drone. Chacun est monté dans une nacelle, avec un servomoteur qui le fait pivoter. Au décollage, il pousse vers le haut ; en croisière, il tire vers l'avant.
L'avantage, c'est que les mêmes moteurs servent au décollage et à la croisière : on ne transporte pas de moteurs inutiles en vol, donc on gagne de la masse et de l'autonomie.
Comme le basculement est critique, nous choisissons des servos à engrenages métal, avec une bonne marge, et leur débattement est vérifié avant chaque vol.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50 s)
À l'arrière, le moteur est logé sous la queue. Avec les deux moteurs avant, il forme un triangle qui tient le drone en équilibre en vol vertical. En croisière, il s'arrête.
L'empennage en V remplace la dérive et la profondeur classiques. Avec deux surfaces au lieu de trois, on a moins de masse, moins de traînée et moins de servos. Chaque gouverne agit à la fois en profondeur et en direction, et c'est le contrôleur de vol qui fait le mélange.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40 s)
En résumé pour la partie drone : trois moteurs, dont deux basculants, un empennage en V, et une autonomie visée de 30 à 45 minutes. Le contrôleur de vol est une carte STM32H743 sous ArduPilot, le module IA un Raspberry Pi 5 avec une puce Hailo-8, et la charge utile une caméra stabilisée jour et nuit. Angelo va vous expliquer comment le drone vole.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Angelo LOGO ADANTO (environ 60 s)
Merci Israel. Bonjour, je m'appelle LOGO ADANTO Angelo, je m'occupe du logiciel embarqué et de la station sol.
Le vol se fait en quatre phases. Au décollage, les moteurs avant sont tournés vers le haut et, avec le moteur arrière, ils soulèvent le drone. Pendant la transition, les moteurs avant basculent petit à petit vers l'avant : le drone accélère et l'aile commence à porter. En croisière, le moteur arrière s'arrête : les moteurs avant tirent le drone et l'aile le porte. À l'atterrissage, on fait l'inverse.
C'est ArduPilot qui gère tout ça automatiquement, à partir de la vitesse air mesurée par le tube de Pitot.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Angelo LOGO ADANTO (environ 50 s)
Pour savoir où il est et comment il vole, le drone utilise plusieurs capteurs. Deux récepteurs GPS sur le mât donnent la position. Le tube de Pitot, dans le nez, mesure la vitesse de l'air. La centrale inertielle mesure les accélérations et les rotations, le baromètre l'altitude, et le compas la direction.
Le contrôleur de vol combine toutes ces mesures. Si une source donne une valeur qui ne colle pas avec les autres, par exemple un GPS brouillé, elle est écartée. Makafui va vous présenter l'architecture électronique.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Makafui de MEDEIROS (environ 65 s)
Merci Angelo. Bonjour, je m'appelle de MEDEIROS Makafui Komlan Léopoldo, je m'occupe des réseaux, de la télémétrie et de la sécurité.
Pour nous, le vol passe avant tout. Nous avons donc mis deux calculateurs dans le drone. Le contrôleur de vol, sur une carte STM32H743, stabilise le drone, commande les moteurs et le basculement, et gère les sécurités. Le module d'intelligence artificielle, sur un Raspberry Pi 5, analyse les images.
Ils communiquent en MAVLink : l'IA reçoit la position et renvoie ses alertes, mais elle ne peut pas commander les moteurs. Si elle plante, le drone continue de voler et peut toujours rentrer seul. Nous gardons aussi un contrôleur du commerce en secours.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55 s)
[Israel] Voici comment l'électronique est organisée, en trois chaînes.
L'énergie : la batterie lithium-polymère alimente un module de puissance qui mesure la tension et le courant, puis trois variateurs qui règlent la vitesse des trois moteurs.
Le pilotage : les capteurs envoient leurs mesures au contrôleur de vol, qui commande les servos de basculement et les gouvernes de l'empennage, et communique par les liaisons radio.
La mission : la caméra envoie ses images au Raspberry Pi, qui produit les alertes envoyées à la station sol.
Nous prévoyons des alimentations séparées : une pour les radios, et une dédiée au Raspberry Pi, pour qu'aucune ne perturbe l'autre. Roger va vous présenter le module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Roger KAINWANG (environ 70 s)
Merci Israel. Bonjour, je m'appelle KAINWANG Roger, je m'occupe de l'intelligence artificielle et des données.
Le module IA, c'est un Raspberry Pi 5 avec une carte AI HAT+ qui porte une puce Hailo-8 de 26 TOPS. Tout le calcul se fait à bord : aucune image ne part sur internet.
La caméra filme. Le détecteur YOLOv8s repère les personnes, les véhicules et les débris au sol. On ne garde que ce qui est dans la zone utile, la piste et ses abords. Un suivi relie les détections d'une image à l'autre pour qu'un objet ne déclenche qu'une seule alerte. Puis l'alerte part vers la station sol avec une photo de preuve.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Roger KAINWANG (environ 60 s)
Pour le modèle, nous ne partons pas de zéro : nous prenons un YOLOv8s déjà entraîné et nous l'adaptons à notre mission, avec FOD-A, une base publique de plus de 30 000 débris de piste annotés, et des images prises avec notre caméra, vues d'en haut. Nous ajoutons des scènes vides avec des ombres et des marquages pour éviter les fausses alertes.
Si l'IA voit un objet qu'elle ne sait pas classer, elle le signale « à vérifier », avec l'image. Si la liaison est coupée, elle garde ses alertes. Et c'est toujours l'humain qui décide : l'IA ne commande jamais le drone. Angelo va vous montrer la station sol.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Angelo LOGO ADANTO (environ 50 s)
Merci Roger. Au sol, nous développons la station en Flutter, avec une version mobile et une version web. L'opérateur prépare sa mission, définit la zone autorisée, suit la télémétrie en direct, et reçoit les alertes de l'IA avec leur image. La vidéo est enregistrée.
Toutes ces données sont archivées par le back-end de Cédric : une API REST et une base MySQL, avec l'historique des vols et des alertes, et des journaux de vol signés. Makafui va vous présenter les liaisons.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Makafui de MEDEIROS (environ 55 s)
Merci Angelo. Notre principe : ne jamais dépendre d'un seul lien. Nous avons trois liaisons séparées. Un lien vidéo HD pour voir ce que voit le drone. Une radio longue portée chiffrée pour la télémétrie, les ordres et les alertes de l'IA. Et un canal d'urgence indépendant, qui sert uniquement à faire revenir le drone ou à couper les moteurs.
La 4G est écartée car la couverture n'est pas garantie, et le satellite est à l'essai comme secours. Les antennes sont placées hors des zones en carbone, qui bloquent les ondes.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50 s)
[Israel] Pour résumer ce que notre drone apporte : il n'a pas besoin de piste, il vole longtemps grâce à son aile, et ses moteurs basculants servent aux deux phases de vol. L'IA à bord donne l'alerte pendant le vol, sans internet. La liaison est sécurisée. Les agents n'ont plus à parcourir la piste eux-mêmes. Et la même plateforme peut servir à d'autres 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puis Makafui de MEDEIROS (environ 90 s)
Nous avons aussi listé les risques, avec une réponse pour chacun.
Si la liaison radio est perdue, le drone rentre seul et atterrit à la verticale. Si la batterie devient faible, il rentre ; si elle est critique, il atterrit immédiatement. Le moment le plus délicat est le vol vertical : on le garde court, à faible hauteur. Les servos de basculement sont contrôlés à chaque check-list.
[Makafui] Contre le brouillage et le leurrage GPS, nous comparons deux GPS avec les autres capteurs. Contre le piratage, la liaison est chiffrée et les ordres sont signés. Le géorepérage empêche de sortir de la zone. Et si l'IA hésite, elle signale « à vérifier » : c'est l'humain qui décide.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Cédric KODJOVI (environ 70 s)
[Cédric] Côté réglementation, deux familles de règles.
Pour le vol : nous ne volons qu'avec l'autorisation de l'ANAC, en vue directe du télépilote sauf autorisation particulière, dans une zone et à une hauteur limitées que le géorepérage fait respecter. Pas de vol au-dessus de la foule ni près d'un aérodrome sans accord. Le télépilote est formé et suit des check-lists.
Pour les ondes et les données : nos fréquences doivent être autorisées par l'ARCEP. Comme le drone peut filmer des personnes, nous respectons la loi togolaise sur la protection des données : pas de reconnaissance faciale, on ne garde que les images d'alerte, et l'accès est réservé aux personnes autorisées.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Makafui de MEDEIROS (environ 65 s)
[Makafui] La sécurité se joue à deux niveaux.
La sécurité du vol : le contrôleur est séparé de l'IA ; en cas de perte de radio, de batterie faible ou de GPS dégradé, le drone applique automatiquement une procédure de secours ; le géorepérage limite la zone et la hauteur ; une coupure d'urgence reste toujours possible ; et avant le décollage, le drone vérifie lui-même que tout est prêt.
La cybersécurité : la liaison est chiffrée, chaque message est signé avec une clé chargée au sol, donc un faux ordre est rejeté. Nous détectons le brouillage, nous comparons les sources de position contre le leurrage GPS, et les journaux de vol sont signés.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Cédric KODJOVI (environ 55 s)
[Cédric] Notre premier usage, c'est l'aéroport. Mais la même plateforme peut servir en agriculture et pour l'environnement, par exemple pour repérer des départs de feux de brousse, pour inspecter des lignes électriques, des ponts ou le port de Lomé, pour livrer de petits colis médicaux dans des zones enclavées avec une version adaptée, ou pour la cartographie. À chaque fois, on change seulement la charge utile et le modèle 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Cédric KODJOVI (environ 35 s)
Côté calendrier, la candidature a été validée en août, la conception faite en septembre et le dossier déposé. Nous sommes en phase de prototypage et d'intégration. En novembre viendront les essais au sol, en vol et de sécurité, pour être prêts pour la finale en décembre. Je rends la parole à Israel.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35 s)
Merci Cédric. Notre budget est estimé entre 730 000 et 1 400 000 francs CFA pour le drone, avec en plus 120 000 à 160 000 francs pour le module d'intelligence artificielle. Nous avons choisi des composants courants, faciles à trouver et à remplacer.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35 s)
Pour résumer, la Sentinelle Aérienne décolle partout, vole longtemps grâce à son aile, analyse ses images à bord et communique de façon sécurisée. Ses risques sont identifiés et traités, et elle respecte le cadre réglementaire.
Merci à l'ANAC et aux organisateurs du CECFD. Merci pour votre attention, nous sommes prêts à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Shape 0"/>
          <p:cNvSpPr/>
          <p:nvPr/>
        </p:nvSpPr>
        <p:spPr>
          <a:xfrm>
            <a:off x="594360" y="6291072"/>
            <a:ext cx="11002975" cy="0"/>
          </a:xfrm>
          <a:prstGeom prst="line">
            <a:avLst/>
          </a:prstGeom>
          <a:noFill/>
          <a:ln w="9525">
            <a:solidFill>
              <a:schemeClr val="accent5"/>
            </a:solidFill>
            <a:prstDash val="solid"/>
          </a:ln>
        </p:spPr>
      </p:sp>
      <p:sp>
        <p:nvSpPr>
          <p:cNvPr id="4" name="Text 1"/>
          <p:cNvSpPr/>
          <p:nvPr/>
        </p:nvSpPr>
        <p:spPr>
          <a:xfrm>
            <a:off x="594360" y="6382512"/>
            <a:ext cx="5486400" cy="274320"/>
          </a:xfrm>
          <a:prstGeom prst="rect">
            <a:avLst/>
          </a:prstGeom>
          <a:noFill/>
          <a:ln/>
        </p:spPr>
        <p:txBody>
          <a:bodyPr wrap="square" lIns="0" tIns="0" rIns="0" bIns="0" rtlCol="0" anchor="ctr"/>
          <a:lstStyle/>
          <a:p>
            <a:pPr indent="0" marL="0">
              <a:buNone/>
            </a:pPr>
            <a:r>
              <a:rPr lang="en-US" sz="1000" dirty="0">
                <a:solidFill>
                  <a:schemeClr val="tx2"/>
                </a:solidFill>
              </a:rPr>
              <a:t>SkyVision Togo · Sentinelle Aérienne · CECFD 2026</a:t>
            </a:r>
            <a:endParaRPr lang="en-US" sz="10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94360" y="640080"/>
            <a:ext cx="6400800" cy="320040"/>
          </a:xfrm>
          <a:prstGeom prst="rect">
            <a:avLst/>
          </a:prstGeom>
          <a:noFill/>
          <a:ln/>
        </p:spPr>
        <p:txBody>
          <a:bodyPr wrap="square" lIns="0" tIns="0" rIns="0" bIns="0" rtlCol="0" anchor="ctr"/>
          <a:lstStyle/>
          <a:p>
            <a:pPr indent="0" marL="0">
              <a:buNone/>
            </a:pPr>
            <a:r>
              <a:rPr lang="en-US" sz="1400" b="1" dirty="0">
                <a:solidFill>
                  <a:schemeClr val="accent1"/>
                </a:solidFill>
              </a:rPr>
              <a:t>SkyVision Togo · CECFD 2026 · ANAC</a:t>
            </a:r>
            <a:endParaRPr lang="en-US" sz="1400" dirty="0"/>
          </a:p>
        </p:txBody>
      </p:sp>
      <p:sp>
        <p:nvSpPr>
          <p:cNvPr id="3" name="Text 1"/>
          <p:cNvSpPr txBox="1"/>
          <p:nvPr/>
        </p:nvSpPr>
        <p:spPr>
          <a:xfrm>
            <a:off x="594360" y="1051560"/>
            <a:ext cx="6400800" cy="914400"/>
          </a:xfrm>
          <a:prstGeom prst="rect">
            <a:avLst/>
          </a:prstGeom>
          <a:noFill/>
          <a:ln/>
        </p:spPr>
        <p:txBody>
          <a:bodyPr wrap="square" lIns="0" tIns="0" rIns="0" bIns="0" rtlCol="0" anchor="ctr"/>
          <a:lstStyle/>
          <a:p>
            <a:pPr indent="0" marL="0">
              <a:buNone/>
            </a:pPr>
            <a:r>
              <a:rPr lang="en-US" sz="4800" b="1" dirty="0">
                <a:solidFill>
                  <a:schemeClr val="tx1"/>
                </a:solidFill>
              </a:rPr>
              <a:t>Sentinelle Aérienne</a:t>
            </a:r>
            <a:endParaRPr lang="en-US" sz="4800" dirty="0"/>
          </a:p>
        </p:txBody>
      </p:sp>
      <p:sp>
        <p:nvSpPr>
          <p:cNvPr id="4" name="Text 2"/>
          <p:cNvSpPr txBox="1"/>
          <p:nvPr/>
        </p:nvSpPr>
        <p:spPr>
          <a:xfrm>
            <a:off x="594360" y="2011680"/>
            <a:ext cx="5394960" cy="1097280"/>
          </a:xfrm>
          <a:prstGeom prst="rect">
            <a:avLst/>
          </a:prstGeom>
          <a:noFill/>
          <a:ln/>
        </p:spPr>
        <p:txBody>
          <a:bodyPr wrap="square" lIns="0" tIns="0" rIns="0" bIns="0" rtlCol="0" anchor="t"/>
          <a:lstStyle/>
          <a:p>
            <a:pPr indent="0" marL="0">
              <a:buNone/>
            </a:pPr>
            <a:r>
              <a:rPr lang="en-US" sz="2000" dirty="0">
                <a:solidFill>
                  <a:schemeClr val="tx2"/>
                </a:solidFill>
              </a:rPr>
              <a:t>Drone VTOL de surveillance avec intelligence artificielle embarquée</a:t>
            </a:r>
            <a:endParaRPr lang="en-US" sz="2000" dirty="0"/>
          </a:p>
        </p:txBody>
      </p:sp>
      <p:pic>
        <p:nvPicPr>
          <p:cNvPr id="5" name="Image 0" descr="Vue CAO du drone">    </p:cNvPr>
          <p:cNvPicPr>
            <a:picLocks noChangeAspect="1"/>
          </p:cNvPicPr>
          <p:nvPr/>
        </p:nvPicPr>
        <p:blipFill>
          <a:blip r:embed="rId1"/>
          <a:stretch>
            <a:fillRect/>
          </a:stretch>
        </p:blipFill>
        <p:spPr>
          <a:xfrm>
            <a:off x="6400800" y="590279"/>
            <a:ext cx="5196535" cy="2659921"/>
          </a:xfrm>
          <a:prstGeom prst="rect">
            <a:avLst/>
          </a:prstGeom>
        </p:spPr>
      </p:pic>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94360" y="3520440"/>
          <a:ext cx="11002975" cy="914400"/>
        </p:xfrm>
        <a:graphic>
          <a:graphicData uri="http://schemas.openxmlformats.org/drawingml/2006/table">
            <a:tbl>
              <a:tblPr/>
              <a:tblGrid>
                <a:gridCol w="4206240"/>
                <a:gridCol w="6796735"/>
              </a:tblGrid>
              <a:tr h="438912">
                <a:tc>
                  <a:txBody>
                    <a:bodyPr/>
                    <a:lstStyle/>
                    <a:p>
                      <a:pPr indent="0" marL="0">
                        <a:buNone/>
                      </a:pPr>
                      <a:r>
                        <a:rPr lang="en-US" sz="1400" b="1" dirty="0">
                          <a:solidFill>
                            <a:schemeClr val="accent1"/>
                          </a:solidFill>
                        </a:rPr>
                        <a:t>Équipe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Pôle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r>
              <a:tr h="438912">
                <a:tc>
                  <a:txBody>
                    <a:bodyPr/>
                    <a:lstStyle/>
                    <a:p>
                      <a:pPr indent="0" marL="0">
                        <a:buNone/>
                      </a:pPr>
                      <a:r>
                        <a:rPr lang="en-US" sz="1400" b="1" dirty="0">
                          <a:solidFill>
                            <a:schemeClr val="tx1"/>
                          </a:solidFill>
                        </a:rPr>
                        <a:t>AWADE Constantin Israel</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Chef d'équipe, mécanique, électronique et conception 3D</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38912">
                <a:tc>
                  <a:txBody>
                    <a:bodyPr/>
                    <a:lstStyle/>
                    <a:p>
                      <a:pPr indent="0" marL="0">
                        <a:buNone/>
                      </a:pPr>
                      <a:r>
                        <a:rPr lang="en-US" sz="1400" b="1" dirty="0">
                          <a:solidFill>
                            <a:schemeClr val="tx1"/>
                          </a:solidFill>
                        </a:rPr>
                        <a:t>LOGO ADANTO Angelo</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Logiciel embarqué et station sol</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38912">
                <a:tc>
                  <a:txBody>
                    <a:bodyPr/>
                    <a:lstStyle/>
                    <a:p>
                      <a:pPr indent="0" marL="0">
                        <a:buNone/>
                      </a:pPr>
                      <a:r>
                        <a:rPr lang="en-US" sz="1400" b="1" dirty="0">
                          <a:solidFill>
                            <a:schemeClr val="tx1"/>
                          </a:solidFill>
                        </a:rPr>
                        <a:t>KODJOVI Eli Cédric Ankou</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Back-end, programme de vol et documentation</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38912">
                <a:tc>
                  <a:txBody>
                    <a:bodyPr/>
                    <a:lstStyle/>
                    <a:p>
                      <a:pPr indent="0" marL="0">
                        <a:buNone/>
                      </a:pPr>
                      <a:r>
                        <a:rPr lang="en-US" sz="1400" b="1" dirty="0">
                          <a:solidFill>
                            <a:schemeClr val="tx1"/>
                          </a:solidFill>
                        </a:rPr>
                        <a:t>de MEDEIROS Makafui Komlan Léopoldo</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Réseaux, télémétrie et sécurité</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38912">
                <a:tc>
                  <a:txBody>
                    <a:bodyPr/>
                    <a:lstStyle/>
                    <a:p>
                      <a:pPr indent="0" marL="0">
                        <a:buNone/>
                      </a:pPr>
                      <a:r>
                        <a:rPr lang="en-US" sz="1400" b="1" dirty="0">
                          <a:solidFill>
                            <a:schemeClr val="tx1"/>
                          </a:solidFill>
                        </a:rPr>
                        <a:t>KAINWANG Roger</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Intelligence artificielle et données</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Le besoin : la sécurité des pistes</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Cédric KODJOVI</a:t>
            </a:r>
            <a:endParaRPr lang="en-US" sz="1000" dirty="0"/>
          </a:p>
        </p:txBody>
      </p:sp>
      <p:sp>
        <p:nvSpPr>
          <p:cNvPr id="4" name="Text 2"/>
          <p:cNvSpPr txBox="1"/>
          <p:nvPr/>
        </p:nvSpPr>
        <p:spPr>
          <a:xfrm>
            <a:off x="594360"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Ce qui menace une piste</a:t>
            </a:r>
            <a:endParaRPr lang="en-US" sz="1800" dirty="0"/>
          </a:p>
        </p:txBody>
      </p:sp>
      <p:sp>
        <p:nvSpPr>
          <p:cNvPr id="5" name="Text 3"/>
          <p:cNvSpPr txBox="1"/>
          <p:nvPr/>
        </p:nvSpPr>
        <p:spPr>
          <a:xfrm>
            <a:off x="594360" y="1874520"/>
            <a:ext cx="5227168" cy="2834640"/>
          </a:xfrm>
          <a:prstGeom prst="rect">
            <a:avLst/>
          </a:prstGeom>
          <a:noFill/>
          <a:ln/>
        </p:spPr>
        <p:txBody>
          <a:bodyPr wrap="square" lIns="0" tIns="0" rIns="0" bIns="0" rtlCol="0" anchor="t"/>
          <a:lstStyle/>
          <a:p>
            <a:pPr indent="0" marL="0">
              <a:spcAft>
                <a:spcPts val="800"/>
              </a:spcAft>
              <a:buNone/>
            </a:pPr>
            <a:r>
              <a:rPr lang="en-US" sz="1700" b="1" dirty="0">
                <a:solidFill>
                  <a:schemeClr val="tx1"/>
                </a:solidFill>
              </a:rPr>
              <a:t>Débris (FOD)</a:t>
            </a:r>
            <a:pPr indent="0" marL="0">
              <a:spcAft>
                <a:spcPts val="800"/>
              </a:spcAft>
              <a:buNone/>
            </a:pPr>
            <a:r>
              <a:rPr lang="en-US" sz="1700" dirty="0">
                <a:solidFill>
                  <a:schemeClr val="tx1"/>
                </a:solidFill>
              </a:rPr>
              <a:t> : boulons, morceaux de pneu, outils oubliés, qui peuvent être aspirés par un réacteur ou faire éclater un pneu</a:t>
            </a:r>
            <a:endParaRPr lang="en-US" sz="1700" dirty="0"/>
          </a:p>
          <a:p>
            <a:pPr indent="0" marL="0">
              <a:spcAft>
                <a:spcPts val="800"/>
              </a:spcAft>
              <a:buNone/>
            </a:pPr>
            <a:r>
              <a:rPr lang="en-US" sz="1700" b="1" dirty="0">
                <a:solidFill>
                  <a:schemeClr val="tx1"/>
                </a:solidFill>
              </a:rPr>
              <a:t>Abords et clôtures</a:t>
            </a:r>
            <a:pPr indent="0" marL="0">
              <a:spcAft>
                <a:spcPts val="800"/>
              </a:spcAft>
              <a:buNone/>
            </a:pPr>
            <a:r>
              <a:rPr lang="en-US" sz="1700" dirty="0">
                <a:solidFill>
                  <a:schemeClr val="tx1"/>
                </a:solidFill>
              </a:rPr>
              <a:t> : de grandes surfaces à contrôler régulièrement</a:t>
            </a:r>
            <a:endParaRPr lang="en-US" sz="1700" dirty="0"/>
          </a:p>
          <a:p>
            <a:pPr indent="0" marL="0">
              <a:spcAft>
                <a:spcPts val="800"/>
              </a:spcAft>
              <a:buNone/>
            </a:pPr>
            <a:r>
              <a:rPr lang="en-US" sz="1700" b="1" dirty="0">
                <a:solidFill>
                  <a:schemeClr val="tx1"/>
                </a:solidFill>
              </a:rPr>
              <a:t>Intrusions</a:t>
            </a:r>
            <a:pPr indent="0" marL="0">
              <a:spcAft>
                <a:spcPts val="800"/>
              </a:spcAft>
              <a:buNone/>
            </a:pPr>
            <a:r>
              <a:rPr lang="en-US" sz="1700" dirty="0">
                <a:solidFill>
                  <a:schemeClr val="tx1"/>
                </a:solidFill>
              </a:rPr>
              <a:t> : personnes ou véhicules non autorisés près des pistes</a:t>
            </a:r>
            <a:endParaRPr lang="en-US" sz="1700" dirty="0"/>
          </a:p>
        </p:txBody>
      </p:sp>
      <p:sp>
        <p:nvSpPr>
          <p:cNvPr id="6" name="Text 4"/>
          <p:cNvSpPr txBox="1"/>
          <p:nvPr/>
        </p:nvSpPr>
        <p:spPr>
          <a:xfrm>
            <a:off x="6370168"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Les limites de l'inspection manuelle</a:t>
            </a:r>
            <a:endParaRPr lang="en-US" sz="1800" dirty="0"/>
          </a:p>
        </p:txBody>
      </p:sp>
      <p:sp>
        <p:nvSpPr>
          <p:cNvPr id="7" name="Text 5"/>
          <p:cNvSpPr txBox="1"/>
          <p:nvPr/>
        </p:nvSpPr>
        <p:spPr>
          <a:xfrm>
            <a:off x="6370168" y="1874520"/>
            <a:ext cx="5227168" cy="28346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Elle se fait en véhicule et prend du temps</a:t>
            </a:r>
            <a:endParaRPr lang="en-US" sz="1700" dirty="0"/>
          </a:p>
          <a:p>
            <a:pPr marL="228600" indent="-228600">
              <a:spcAft>
                <a:spcPts val="800"/>
              </a:spcAft>
              <a:buSzPct val="100000"/>
              <a:buChar char="•"/>
            </a:pPr>
            <a:r>
              <a:rPr lang="en-US" sz="1700" dirty="0">
                <a:solidFill>
                  <a:schemeClr val="tx1"/>
                </a:solidFill>
              </a:rPr>
              <a:t>La piste n'est pas disponible pendant le contrôle</a:t>
            </a:r>
            <a:endParaRPr lang="en-US" sz="1700" dirty="0"/>
          </a:p>
          <a:p>
            <a:pPr marL="228600" indent="-228600">
              <a:spcAft>
                <a:spcPts val="800"/>
              </a:spcAft>
              <a:buSzPct val="100000"/>
              <a:buChar char="•"/>
            </a:pPr>
            <a:r>
              <a:rPr lang="en-US" sz="1700" dirty="0">
                <a:solidFill>
                  <a:schemeClr val="tx1"/>
                </a:solidFill>
              </a:rPr>
              <a:t>Le résultat dépend de l'attention de l'agent</a:t>
            </a:r>
            <a:endParaRPr lang="en-US" sz="1700" dirty="0"/>
          </a:p>
          <a:p>
            <a:pPr marL="228600" indent="-228600">
              <a:spcAft>
                <a:spcPts val="800"/>
              </a:spcAft>
              <a:buSzPct val="100000"/>
              <a:buChar char="•"/>
            </a:pPr>
            <a:r>
              <a:rPr lang="en-US" sz="1700" dirty="0">
                <a:solidFill>
                  <a:schemeClr val="tx1"/>
                </a:solidFill>
              </a:rPr>
              <a:t>Elle est difficile la nuit et sur de grandes surfaces</a:t>
            </a:r>
            <a:endParaRPr lang="en-US" sz="1700" dirty="0"/>
          </a:p>
        </p:txBody>
      </p:sp>
      <p:sp>
        <p:nvSpPr>
          <p:cNvPr id="8" name="Encadré"/>
          <p:cNvSpPr/>
          <p:nvPr/>
        </p:nvSpPr>
        <p:spPr>
          <a:xfrm>
            <a:off x="594360" y="4892040"/>
            <a:ext cx="11002975" cy="685800"/>
          </a:xfrm>
          <a:prstGeom prst="rect">
            <a:avLst/>
          </a:prstGeom>
          <a:solidFill>
            <a:schemeClr val="bg2"/>
          </a:solidFill>
          <a:ln w="9525">
            <a:solidFill>
              <a:schemeClr val="accent5"/>
            </a:solidFill>
            <a:prstDash val="solid"/>
          </a:ln>
        </p:spPr>
      </p:sp>
      <p:sp>
        <p:nvSpPr>
          <p:cNvPr id="9" name="Text 7"/>
          <p:cNvSpPr txBox="1"/>
          <p:nvPr/>
        </p:nvSpPr>
        <p:spPr>
          <a:xfrm>
            <a:off x="822960" y="4892040"/>
            <a:ext cx="10545775" cy="685800"/>
          </a:xfrm>
          <a:prstGeom prst="rect">
            <a:avLst/>
          </a:prstGeom>
          <a:noFill/>
          <a:ln/>
        </p:spPr>
        <p:txBody>
          <a:bodyPr wrap="square" lIns="0" tIns="0" rIns="0" bIns="0" rtlCol="0" anchor="ctr"/>
          <a:lstStyle/>
          <a:p>
            <a:pPr indent="0" marL="0">
              <a:buNone/>
            </a:pPr>
            <a:r>
              <a:rPr lang="en-US" sz="1700" dirty="0">
                <a:solidFill>
                  <a:schemeClr val="tx1"/>
                </a:solidFill>
              </a:rPr>
              <a:t>Notre objectif : inspecter depuis les airs, rapidement, et signaler tout de suite ce qui est anormal.</a:t>
            </a:r>
            <a:endParaRPr lang="en-US" sz="17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Notre réponse : un VTOL à rotors basculants</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Israel AWADE</a:t>
            </a:r>
            <a:endParaRPr lang="en-US" sz="1000" dirty="0"/>
          </a:p>
        </p:txBody>
      </p:sp>
      <p:sp>
        <p:nvSpPr>
          <p:cNvPr id="4" name="Text 2"/>
          <p:cNvSpPr txBox="1"/>
          <p:nvPr/>
        </p:nvSpPr>
        <p:spPr>
          <a:xfrm>
            <a:off x="594360" y="1417320"/>
            <a:ext cx="5120640" cy="365760"/>
          </a:xfrm>
          <a:prstGeom prst="rect">
            <a:avLst/>
          </a:prstGeom>
          <a:noFill/>
          <a:ln/>
        </p:spPr>
        <p:txBody>
          <a:bodyPr wrap="square" lIns="0" tIns="0" rIns="0" bIns="0" rtlCol="0" anchor="ctr"/>
          <a:lstStyle/>
          <a:p>
            <a:pPr indent="0" marL="0">
              <a:buNone/>
            </a:pPr>
            <a:r>
              <a:rPr lang="en-US" sz="1800" b="1" dirty="0">
                <a:solidFill>
                  <a:schemeClr val="accent1"/>
                </a:solidFill>
              </a:rPr>
              <a:t>Le principe</a:t>
            </a:r>
            <a:endParaRPr lang="en-US" sz="1800" dirty="0"/>
          </a:p>
        </p:txBody>
      </p:sp>
      <p:sp>
        <p:nvSpPr>
          <p:cNvPr id="5" name="Text 3"/>
          <p:cNvSpPr txBox="1"/>
          <p:nvPr/>
        </p:nvSpPr>
        <p:spPr>
          <a:xfrm>
            <a:off x="594360" y="1874520"/>
            <a:ext cx="5120640" cy="182880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Décollage vertical, comme un multirotor</a:t>
            </a:r>
            <a:endParaRPr lang="en-US" sz="1700" dirty="0"/>
          </a:p>
          <a:p>
            <a:pPr marL="228600" indent="-228600">
              <a:spcAft>
                <a:spcPts val="800"/>
              </a:spcAft>
              <a:buSzPct val="100000"/>
              <a:buChar char="•"/>
            </a:pPr>
            <a:r>
              <a:rPr lang="en-US" sz="1700" dirty="0">
                <a:solidFill>
                  <a:schemeClr val="tx1"/>
                </a:solidFill>
              </a:rPr>
              <a:t>Les deux moteurs avant basculent vers l'avant</a:t>
            </a:r>
            <a:endParaRPr lang="en-US" sz="1700" dirty="0"/>
          </a:p>
          <a:p>
            <a:pPr marL="228600" indent="-228600">
              <a:spcAft>
                <a:spcPts val="800"/>
              </a:spcAft>
              <a:buSzPct val="100000"/>
              <a:buChar char="•"/>
            </a:pPr>
            <a:r>
              <a:rPr lang="en-US" sz="1700" dirty="0">
                <a:solidFill>
                  <a:schemeClr val="tx1"/>
                </a:solidFill>
              </a:rPr>
              <a:t>En croisière, l'aile porte le drone</a:t>
            </a:r>
            <a:endParaRPr lang="en-US" sz="1700" dirty="0"/>
          </a:p>
        </p:txBody>
      </p:sp>
      <p:sp>
        <p:nvSpPr>
          <p:cNvPr id="6" name="Text 4"/>
          <p:cNvSpPr txBox="1"/>
          <p:nvPr/>
        </p:nvSpPr>
        <p:spPr>
          <a:xfrm>
            <a:off x="594360" y="3840480"/>
            <a:ext cx="5120640" cy="365760"/>
          </a:xfrm>
          <a:prstGeom prst="rect">
            <a:avLst/>
          </a:prstGeom>
          <a:noFill/>
          <a:ln/>
        </p:spPr>
        <p:txBody>
          <a:bodyPr wrap="square" lIns="0" tIns="0" rIns="0" bIns="0" rtlCol="0" anchor="ctr"/>
          <a:lstStyle/>
          <a:p>
            <a:pPr indent="0" marL="0">
              <a:buNone/>
            </a:pPr>
            <a:r>
              <a:rPr lang="en-US" sz="1800" b="1" dirty="0">
                <a:solidFill>
                  <a:schemeClr val="accent1"/>
                </a:solidFill>
              </a:rPr>
              <a:t>Nos deux priorités</a:t>
            </a:r>
            <a:endParaRPr lang="en-US" sz="1800" dirty="0"/>
          </a:p>
        </p:txBody>
      </p:sp>
      <p:sp>
        <p:nvSpPr>
          <p:cNvPr id="7" name="Text 5"/>
          <p:cNvSpPr txBox="1"/>
          <p:nvPr/>
        </p:nvSpPr>
        <p:spPr>
          <a:xfrm>
            <a:off x="594360" y="4297680"/>
            <a:ext cx="5120640" cy="155448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Une IA qui analyse les images à bord, pendant le vol</a:t>
            </a:r>
            <a:endParaRPr lang="en-US" sz="1700" dirty="0"/>
          </a:p>
          <a:p>
            <a:pPr marL="228600" indent="-228600">
              <a:spcAft>
                <a:spcPts val="800"/>
              </a:spcAft>
              <a:buSzPct val="100000"/>
              <a:buChar char="•"/>
            </a:pPr>
            <a:r>
              <a:rPr lang="en-US" sz="1700" dirty="0">
                <a:solidFill>
                  <a:schemeClr val="tx1"/>
                </a:solidFill>
              </a:rPr>
              <a:t>Une liaison sécurisée dès la conception</a:t>
            </a:r>
            <a:endParaRPr lang="en-US" sz="1700" dirty="0"/>
          </a:p>
        </p:txBody>
      </p:sp>
      <p:pic>
        <p:nvPicPr>
          <p:cNvPr id="8" name="Image 0" descr="Vue en perspective (SolidWorks)">    </p:cNvPr>
          <p:cNvPicPr>
            <a:picLocks noChangeAspect="1"/>
          </p:cNvPicPr>
          <p:nvPr/>
        </p:nvPicPr>
        <p:blipFill>
          <a:blip r:embed="rId1"/>
          <a:stretch>
            <a:fillRect/>
          </a:stretch>
        </p:blipFill>
        <p:spPr>
          <a:xfrm>
            <a:off x="6126480" y="2143132"/>
            <a:ext cx="5470855" cy="2800336"/>
          </a:xfrm>
          <a:prstGeom prst="rect">
            <a:avLst/>
          </a:prstGeom>
        </p:spPr>
      </p:pic>
      <p:sp>
        <p:nvSpPr>
          <p:cNvPr id="9" name="Cadre cao_iso"/>
          <p:cNvSpPr/>
          <p:nvPr/>
        </p:nvSpPr>
        <p:spPr>
          <a:xfrm>
            <a:off x="6126480" y="2143132"/>
            <a:ext cx="5470855" cy="2800336"/>
          </a:xfrm>
          <a:prstGeom prst="rect">
            <a:avLst/>
          </a:prstGeom>
          <a:ln w="9525">
            <a:solidFill>
              <a:schemeClr val="accent5"/>
            </a:solidFill>
            <a:prstDash val="solid"/>
          </a:ln>
        </p:spPr>
      </p:sp>
      <p:sp>
        <p:nvSpPr>
          <p:cNvPr id="10" name="Text 7"/>
          <p:cNvSpPr txBox="1"/>
          <p:nvPr/>
        </p:nvSpPr>
        <p:spPr>
          <a:xfrm>
            <a:off x="6126480" y="4998332"/>
            <a:ext cx="5470855" cy="256032"/>
          </a:xfrm>
          <a:prstGeom prst="rect">
            <a:avLst/>
          </a:prstGeom>
          <a:noFill/>
          <a:ln/>
        </p:spPr>
        <p:txBody>
          <a:bodyPr wrap="square" lIns="0" tIns="0" rIns="0" bIns="0" rtlCol="0" anchor="ctr"/>
          <a:lstStyle/>
          <a:p>
            <a:pPr indent="0" marL="0">
              <a:buNone/>
            </a:pPr>
            <a:r>
              <a:rPr lang="en-US" sz="1100" i="1" dirty="0">
                <a:solidFill>
                  <a:schemeClr val="tx2"/>
                </a:solidFill>
              </a:rPr>
              <a:t>Vue en perspective (SolidWorks)</a:t>
            </a:r>
            <a:endParaRPr lang="en-US" sz="11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Les parties du drone</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Israel AWADE</a:t>
            </a:r>
            <a:endParaRPr lang="en-US" sz="1000" dirty="0"/>
          </a:p>
        </p:txBody>
      </p:sp>
      <p:pic>
        <p:nvPicPr>
          <p:cNvPr id="4" name="Image 0" descr="Vue de dessus annotée">    </p:cNvPr>
          <p:cNvPicPr>
            <a:picLocks noChangeAspect="1"/>
          </p:cNvPicPr>
          <p:nvPr/>
        </p:nvPicPr>
        <p:blipFill>
          <a:blip r:embed="rId1"/>
          <a:stretch>
            <a:fillRect/>
          </a:stretch>
        </p:blipFill>
        <p:spPr>
          <a:xfrm>
            <a:off x="3078328" y="1942384"/>
            <a:ext cx="6035040" cy="3338993"/>
          </a:xfrm>
          <a:prstGeom prst="rect">
            <a:avLst/>
          </a:prstGeom>
        </p:spPr>
      </p:pic>
      <p:sp>
        <p:nvSpPr>
          <p:cNvPr id="5" name="Text 2"/>
          <p:cNvSpPr txBox="1"/>
          <p:nvPr/>
        </p:nvSpPr>
        <p:spPr>
          <a:xfrm>
            <a:off x="594360" y="1371600"/>
            <a:ext cx="2255368" cy="548640"/>
          </a:xfrm>
          <a:prstGeom prst="rect">
            <a:avLst/>
          </a:prstGeom>
          <a:noFill/>
          <a:ln/>
        </p:spPr>
        <p:txBody>
          <a:bodyPr wrap="square" lIns="0" tIns="0" rIns="0" bIns="0" rtlCol="0" anchor="ctr"/>
          <a:lstStyle/>
          <a:p>
            <a:pPr algn="r" indent="0" marL="0">
              <a:buNone/>
            </a:pPr>
            <a:r>
              <a:rPr lang="en-US" sz="1400" b="1" dirty="0">
                <a:solidFill>
                  <a:schemeClr val="tx1"/>
                </a:solidFill>
              </a:rPr>
              <a:t>Nez et tube de Pitot</a:t>
            </a:r>
            <a:endParaRPr lang="en-US" sz="1400" dirty="0"/>
          </a:p>
          <a:p>
            <a:pPr algn="r" indent="0" marL="0">
              <a:buNone/>
            </a:pPr>
            <a:r>
              <a:rPr lang="en-US" sz="1100" dirty="0">
                <a:solidFill>
                  <a:schemeClr val="tx2"/>
                </a:solidFill>
              </a:rPr>
              <a:t>mesure la vitesse air</a:t>
            </a:r>
            <a:endParaRPr lang="en-US" sz="1400" dirty="0"/>
          </a:p>
        </p:txBody>
      </p:sp>
      <p:sp>
        <p:nvSpPr>
          <p:cNvPr id="6" name="Shape 3"/>
          <p:cNvSpPr/>
          <p:nvPr/>
        </p:nvSpPr>
        <p:spPr>
          <a:xfrm>
            <a:off x="2895448" y="1600200"/>
            <a:ext cx="3224540" cy="575913"/>
          </a:xfrm>
          <a:prstGeom prst="line">
            <a:avLst/>
          </a:prstGeom>
          <a:noFill/>
          <a:ln w="12700">
            <a:solidFill>
              <a:schemeClr val="accent1"/>
            </a:solidFill>
            <a:prstDash val="solid"/>
          </a:ln>
        </p:spPr>
      </p:sp>
      <p:sp>
        <p:nvSpPr>
          <p:cNvPr id="7" name="Shape 4"/>
          <p:cNvSpPr/>
          <p:nvPr/>
        </p:nvSpPr>
        <p:spPr>
          <a:xfrm>
            <a:off x="6065124" y="2121249"/>
            <a:ext cx="109728" cy="109728"/>
          </a:xfrm>
          <a:prstGeom prst="ellipse">
            <a:avLst/>
          </a:prstGeom>
          <a:solidFill>
            <a:schemeClr val="accent1"/>
          </a:solidFill>
          <a:ln/>
        </p:spPr>
      </p:sp>
      <p:sp>
        <p:nvSpPr>
          <p:cNvPr id="8" name="Text 5"/>
          <p:cNvSpPr txBox="1"/>
          <p:nvPr/>
        </p:nvSpPr>
        <p:spPr>
          <a:xfrm>
            <a:off x="594360" y="2148840"/>
            <a:ext cx="2255368" cy="548640"/>
          </a:xfrm>
          <a:prstGeom prst="rect">
            <a:avLst/>
          </a:prstGeom>
          <a:noFill/>
          <a:ln/>
        </p:spPr>
        <p:txBody>
          <a:bodyPr wrap="square" lIns="0" tIns="0" rIns="0" bIns="0" rtlCol="0" anchor="ctr"/>
          <a:lstStyle/>
          <a:p>
            <a:pPr algn="r" indent="0" marL="0">
              <a:buNone/>
            </a:pPr>
            <a:r>
              <a:rPr lang="en-US" sz="1400" b="1" dirty="0">
                <a:solidFill>
                  <a:schemeClr val="tx1"/>
                </a:solidFill>
              </a:rPr>
              <a:t>Moteur avant gauche</a:t>
            </a:r>
            <a:endParaRPr lang="en-US" sz="1400" dirty="0"/>
          </a:p>
          <a:p>
            <a:pPr algn="r" indent="0" marL="0">
              <a:buNone/>
            </a:pPr>
            <a:r>
              <a:rPr lang="en-US" sz="1100" dirty="0">
                <a:solidFill>
                  <a:schemeClr val="tx2"/>
                </a:solidFill>
              </a:rPr>
              <a:t>basculant, en nacelle</a:t>
            </a:r>
            <a:endParaRPr lang="en-US" sz="1400" dirty="0"/>
          </a:p>
        </p:txBody>
      </p:sp>
      <p:sp>
        <p:nvSpPr>
          <p:cNvPr id="9" name="Shape 6"/>
          <p:cNvSpPr/>
          <p:nvPr/>
        </p:nvSpPr>
        <p:spPr>
          <a:xfrm>
            <a:off x="2895448" y="2377440"/>
            <a:ext cx="2439985" cy="222725"/>
          </a:xfrm>
          <a:prstGeom prst="line">
            <a:avLst/>
          </a:prstGeom>
          <a:noFill/>
          <a:ln w="12700">
            <a:solidFill>
              <a:schemeClr val="accent1"/>
            </a:solidFill>
            <a:prstDash val="solid"/>
          </a:ln>
        </p:spPr>
      </p:sp>
      <p:sp>
        <p:nvSpPr>
          <p:cNvPr id="10" name="Shape 7"/>
          <p:cNvSpPr/>
          <p:nvPr/>
        </p:nvSpPr>
        <p:spPr>
          <a:xfrm>
            <a:off x="5280569" y="2545301"/>
            <a:ext cx="109728" cy="109728"/>
          </a:xfrm>
          <a:prstGeom prst="ellipse">
            <a:avLst/>
          </a:prstGeom>
          <a:solidFill>
            <a:schemeClr val="accent1"/>
          </a:solidFill>
          <a:ln/>
        </p:spPr>
      </p:sp>
      <p:sp>
        <p:nvSpPr>
          <p:cNvPr id="11" name="Text 8"/>
          <p:cNvSpPr txBox="1"/>
          <p:nvPr/>
        </p:nvSpPr>
        <p:spPr>
          <a:xfrm>
            <a:off x="594360" y="3063240"/>
            <a:ext cx="2255368" cy="548640"/>
          </a:xfrm>
          <a:prstGeom prst="rect">
            <a:avLst/>
          </a:prstGeom>
          <a:noFill/>
          <a:ln/>
        </p:spPr>
        <p:txBody>
          <a:bodyPr wrap="square" lIns="0" tIns="0" rIns="0" bIns="0" rtlCol="0" anchor="ctr"/>
          <a:lstStyle/>
          <a:p>
            <a:pPr algn="r" indent="0" marL="0">
              <a:buNone/>
            </a:pPr>
            <a:r>
              <a:rPr lang="en-US" sz="1400" b="1" dirty="0">
                <a:solidFill>
                  <a:schemeClr val="tx1"/>
                </a:solidFill>
              </a:rPr>
              <a:t>Aile</a:t>
            </a:r>
            <a:endParaRPr lang="en-US" sz="1400" dirty="0"/>
          </a:p>
          <a:p>
            <a:pPr algn="r" indent="0" marL="0">
              <a:buNone/>
            </a:pPr>
            <a:r>
              <a:rPr lang="en-US" sz="1100" dirty="0">
                <a:solidFill>
                  <a:schemeClr val="tx2"/>
                </a:solidFill>
              </a:rPr>
              <a:t>porte le drone en croisière</a:t>
            </a:r>
            <a:endParaRPr lang="en-US" sz="1400" dirty="0"/>
          </a:p>
        </p:txBody>
      </p:sp>
      <p:sp>
        <p:nvSpPr>
          <p:cNvPr id="12" name="Shape 9"/>
          <p:cNvSpPr/>
          <p:nvPr/>
        </p:nvSpPr>
        <p:spPr>
          <a:xfrm>
            <a:off x="2895448" y="3291840"/>
            <a:ext cx="1208837" cy="52921"/>
          </a:xfrm>
          <a:prstGeom prst="line">
            <a:avLst/>
          </a:prstGeom>
          <a:noFill/>
          <a:ln w="12700">
            <a:solidFill>
              <a:schemeClr val="accent1"/>
            </a:solidFill>
            <a:prstDash val="solid"/>
          </a:ln>
        </p:spPr>
      </p:sp>
      <p:sp>
        <p:nvSpPr>
          <p:cNvPr id="13" name="Shape 10"/>
          <p:cNvSpPr/>
          <p:nvPr/>
        </p:nvSpPr>
        <p:spPr>
          <a:xfrm>
            <a:off x="4049420" y="3289897"/>
            <a:ext cx="109728" cy="109728"/>
          </a:xfrm>
          <a:prstGeom prst="ellipse">
            <a:avLst/>
          </a:prstGeom>
          <a:solidFill>
            <a:schemeClr val="accent1"/>
          </a:solidFill>
          <a:ln/>
        </p:spPr>
      </p:sp>
      <p:sp>
        <p:nvSpPr>
          <p:cNvPr id="14" name="Text 11"/>
          <p:cNvSpPr txBox="1"/>
          <p:nvPr/>
        </p:nvSpPr>
        <p:spPr>
          <a:xfrm>
            <a:off x="594360" y="4892040"/>
            <a:ext cx="2255368" cy="548640"/>
          </a:xfrm>
          <a:prstGeom prst="rect">
            <a:avLst/>
          </a:prstGeom>
          <a:noFill/>
          <a:ln/>
        </p:spPr>
        <p:txBody>
          <a:bodyPr wrap="square" lIns="0" tIns="0" rIns="0" bIns="0" rtlCol="0" anchor="ctr"/>
          <a:lstStyle/>
          <a:p>
            <a:pPr algn="r" indent="0" marL="0">
              <a:buNone/>
            </a:pPr>
            <a:r>
              <a:rPr lang="en-US" sz="1400" b="1" dirty="0">
                <a:solidFill>
                  <a:schemeClr val="tx1"/>
                </a:solidFill>
              </a:rPr>
              <a:t>Empennage en V</a:t>
            </a:r>
            <a:endParaRPr lang="en-US" sz="1400" dirty="0"/>
          </a:p>
          <a:p>
            <a:pPr algn="r" indent="0" marL="0">
              <a:buNone/>
            </a:pPr>
            <a:r>
              <a:rPr lang="en-US" sz="1100" dirty="0">
                <a:solidFill>
                  <a:schemeClr val="tx2"/>
                </a:solidFill>
              </a:rPr>
              <a:t>profondeur et direction</a:t>
            </a:r>
            <a:endParaRPr lang="en-US" sz="1400" dirty="0"/>
          </a:p>
        </p:txBody>
      </p:sp>
      <p:sp>
        <p:nvSpPr>
          <p:cNvPr id="15" name="Shape 12"/>
          <p:cNvSpPr/>
          <p:nvPr/>
        </p:nvSpPr>
        <p:spPr>
          <a:xfrm flipV="1">
            <a:off x="2895448" y="4780527"/>
            <a:ext cx="2596896" cy="340113"/>
          </a:xfrm>
          <a:prstGeom prst="line">
            <a:avLst/>
          </a:prstGeom>
          <a:noFill/>
          <a:ln w="12700">
            <a:solidFill>
              <a:schemeClr val="accent1"/>
            </a:solidFill>
            <a:prstDash val="solid"/>
          </a:ln>
        </p:spPr>
      </p:sp>
      <p:sp>
        <p:nvSpPr>
          <p:cNvPr id="16" name="Shape 13"/>
          <p:cNvSpPr/>
          <p:nvPr/>
        </p:nvSpPr>
        <p:spPr>
          <a:xfrm>
            <a:off x="5437480" y="4725663"/>
            <a:ext cx="109728" cy="109728"/>
          </a:xfrm>
          <a:prstGeom prst="ellipse">
            <a:avLst/>
          </a:prstGeom>
          <a:solidFill>
            <a:schemeClr val="accent1"/>
          </a:solidFill>
          <a:ln/>
        </p:spPr>
      </p:sp>
      <p:sp>
        <p:nvSpPr>
          <p:cNvPr id="17" name="Text 14"/>
          <p:cNvSpPr txBox="1"/>
          <p:nvPr/>
        </p:nvSpPr>
        <p:spPr>
          <a:xfrm>
            <a:off x="9341968" y="1371600"/>
            <a:ext cx="2255368" cy="548640"/>
          </a:xfrm>
          <a:prstGeom prst="rect">
            <a:avLst/>
          </a:prstGeom>
          <a:noFill/>
          <a:ln/>
        </p:spPr>
        <p:txBody>
          <a:bodyPr wrap="square" lIns="0" tIns="0" rIns="0" bIns="0" rtlCol="0" anchor="ctr"/>
          <a:lstStyle/>
          <a:p>
            <a:pPr algn="l" indent="0" marL="0">
              <a:buNone/>
            </a:pPr>
            <a:r>
              <a:rPr lang="en-US" sz="1400" b="1" dirty="0">
                <a:solidFill>
                  <a:schemeClr val="tx1"/>
                </a:solidFill>
              </a:rPr>
              <a:t>Moteur avant droit</a:t>
            </a:r>
            <a:endParaRPr lang="en-US" sz="1400" dirty="0"/>
          </a:p>
          <a:p>
            <a:pPr algn="l" indent="0" marL="0">
              <a:buNone/>
            </a:pPr>
            <a:r>
              <a:rPr lang="en-US" sz="1100" dirty="0">
                <a:solidFill>
                  <a:schemeClr val="tx2"/>
                </a:solidFill>
              </a:rPr>
              <a:t>basculant, en nacelle</a:t>
            </a:r>
            <a:endParaRPr lang="en-US" sz="1400" dirty="0"/>
          </a:p>
        </p:txBody>
      </p:sp>
      <p:sp>
        <p:nvSpPr>
          <p:cNvPr id="18" name="Shape 15"/>
          <p:cNvSpPr/>
          <p:nvPr/>
        </p:nvSpPr>
        <p:spPr>
          <a:xfrm flipV="1">
            <a:off x="6874368" y="1600200"/>
            <a:ext cx="2421880" cy="976592"/>
          </a:xfrm>
          <a:prstGeom prst="line">
            <a:avLst/>
          </a:prstGeom>
          <a:noFill/>
          <a:ln w="12700">
            <a:solidFill>
              <a:schemeClr val="accent1"/>
            </a:solidFill>
            <a:prstDash val="solid"/>
          </a:ln>
        </p:spPr>
      </p:sp>
      <p:sp>
        <p:nvSpPr>
          <p:cNvPr id="19" name="Shape 16"/>
          <p:cNvSpPr/>
          <p:nvPr/>
        </p:nvSpPr>
        <p:spPr>
          <a:xfrm>
            <a:off x="6819504" y="2521928"/>
            <a:ext cx="109728" cy="109728"/>
          </a:xfrm>
          <a:prstGeom prst="ellipse">
            <a:avLst/>
          </a:prstGeom>
          <a:solidFill>
            <a:schemeClr val="accent1"/>
          </a:solidFill>
          <a:ln/>
        </p:spPr>
      </p:sp>
      <p:sp>
        <p:nvSpPr>
          <p:cNvPr id="20" name="Text 17"/>
          <p:cNvSpPr txBox="1"/>
          <p:nvPr/>
        </p:nvSpPr>
        <p:spPr>
          <a:xfrm>
            <a:off x="9341968" y="2148840"/>
            <a:ext cx="2255368" cy="548640"/>
          </a:xfrm>
          <a:prstGeom prst="rect">
            <a:avLst/>
          </a:prstGeom>
          <a:noFill/>
          <a:ln/>
        </p:spPr>
        <p:txBody>
          <a:bodyPr wrap="square" lIns="0" tIns="0" rIns="0" bIns="0" rtlCol="0" anchor="ctr"/>
          <a:lstStyle/>
          <a:p>
            <a:pPr algn="l" indent="0" marL="0">
              <a:buNone/>
            </a:pPr>
            <a:r>
              <a:rPr lang="en-US" sz="1400" b="1" dirty="0">
                <a:solidFill>
                  <a:schemeClr val="tx1"/>
                </a:solidFill>
              </a:rPr>
              <a:t>Servo de basculement</a:t>
            </a:r>
            <a:endParaRPr lang="en-US" sz="1400" dirty="0"/>
          </a:p>
          <a:p>
            <a:pPr algn="l" indent="0" marL="0">
              <a:buNone/>
            </a:pPr>
            <a:r>
              <a:rPr lang="en-US" sz="1100" dirty="0">
                <a:solidFill>
                  <a:schemeClr val="tx2"/>
                </a:solidFill>
              </a:rPr>
              <a:t>fait pivoter le moteur</a:t>
            </a:r>
            <a:endParaRPr lang="en-US" sz="1400" dirty="0"/>
          </a:p>
        </p:txBody>
      </p:sp>
      <p:sp>
        <p:nvSpPr>
          <p:cNvPr id="21" name="Shape 18"/>
          <p:cNvSpPr/>
          <p:nvPr/>
        </p:nvSpPr>
        <p:spPr>
          <a:xfrm flipV="1">
            <a:off x="6880403" y="2377440"/>
            <a:ext cx="2415845" cy="566641"/>
          </a:xfrm>
          <a:prstGeom prst="line">
            <a:avLst/>
          </a:prstGeom>
          <a:noFill/>
          <a:ln w="12700">
            <a:solidFill>
              <a:schemeClr val="accent1"/>
            </a:solidFill>
            <a:prstDash val="solid"/>
          </a:ln>
        </p:spPr>
      </p:sp>
      <p:sp>
        <p:nvSpPr>
          <p:cNvPr id="22" name="Shape 19"/>
          <p:cNvSpPr/>
          <p:nvPr/>
        </p:nvSpPr>
        <p:spPr>
          <a:xfrm>
            <a:off x="6825539" y="2889217"/>
            <a:ext cx="109728" cy="109728"/>
          </a:xfrm>
          <a:prstGeom prst="ellipse">
            <a:avLst/>
          </a:prstGeom>
          <a:solidFill>
            <a:schemeClr val="accent1"/>
          </a:solidFill>
          <a:ln/>
        </p:spPr>
      </p:sp>
      <p:sp>
        <p:nvSpPr>
          <p:cNvPr id="23" name="Text 20"/>
          <p:cNvSpPr txBox="1"/>
          <p:nvPr/>
        </p:nvSpPr>
        <p:spPr>
          <a:xfrm>
            <a:off x="9341968" y="3063240"/>
            <a:ext cx="2255368" cy="548640"/>
          </a:xfrm>
          <a:prstGeom prst="rect">
            <a:avLst/>
          </a:prstGeom>
          <a:noFill/>
          <a:ln/>
        </p:spPr>
        <p:txBody>
          <a:bodyPr wrap="square" lIns="0" tIns="0" rIns="0" bIns="0" rtlCol="0" anchor="ctr"/>
          <a:lstStyle/>
          <a:p>
            <a:pPr algn="l" indent="0" marL="0">
              <a:buNone/>
            </a:pPr>
            <a:r>
              <a:rPr lang="en-US" sz="1400" b="1" dirty="0">
                <a:solidFill>
                  <a:schemeClr val="tx1"/>
                </a:solidFill>
              </a:rPr>
              <a:t>Mât GNSS</a:t>
            </a:r>
            <a:endParaRPr lang="en-US" sz="1400" dirty="0"/>
          </a:p>
          <a:p>
            <a:pPr algn="l" indent="0" marL="0">
              <a:buNone/>
            </a:pPr>
            <a:r>
              <a:rPr lang="en-US" sz="1100" dirty="0">
                <a:solidFill>
                  <a:schemeClr val="tx2"/>
                </a:solidFill>
              </a:rPr>
              <a:t>GPS éloigné des perturbations</a:t>
            </a:r>
            <a:endParaRPr lang="en-US" sz="1400" dirty="0"/>
          </a:p>
        </p:txBody>
      </p:sp>
      <p:sp>
        <p:nvSpPr>
          <p:cNvPr id="24" name="Shape 21"/>
          <p:cNvSpPr/>
          <p:nvPr/>
        </p:nvSpPr>
        <p:spPr>
          <a:xfrm flipV="1">
            <a:off x="6119988" y="3291840"/>
            <a:ext cx="3176260" cy="92989"/>
          </a:xfrm>
          <a:prstGeom prst="line">
            <a:avLst/>
          </a:prstGeom>
          <a:noFill/>
          <a:ln w="12700">
            <a:solidFill>
              <a:schemeClr val="accent1"/>
            </a:solidFill>
            <a:prstDash val="solid"/>
          </a:ln>
        </p:spPr>
      </p:sp>
      <p:sp>
        <p:nvSpPr>
          <p:cNvPr id="25" name="Shape 22"/>
          <p:cNvSpPr/>
          <p:nvPr/>
        </p:nvSpPr>
        <p:spPr>
          <a:xfrm>
            <a:off x="6065124" y="3329965"/>
            <a:ext cx="109728" cy="109728"/>
          </a:xfrm>
          <a:prstGeom prst="ellipse">
            <a:avLst/>
          </a:prstGeom>
          <a:solidFill>
            <a:schemeClr val="accent1"/>
          </a:solidFill>
          <a:ln/>
        </p:spPr>
      </p:sp>
      <p:sp>
        <p:nvSpPr>
          <p:cNvPr id="26" name="Text 23"/>
          <p:cNvSpPr txBox="1"/>
          <p:nvPr/>
        </p:nvSpPr>
        <p:spPr>
          <a:xfrm>
            <a:off x="9341968" y="3977640"/>
            <a:ext cx="2255368" cy="548640"/>
          </a:xfrm>
          <a:prstGeom prst="rect">
            <a:avLst/>
          </a:prstGeom>
          <a:noFill/>
          <a:ln/>
        </p:spPr>
        <p:txBody>
          <a:bodyPr wrap="square" lIns="0" tIns="0" rIns="0" bIns="0" rtlCol="0" anchor="ctr"/>
          <a:lstStyle/>
          <a:p>
            <a:pPr algn="l" indent="0" marL="0">
              <a:buNone/>
            </a:pPr>
            <a:r>
              <a:rPr lang="en-US" sz="1400" b="1" dirty="0">
                <a:solidFill>
                  <a:schemeClr val="tx1"/>
                </a:solidFill>
              </a:rPr>
              <a:t>Moteur arrière</a:t>
            </a:r>
            <a:endParaRPr lang="en-US" sz="1400" dirty="0"/>
          </a:p>
          <a:p>
            <a:pPr algn="l" indent="0" marL="0">
              <a:buNone/>
            </a:pPr>
            <a:r>
              <a:rPr lang="en-US" sz="1100" dirty="0">
                <a:solidFill>
                  <a:schemeClr val="tx2"/>
                </a:solidFill>
              </a:rPr>
              <a:t>vol vertical uniquement</a:t>
            </a:r>
            <a:endParaRPr lang="en-US" sz="1400" dirty="0"/>
          </a:p>
        </p:txBody>
      </p:sp>
      <p:sp>
        <p:nvSpPr>
          <p:cNvPr id="27" name="Shape 24"/>
          <p:cNvSpPr/>
          <p:nvPr/>
        </p:nvSpPr>
        <p:spPr>
          <a:xfrm>
            <a:off x="6095848" y="4196204"/>
            <a:ext cx="3200400" cy="10036"/>
          </a:xfrm>
          <a:prstGeom prst="line">
            <a:avLst/>
          </a:prstGeom>
          <a:noFill/>
          <a:ln w="12700">
            <a:solidFill>
              <a:schemeClr val="accent1"/>
            </a:solidFill>
            <a:prstDash val="solid"/>
          </a:ln>
        </p:spPr>
      </p:sp>
      <p:sp>
        <p:nvSpPr>
          <p:cNvPr id="28" name="Shape 25"/>
          <p:cNvSpPr/>
          <p:nvPr/>
        </p:nvSpPr>
        <p:spPr>
          <a:xfrm>
            <a:off x="6040984" y="4141340"/>
            <a:ext cx="109728" cy="109728"/>
          </a:xfrm>
          <a:prstGeom prst="ellipse">
            <a:avLst/>
          </a:prstGeom>
          <a:solidFill>
            <a:schemeClr val="accent1"/>
          </a:solidFill>
          <a:ln/>
        </p:spPr>
      </p:sp>
      <p:sp>
        <p:nvSpPr>
          <p:cNvPr id="29" name="Text 26"/>
          <p:cNvSpPr txBox="1"/>
          <p:nvPr/>
        </p:nvSpPr>
        <p:spPr>
          <a:xfrm>
            <a:off x="594360" y="3977640"/>
            <a:ext cx="2255368" cy="548640"/>
          </a:xfrm>
          <a:prstGeom prst="rect">
            <a:avLst/>
          </a:prstGeom>
          <a:noFill/>
          <a:ln/>
        </p:spPr>
        <p:txBody>
          <a:bodyPr wrap="square" lIns="0" tIns="0" rIns="0" bIns="0" rtlCol="0" anchor="ctr"/>
          <a:lstStyle/>
          <a:p>
            <a:pPr algn="r" indent="0" marL="0">
              <a:buNone/>
            </a:pPr>
            <a:r>
              <a:rPr lang="en-US" sz="1400" b="1" dirty="0">
                <a:solidFill>
                  <a:schemeClr val="tx1"/>
                </a:solidFill>
              </a:rPr>
              <a:t>Fuselage</a:t>
            </a:r>
            <a:endParaRPr lang="en-US" sz="1400" dirty="0"/>
          </a:p>
          <a:p>
            <a:pPr algn="r" indent="0" marL="0">
              <a:buNone/>
            </a:pPr>
            <a:r>
              <a:rPr lang="en-US" sz="1100" dirty="0">
                <a:solidFill>
                  <a:schemeClr val="tx2"/>
                </a:solidFill>
              </a:rPr>
              <a:t>batterie, électronique, module IA</a:t>
            </a:r>
            <a:endParaRPr lang="en-US" sz="1400" dirty="0"/>
          </a:p>
        </p:txBody>
      </p:sp>
      <p:sp>
        <p:nvSpPr>
          <p:cNvPr id="30" name="Shape 27"/>
          <p:cNvSpPr/>
          <p:nvPr/>
        </p:nvSpPr>
        <p:spPr>
          <a:xfrm flipV="1">
            <a:off x="2895448" y="3812220"/>
            <a:ext cx="3321101" cy="394020"/>
          </a:xfrm>
          <a:prstGeom prst="line">
            <a:avLst/>
          </a:prstGeom>
          <a:noFill/>
          <a:ln w="12700">
            <a:solidFill>
              <a:schemeClr val="accent1"/>
            </a:solidFill>
            <a:prstDash val="solid"/>
          </a:ln>
        </p:spPr>
      </p:sp>
      <p:sp>
        <p:nvSpPr>
          <p:cNvPr id="31" name="Shape 28"/>
          <p:cNvSpPr/>
          <p:nvPr/>
        </p:nvSpPr>
        <p:spPr>
          <a:xfrm>
            <a:off x="6161684" y="3757356"/>
            <a:ext cx="109728" cy="109728"/>
          </a:xfrm>
          <a:prstGeom prst="ellipse">
            <a:avLst/>
          </a:prstGeom>
          <a:solidFill>
            <a:schemeClr val="accent1"/>
          </a:solidFill>
          <a:ln/>
        </p:spPr>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Les moteurs avant basculants</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Israel AWADE</a:t>
            </a:r>
            <a:endParaRPr lang="en-US" sz="1000" dirty="0"/>
          </a:p>
        </p:txBody>
      </p:sp>
      <p:sp>
        <p:nvSpPr>
          <p:cNvPr id="4" name="Text 2"/>
          <p:cNvSpPr txBox="1"/>
          <p:nvPr/>
        </p:nvSpPr>
        <p:spPr>
          <a:xfrm>
            <a:off x="594360" y="1417320"/>
            <a:ext cx="5120640" cy="365760"/>
          </a:xfrm>
          <a:prstGeom prst="rect">
            <a:avLst/>
          </a:prstGeom>
          <a:noFill/>
          <a:ln/>
        </p:spPr>
        <p:txBody>
          <a:bodyPr wrap="square" lIns="0" tIns="0" rIns="0" bIns="0" rtlCol="0" anchor="ctr"/>
          <a:lstStyle/>
          <a:p>
            <a:pPr indent="0" marL="0">
              <a:buNone/>
            </a:pPr>
            <a:r>
              <a:rPr lang="en-US" sz="1800" b="1" dirty="0">
                <a:solidFill>
                  <a:schemeClr val="accent1"/>
                </a:solidFill>
              </a:rPr>
              <a:t>Comment ça marche</a:t>
            </a:r>
            <a:endParaRPr lang="en-US" sz="1800" dirty="0"/>
          </a:p>
        </p:txBody>
      </p:sp>
      <p:sp>
        <p:nvSpPr>
          <p:cNvPr id="5" name="Text 3"/>
          <p:cNvSpPr txBox="1"/>
          <p:nvPr/>
        </p:nvSpPr>
        <p:spPr>
          <a:xfrm>
            <a:off x="594360" y="1874520"/>
            <a:ext cx="5120640" cy="219456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Un moteur et son hélice dans chaque nacelle</a:t>
            </a:r>
            <a:endParaRPr lang="en-US" sz="1700" dirty="0"/>
          </a:p>
          <a:p>
            <a:pPr marL="228600" indent="-228600">
              <a:spcAft>
                <a:spcPts val="800"/>
              </a:spcAft>
              <a:buSzPct val="100000"/>
              <a:buChar char="•"/>
            </a:pPr>
            <a:r>
              <a:rPr lang="en-US" sz="1700" dirty="0">
                <a:solidFill>
                  <a:schemeClr val="tx1"/>
                </a:solidFill>
              </a:rPr>
              <a:t>Un servomoteur fait pivoter l'ensemble</a:t>
            </a:r>
            <a:endParaRPr lang="en-US" sz="1700" dirty="0"/>
          </a:p>
          <a:p>
            <a:pPr marL="228600" indent="-228600">
              <a:spcAft>
                <a:spcPts val="800"/>
              </a:spcAft>
              <a:buSzPct val="100000"/>
              <a:buChar char="•"/>
            </a:pPr>
            <a:r>
              <a:rPr lang="en-US" sz="1700" dirty="0">
                <a:solidFill>
                  <a:schemeClr val="tx1"/>
                </a:solidFill>
              </a:rPr>
              <a:t>Vers le haut au décollage, vers l'avant en croisière</a:t>
            </a:r>
            <a:endParaRPr lang="en-US" sz="1700" dirty="0"/>
          </a:p>
          <a:p>
            <a:pPr marL="228600" indent="-228600">
              <a:spcAft>
                <a:spcPts val="800"/>
              </a:spcAft>
              <a:buSzPct val="100000"/>
              <a:buChar char="•"/>
            </a:pPr>
            <a:r>
              <a:rPr lang="en-US" sz="1700" dirty="0">
                <a:solidFill>
                  <a:schemeClr val="tx1"/>
                </a:solidFill>
              </a:rPr>
              <a:t>Les mêmes moteurs servent aux deux phases</a:t>
            </a:r>
            <a:endParaRPr lang="en-US" sz="1700" dirty="0"/>
          </a:p>
        </p:txBody>
      </p:sp>
      <p:sp>
        <p:nvSpPr>
          <p:cNvPr id="6" name="Text 4"/>
          <p:cNvSpPr txBox="1"/>
          <p:nvPr/>
        </p:nvSpPr>
        <p:spPr>
          <a:xfrm>
            <a:off x="594360" y="4206240"/>
            <a:ext cx="5120640" cy="365760"/>
          </a:xfrm>
          <a:prstGeom prst="rect">
            <a:avLst/>
          </a:prstGeom>
          <a:noFill/>
          <a:ln/>
        </p:spPr>
        <p:txBody>
          <a:bodyPr wrap="square" lIns="0" tIns="0" rIns="0" bIns="0" rtlCol="0" anchor="ctr"/>
          <a:lstStyle/>
          <a:p>
            <a:pPr indent="0" marL="0">
              <a:buNone/>
            </a:pPr>
            <a:r>
              <a:rPr lang="en-US" sz="1800" b="1" dirty="0">
                <a:solidFill>
                  <a:schemeClr val="accent1"/>
                </a:solidFill>
              </a:rPr>
              <a:t>Nos choix</a:t>
            </a:r>
            <a:endParaRPr lang="en-US" sz="1800" dirty="0"/>
          </a:p>
        </p:txBody>
      </p:sp>
      <p:sp>
        <p:nvSpPr>
          <p:cNvPr id="7" name="Text 5"/>
          <p:cNvSpPr txBox="1"/>
          <p:nvPr/>
        </p:nvSpPr>
        <p:spPr>
          <a:xfrm>
            <a:off x="594360" y="4663440"/>
            <a:ext cx="5120640" cy="118872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Servos à engrenages métal, avec marge de couple</a:t>
            </a:r>
            <a:endParaRPr lang="en-US" sz="1700" dirty="0"/>
          </a:p>
          <a:p>
            <a:pPr marL="228600" indent="-228600">
              <a:spcAft>
                <a:spcPts val="800"/>
              </a:spcAft>
              <a:buSzPct val="100000"/>
              <a:buChar char="•"/>
            </a:pPr>
            <a:r>
              <a:rPr lang="en-US" sz="1700" dirty="0">
                <a:solidFill>
                  <a:schemeClr val="tx1"/>
                </a:solidFill>
              </a:rPr>
              <a:t>Débattement vérifié à chaque check-list</a:t>
            </a:r>
            <a:endParaRPr lang="en-US" sz="1700" dirty="0"/>
          </a:p>
        </p:txBody>
      </p:sp>
      <p:pic>
        <p:nvPicPr>
          <p:cNvPr id="8" name="Image 0" descr="Nacelles et moteurs avant, vue de dessus">    </p:cNvPr>
          <p:cNvPicPr>
            <a:picLocks noChangeAspect="1"/>
          </p:cNvPicPr>
          <p:nvPr/>
        </p:nvPicPr>
        <p:blipFill>
          <a:blip r:embed="rId1"/>
          <a:stretch>
            <a:fillRect/>
          </a:stretch>
        </p:blipFill>
        <p:spPr>
          <a:xfrm>
            <a:off x="6923777" y="1417320"/>
            <a:ext cx="3876261" cy="1783080"/>
          </a:xfrm>
          <a:prstGeom prst="rect">
            <a:avLst/>
          </a:prstGeom>
        </p:spPr>
      </p:pic>
      <p:sp>
        <p:nvSpPr>
          <p:cNvPr id="9" name="Cadre z_dessus_avant"/>
          <p:cNvSpPr/>
          <p:nvPr/>
        </p:nvSpPr>
        <p:spPr>
          <a:xfrm>
            <a:off x="6923777" y="1417320"/>
            <a:ext cx="3876261" cy="1783080"/>
          </a:xfrm>
          <a:prstGeom prst="rect">
            <a:avLst/>
          </a:prstGeom>
          <a:ln w="9525">
            <a:solidFill>
              <a:schemeClr val="accent5"/>
            </a:solidFill>
            <a:prstDash val="solid"/>
          </a:ln>
        </p:spPr>
      </p:sp>
      <p:sp>
        <p:nvSpPr>
          <p:cNvPr id="10" name="Text 7"/>
          <p:cNvSpPr txBox="1"/>
          <p:nvPr/>
        </p:nvSpPr>
        <p:spPr>
          <a:xfrm>
            <a:off x="6923777" y="3255264"/>
            <a:ext cx="3876261" cy="256032"/>
          </a:xfrm>
          <a:prstGeom prst="rect">
            <a:avLst/>
          </a:prstGeom>
          <a:noFill/>
          <a:ln/>
        </p:spPr>
        <p:txBody>
          <a:bodyPr wrap="square" lIns="0" tIns="0" rIns="0" bIns="0" rtlCol="0" anchor="ctr"/>
          <a:lstStyle/>
          <a:p>
            <a:pPr indent="0" marL="0">
              <a:buNone/>
            </a:pPr>
            <a:r>
              <a:rPr lang="en-US" sz="1100" i="1" dirty="0">
                <a:solidFill>
                  <a:schemeClr val="tx2"/>
                </a:solidFill>
              </a:rPr>
              <a:t>Nacelles et moteurs avant, vue de dessus</a:t>
            </a:r>
            <a:endParaRPr lang="en-US" sz="1100" dirty="0"/>
          </a:p>
        </p:txBody>
      </p:sp>
      <p:pic>
        <p:nvPicPr>
          <p:cNvPr id="11" name="Image 1" descr="Moteur, servo de basculement et nez, vue de profil">    </p:cNvPr>
          <p:cNvPicPr>
            <a:picLocks noChangeAspect="1"/>
          </p:cNvPicPr>
          <p:nvPr/>
        </p:nvPicPr>
        <p:blipFill>
          <a:blip r:embed="rId2"/>
          <a:stretch>
            <a:fillRect/>
          </a:stretch>
        </p:blipFill>
        <p:spPr>
          <a:xfrm>
            <a:off x="7550819" y="3886200"/>
            <a:ext cx="2622176" cy="1783080"/>
          </a:xfrm>
          <a:prstGeom prst="rect">
            <a:avLst/>
          </a:prstGeom>
        </p:spPr>
      </p:pic>
      <p:sp>
        <p:nvSpPr>
          <p:cNvPr id="12" name="Cadre z_nacelle"/>
          <p:cNvSpPr/>
          <p:nvPr/>
        </p:nvSpPr>
        <p:spPr>
          <a:xfrm>
            <a:off x="7550819" y="3886200"/>
            <a:ext cx="2622176" cy="1783080"/>
          </a:xfrm>
          <a:prstGeom prst="rect">
            <a:avLst/>
          </a:prstGeom>
          <a:ln w="9525">
            <a:solidFill>
              <a:schemeClr val="accent5"/>
            </a:solidFill>
            <a:prstDash val="solid"/>
          </a:ln>
        </p:spPr>
      </p:sp>
      <p:sp>
        <p:nvSpPr>
          <p:cNvPr id="13" name="Text 9"/>
          <p:cNvSpPr txBox="1"/>
          <p:nvPr/>
        </p:nvSpPr>
        <p:spPr>
          <a:xfrm>
            <a:off x="7550819" y="5724144"/>
            <a:ext cx="2622176" cy="256032"/>
          </a:xfrm>
          <a:prstGeom prst="rect">
            <a:avLst/>
          </a:prstGeom>
          <a:noFill/>
          <a:ln/>
        </p:spPr>
        <p:txBody>
          <a:bodyPr wrap="square" lIns="0" tIns="0" rIns="0" bIns="0" rtlCol="0" anchor="ctr"/>
          <a:lstStyle/>
          <a:p>
            <a:pPr indent="0" marL="0">
              <a:buNone/>
            </a:pPr>
            <a:r>
              <a:rPr lang="en-US" sz="1100" i="1" dirty="0">
                <a:solidFill>
                  <a:schemeClr val="tx2"/>
                </a:solidFill>
              </a:rPr>
              <a:t>Moteur, servo de basculement et nez, vue de profil</a:t>
            </a:r>
            <a:endParaRPr lang="en-US" sz="11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Le moteur arrière et l'empennage en V</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Israel AWADE</a:t>
            </a:r>
            <a:endParaRPr lang="en-US" sz="1000" dirty="0"/>
          </a:p>
        </p:txBody>
      </p:sp>
      <p:sp>
        <p:nvSpPr>
          <p:cNvPr id="4" name="Text 2"/>
          <p:cNvSpPr txBox="1"/>
          <p:nvPr/>
        </p:nvSpPr>
        <p:spPr>
          <a:xfrm>
            <a:off x="594360" y="1417320"/>
            <a:ext cx="5120640" cy="365760"/>
          </a:xfrm>
          <a:prstGeom prst="rect">
            <a:avLst/>
          </a:prstGeom>
          <a:noFill/>
          <a:ln/>
        </p:spPr>
        <p:txBody>
          <a:bodyPr wrap="square" lIns="0" tIns="0" rIns="0" bIns="0" rtlCol="0" anchor="ctr"/>
          <a:lstStyle/>
          <a:p>
            <a:pPr indent="0" marL="0">
              <a:buNone/>
            </a:pPr>
            <a:r>
              <a:rPr lang="en-US" sz="1800" b="1" dirty="0">
                <a:solidFill>
                  <a:schemeClr val="accent1"/>
                </a:solidFill>
              </a:rPr>
              <a:t>Moteur arrière</a:t>
            </a:r>
            <a:endParaRPr lang="en-US" sz="1800" dirty="0"/>
          </a:p>
        </p:txBody>
      </p:sp>
      <p:sp>
        <p:nvSpPr>
          <p:cNvPr id="5" name="Text 3"/>
          <p:cNvSpPr txBox="1"/>
          <p:nvPr/>
        </p:nvSpPr>
        <p:spPr>
          <a:xfrm>
            <a:off x="594360" y="1874520"/>
            <a:ext cx="5120640" cy="164592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Logé sous la queue du fuselage</a:t>
            </a:r>
            <a:endParaRPr lang="en-US" sz="1700" dirty="0"/>
          </a:p>
          <a:p>
            <a:pPr marL="228600" indent="-228600">
              <a:spcAft>
                <a:spcPts val="800"/>
              </a:spcAft>
              <a:buSzPct val="100000"/>
              <a:buChar char="•"/>
            </a:pPr>
            <a:r>
              <a:rPr lang="en-US" sz="1700" dirty="0">
                <a:solidFill>
                  <a:schemeClr val="tx1"/>
                </a:solidFill>
              </a:rPr>
              <a:t>Équilibre le drone en vol vertical</a:t>
            </a:r>
            <a:endParaRPr lang="en-US" sz="1700" dirty="0"/>
          </a:p>
          <a:p>
            <a:pPr marL="228600" indent="-228600">
              <a:spcAft>
                <a:spcPts val="800"/>
              </a:spcAft>
              <a:buSzPct val="100000"/>
              <a:buChar char="•"/>
            </a:pPr>
            <a:r>
              <a:rPr lang="en-US" sz="1700" dirty="0">
                <a:solidFill>
                  <a:schemeClr val="tx1"/>
                </a:solidFill>
              </a:rPr>
              <a:t>Arrêté en croisière</a:t>
            </a:r>
            <a:endParaRPr lang="en-US" sz="1700" dirty="0"/>
          </a:p>
        </p:txBody>
      </p:sp>
      <p:sp>
        <p:nvSpPr>
          <p:cNvPr id="6" name="Text 4"/>
          <p:cNvSpPr txBox="1"/>
          <p:nvPr/>
        </p:nvSpPr>
        <p:spPr>
          <a:xfrm>
            <a:off x="594360" y="3657600"/>
            <a:ext cx="5120640" cy="365760"/>
          </a:xfrm>
          <a:prstGeom prst="rect">
            <a:avLst/>
          </a:prstGeom>
          <a:noFill/>
          <a:ln/>
        </p:spPr>
        <p:txBody>
          <a:bodyPr wrap="square" lIns="0" tIns="0" rIns="0" bIns="0" rtlCol="0" anchor="ctr"/>
          <a:lstStyle/>
          <a:p>
            <a:pPr indent="0" marL="0">
              <a:buNone/>
            </a:pPr>
            <a:r>
              <a:rPr lang="en-US" sz="1800" b="1" dirty="0">
                <a:solidFill>
                  <a:schemeClr val="accent1"/>
                </a:solidFill>
              </a:rPr>
              <a:t>Empennage en V</a:t>
            </a:r>
            <a:endParaRPr lang="en-US" sz="1800" dirty="0"/>
          </a:p>
        </p:txBody>
      </p:sp>
      <p:sp>
        <p:nvSpPr>
          <p:cNvPr id="7" name="Text 5"/>
          <p:cNvSpPr txBox="1"/>
          <p:nvPr/>
        </p:nvSpPr>
        <p:spPr>
          <a:xfrm>
            <a:off x="594360" y="4114800"/>
            <a:ext cx="5120640" cy="173736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Deux surfaces au lieu de trois</a:t>
            </a:r>
            <a:endParaRPr lang="en-US" sz="1700" dirty="0"/>
          </a:p>
          <a:p>
            <a:pPr marL="228600" indent="-228600">
              <a:spcAft>
                <a:spcPts val="800"/>
              </a:spcAft>
              <a:buSzPct val="100000"/>
              <a:buChar char="•"/>
            </a:pPr>
            <a:r>
              <a:rPr lang="en-US" sz="1700" dirty="0">
                <a:solidFill>
                  <a:schemeClr val="tx1"/>
                </a:solidFill>
              </a:rPr>
              <a:t>Chaque gouverne agit en profondeur et en direction</a:t>
            </a:r>
            <a:endParaRPr lang="en-US" sz="1700" dirty="0"/>
          </a:p>
          <a:p>
            <a:pPr marL="228600" indent="-228600">
              <a:spcAft>
                <a:spcPts val="800"/>
              </a:spcAft>
              <a:buSzPct val="100000"/>
              <a:buChar char="•"/>
            </a:pPr>
            <a:r>
              <a:rPr lang="en-US" sz="1700" dirty="0">
                <a:solidFill>
                  <a:schemeClr val="tx1"/>
                </a:solidFill>
              </a:rPr>
              <a:t>Moins de masse et de traînée</a:t>
            </a:r>
            <a:endParaRPr lang="en-US" sz="1700" dirty="0"/>
          </a:p>
        </p:txBody>
      </p:sp>
      <p:pic>
        <p:nvPicPr>
          <p:cNvPr id="8" name="Image 0" descr="Moteur arrière et empennage en V, vue de dessus">    </p:cNvPr>
          <p:cNvPicPr>
            <a:picLocks noChangeAspect="1"/>
          </p:cNvPicPr>
          <p:nvPr/>
        </p:nvPicPr>
        <p:blipFill>
          <a:blip r:embed="rId1"/>
          <a:stretch>
            <a:fillRect/>
          </a:stretch>
        </p:blipFill>
        <p:spPr>
          <a:xfrm>
            <a:off x="7376008" y="1417320"/>
            <a:ext cx="2971800" cy="1783080"/>
          </a:xfrm>
          <a:prstGeom prst="rect">
            <a:avLst/>
          </a:prstGeom>
        </p:spPr>
      </p:pic>
      <p:sp>
        <p:nvSpPr>
          <p:cNvPr id="9" name="Cadre z_dessus_arriere"/>
          <p:cNvSpPr/>
          <p:nvPr/>
        </p:nvSpPr>
        <p:spPr>
          <a:xfrm>
            <a:off x="7376008" y="1417320"/>
            <a:ext cx="2971800" cy="1783080"/>
          </a:xfrm>
          <a:prstGeom prst="rect">
            <a:avLst/>
          </a:prstGeom>
          <a:ln w="9525">
            <a:solidFill>
              <a:schemeClr val="accent5"/>
            </a:solidFill>
            <a:prstDash val="solid"/>
          </a:ln>
        </p:spPr>
      </p:sp>
      <p:sp>
        <p:nvSpPr>
          <p:cNvPr id="10" name="Text 7"/>
          <p:cNvSpPr txBox="1"/>
          <p:nvPr/>
        </p:nvSpPr>
        <p:spPr>
          <a:xfrm>
            <a:off x="7376008" y="3255264"/>
            <a:ext cx="2971800" cy="256032"/>
          </a:xfrm>
          <a:prstGeom prst="rect">
            <a:avLst/>
          </a:prstGeom>
          <a:noFill/>
          <a:ln/>
        </p:spPr>
        <p:txBody>
          <a:bodyPr wrap="square" lIns="0" tIns="0" rIns="0" bIns="0" rtlCol="0" anchor="ctr"/>
          <a:lstStyle/>
          <a:p>
            <a:pPr indent="0" marL="0">
              <a:buNone/>
            </a:pPr>
            <a:r>
              <a:rPr lang="en-US" sz="1100" i="1" dirty="0">
                <a:solidFill>
                  <a:schemeClr val="tx2"/>
                </a:solidFill>
              </a:rPr>
              <a:t>Moteur arrière et empennage en V, vue de dessus</a:t>
            </a:r>
            <a:endParaRPr lang="en-US" sz="1100" dirty="0"/>
          </a:p>
        </p:txBody>
      </p:sp>
      <p:pic>
        <p:nvPicPr>
          <p:cNvPr id="11" name="Image 1" descr="Queue du drone, vue de profil">    </p:cNvPr>
          <p:cNvPicPr>
            <a:picLocks noChangeAspect="1"/>
          </p:cNvPicPr>
          <p:nvPr/>
        </p:nvPicPr>
        <p:blipFill>
          <a:blip r:embed="rId2"/>
          <a:stretch>
            <a:fillRect/>
          </a:stretch>
        </p:blipFill>
        <p:spPr>
          <a:xfrm>
            <a:off x="7376008" y="3886200"/>
            <a:ext cx="2971800" cy="1783080"/>
          </a:xfrm>
          <a:prstGeom prst="rect">
            <a:avLst/>
          </a:prstGeom>
        </p:spPr>
      </p:pic>
      <p:sp>
        <p:nvSpPr>
          <p:cNvPr id="12" name="Cadre z_queue"/>
          <p:cNvSpPr/>
          <p:nvPr/>
        </p:nvSpPr>
        <p:spPr>
          <a:xfrm>
            <a:off x="7376008" y="3886200"/>
            <a:ext cx="2971800" cy="1783080"/>
          </a:xfrm>
          <a:prstGeom prst="rect">
            <a:avLst/>
          </a:prstGeom>
          <a:ln w="9525">
            <a:solidFill>
              <a:schemeClr val="accent5"/>
            </a:solidFill>
            <a:prstDash val="solid"/>
          </a:ln>
        </p:spPr>
      </p:sp>
      <p:sp>
        <p:nvSpPr>
          <p:cNvPr id="13" name="Text 9"/>
          <p:cNvSpPr txBox="1"/>
          <p:nvPr/>
        </p:nvSpPr>
        <p:spPr>
          <a:xfrm>
            <a:off x="7376008" y="5724144"/>
            <a:ext cx="2971800" cy="256032"/>
          </a:xfrm>
          <a:prstGeom prst="rect">
            <a:avLst/>
          </a:prstGeom>
          <a:noFill/>
          <a:ln/>
        </p:spPr>
        <p:txBody>
          <a:bodyPr wrap="square" lIns="0" tIns="0" rIns="0" bIns="0" rtlCol="0" anchor="ctr"/>
          <a:lstStyle/>
          <a:p>
            <a:pPr indent="0" marL="0">
              <a:buNone/>
            </a:pPr>
            <a:r>
              <a:rPr lang="en-US" sz="1100" i="1" dirty="0">
                <a:solidFill>
                  <a:schemeClr val="tx2"/>
                </a:solidFill>
              </a:rPr>
              <a:t>Queue du drone, vue de profil</a:t>
            </a:r>
            <a:endParaRPr lang="en-US" sz="11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Caractéristiques principales</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Israel AWADE</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6949440" cy="914400"/>
        </p:xfrm>
        <a:graphic>
          <a:graphicData uri="http://schemas.openxmlformats.org/drawingml/2006/table">
            <a:tbl>
              <a:tblPr/>
              <a:tblGrid>
                <a:gridCol w="2743200"/>
                <a:gridCol w="4206240"/>
              </a:tblGrid>
              <a:tr h="457200">
                <a:tc>
                  <a:txBody>
                    <a:bodyPr/>
                    <a:lstStyle/>
                    <a:p>
                      <a:pPr indent="0" marL="0">
                        <a:buNone/>
                      </a:pPr>
                      <a:r>
                        <a:rPr lang="en-US" sz="1500" b="1" dirty="0">
                          <a:solidFill>
                            <a:schemeClr val="accent1"/>
                          </a:solidFill>
                        </a:rPr>
                        <a:t>Élément</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Choix retenu</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r>
              <a:tr h="457200">
                <a:tc>
                  <a:txBody>
                    <a:bodyPr/>
                    <a:lstStyle/>
                    <a:p>
                      <a:pPr indent="0" marL="0">
                        <a:buNone/>
                      </a:pPr>
                      <a:r>
                        <a:rPr lang="en-US" sz="1500" b="1" dirty="0">
                          <a:solidFill>
                            <a:schemeClr val="tx1"/>
                          </a:solidFill>
                        </a:rPr>
                        <a:t>Configuration</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VTOL à rotors basculants, trois moteurs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Propulsion</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2 moteurs avant basculants + 1 moteur arrière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Empennage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En V</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Autonomie visée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30 à 45 minutes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Contrôleur de vol</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STM32H743 sous ArduPilot</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Module IA</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Raspberry Pi 5 + AI HAT+ (Hailo-8)</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Charge utile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Caméra stabilisée jour/nuit</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Liaisons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Vidéo HD, radio chiffrée, canal d'urgence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bl>
          </a:graphicData>
        </a:graphic>
      </p:graphicFrame>
      <p:pic>
        <p:nvPicPr>
          <p:cNvPr id="5" name="Image 0" descr="Vue de profil (SolidWorks)">    </p:cNvPr>
          <p:cNvPicPr>
            <a:picLocks noChangeAspect="1"/>
          </p:cNvPicPr>
          <p:nvPr/>
        </p:nvPicPr>
        <p:blipFill>
          <a:blip r:embed="rId1"/>
          <a:stretch>
            <a:fillRect/>
          </a:stretch>
        </p:blipFill>
        <p:spPr>
          <a:xfrm>
            <a:off x="7909560" y="2331506"/>
            <a:ext cx="3687775" cy="1189148"/>
          </a:xfrm>
          <a:prstGeom prst="rect">
            <a:avLst/>
          </a:prstGeom>
        </p:spPr>
      </p:pic>
      <p:sp>
        <p:nvSpPr>
          <p:cNvPr id="6" name="Cadre cao_profil"/>
          <p:cNvSpPr/>
          <p:nvPr/>
        </p:nvSpPr>
        <p:spPr>
          <a:xfrm>
            <a:off x="7909560" y="2331506"/>
            <a:ext cx="3687775" cy="1189148"/>
          </a:xfrm>
          <a:prstGeom prst="rect">
            <a:avLst/>
          </a:prstGeom>
          <a:ln w="9525">
            <a:solidFill>
              <a:schemeClr val="accent5"/>
            </a:solidFill>
            <a:prstDash val="solid"/>
          </a:ln>
        </p:spPr>
      </p:sp>
      <p:sp>
        <p:nvSpPr>
          <p:cNvPr id="7" name="Text 3"/>
          <p:cNvSpPr txBox="1"/>
          <p:nvPr/>
        </p:nvSpPr>
        <p:spPr>
          <a:xfrm>
            <a:off x="7909560" y="3575518"/>
            <a:ext cx="3687775" cy="256032"/>
          </a:xfrm>
          <a:prstGeom prst="rect">
            <a:avLst/>
          </a:prstGeom>
          <a:noFill/>
          <a:ln/>
        </p:spPr>
        <p:txBody>
          <a:bodyPr wrap="square" lIns="0" tIns="0" rIns="0" bIns="0" rtlCol="0" anchor="ctr"/>
          <a:lstStyle/>
          <a:p>
            <a:pPr indent="0" marL="0">
              <a:buNone/>
            </a:pPr>
            <a:r>
              <a:rPr lang="en-US" sz="1100" i="1" dirty="0">
                <a:solidFill>
                  <a:schemeClr val="tx2"/>
                </a:solidFill>
              </a:rPr>
              <a:t>Vue de profil (SolidWorks)</a:t>
            </a:r>
            <a:endParaRPr lang="en-US" sz="11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Le vol : du décollage vertical à la croisière</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Angelo LOGO ADANTO</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11002975" cy="914400"/>
        </p:xfrm>
        <a:graphic>
          <a:graphicData uri="http://schemas.openxmlformats.org/drawingml/2006/table">
            <a:tbl>
              <a:tblPr/>
              <a:tblGrid>
                <a:gridCol w="2377440"/>
                <a:gridCol w="3108960"/>
                <a:gridCol w="2377440"/>
                <a:gridCol w="3139135"/>
              </a:tblGrid>
              <a:tr h="475488">
                <a:tc>
                  <a:txBody>
                    <a:bodyPr/>
                    <a:lstStyle/>
                    <a:p>
                      <a:pPr indent="0" marL="0">
                        <a:buNone/>
                      </a:pPr>
                      <a:r>
                        <a:rPr lang="en-US" sz="1600" b="1" dirty="0">
                          <a:solidFill>
                            <a:schemeClr val="accent1"/>
                          </a:solidFill>
                        </a:rPr>
                        <a:t>Phase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600" b="1" dirty="0">
                          <a:solidFill>
                            <a:schemeClr val="accent1"/>
                          </a:solidFill>
                        </a:rPr>
                        <a:t>Moteurs avant</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600" b="1" dirty="0">
                          <a:solidFill>
                            <a:schemeClr val="accent1"/>
                          </a:solidFill>
                        </a:rPr>
                        <a:t>Moteur arrière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600" b="1" dirty="0">
                          <a:solidFill>
                            <a:schemeClr val="accent1"/>
                          </a:solidFill>
                        </a:rPr>
                        <a:t>Ce qui porte le drone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r>
              <a:tr h="475488">
                <a:tc>
                  <a:txBody>
                    <a:bodyPr/>
                    <a:lstStyle/>
                    <a:p>
                      <a:pPr indent="0" marL="0">
                        <a:buNone/>
                      </a:pPr>
                      <a:r>
                        <a:rPr lang="en-US" sz="1600" b="1" dirty="0">
                          <a:solidFill>
                            <a:schemeClr val="tx1"/>
                          </a:solidFill>
                        </a:rPr>
                        <a:t>Décollage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Vers le haut</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En marche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Les trois moteurs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75488">
                <a:tc>
                  <a:txBody>
                    <a:bodyPr/>
                    <a:lstStyle/>
                    <a:p>
                      <a:pPr indent="0" marL="0">
                        <a:buNone/>
                      </a:pPr>
                      <a:r>
                        <a:rPr lang="en-US" sz="1600" b="1" dirty="0">
                          <a:solidFill>
                            <a:schemeClr val="tx1"/>
                          </a:solidFill>
                        </a:rPr>
                        <a:t>Transition</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Basculent progressivement</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En marche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Les moteurs, puis l'aile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75488">
                <a:tc>
                  <a:txBody>
                    <a:bodyPr/>
                    <a:lstStyle/>
                    <a:p>
                      <a:pPr indent="0" marL="0">
                        <a:buNone/>
                      </a:pPr>
                      <a:r>
                        <a:rPr lang="en-US" sz="1600" b="1" dirty="0">
                          <a:solidFill>
                            <a:schemeClr val="tx1"/>
                          </a:solidFill>
                        </a:rPr>
                        <a:t>Croisière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Vers l'avant, ils tirent</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Arrêté</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L'aile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75488">
                <a:tc>
                  <a:txBody>
                    <a:bodyPr/>
                    <a:lstStyle/>
                    <a:p>
                      <a:pPr indent="0" marL="0">
                        <a:buNone/>
                      </a:pPr>
                      <a:r>
                        <a:rPr lang="en-US" sz="1600" b="1" dirty="0">
                          <a:solidFill>
                            <a:schemeClr val="tx1"/>
                          </a:solidFill>
                        </a:rPr>
                        <a:t>Atterrissage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Reviennent vers le haut</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En marche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Les trois moteurs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bl>
          </a:graphicData>
        </a:graphic>
      </p:graphicFrame>
      <p:pic>
        <p:nvPicPr>
          <p:cNvPr id="5" name="Image 0" descr="Vue de face : moteurs avant en position verticale (SolidWorks)">    </p:cNvPr>
          <p:cNvPicPr>
            <a:picLocks noChangeAspect="1"/>
          </p:cNvPicPr>
          <p:nvPr/>
        </p:nvPicPr>
        <p:blipFill>
          <a:blip r:embed="rId1"/>
          <a:stretch>
            <a:fillRect/>
          </a:stretch>
        </p:blipFill>
        <p:spPr>
          <a:xfrm>
            <a:off x="2143952" y="4206240"/>
            <a:ext cx="7903792" cy="1600200"/>
          </a:xfrm>
          <a:prstGeom prst="rect">
            <a:avLst/>
          </a:prstGeom>
        </p:spPr>
      </p:pic>
      <p:sp>
        <p:nvSpPr>
          <p:cNvPr id="6" name="Cadre cao_face"/>
          <p:cNvSpPr/>
          <p:nvPr/>
        </p:nvSpPr>
        <p:spPr>
          <a:xfrm>
            <a:off x="2143952" y="4206240"/>
            <a:ext cx="7903792" cy="1600200"/>
          </a:xfrm>
          <a:prstGeom prst="rect">
            <a:avLst/>
          </a:prstGeom>
          <a:ln w="9525">
            <a:solidFill>
              <a:schemeClr val="accent5"/>
            </a:solidFill>
            <a:prstDash val="solid"/>
          </a:ln>
        </p:spPr>
      </p:sp>
      <p:sp>
        <p:nvSpPr>
          <p:cNvPr id="7" name="Text 3"/>
          <p:cNvSpPr txBox="1"/>
          <p:nvPr/>
        </p:nvSpPr>
        <p:spPr>
          <a:xfrm>
            <a:off x="2143952" y="5861304"/>
            <a:ext cx="7903792" cy="256032"/>
          </a:xfrm>
          <a:prstGeom prst="rect">
            <a:avLst/>
          </a:prstGeom>
          <a:noFill/>
          <a:ln/>
        </p:spPr>
        <p:txBody>
          <a:bodyPr wrap="square" lIns="0" tIns="0" rIns="0" bIns="0" rtlCol="0" anchor="ctr"/>
          <a:lstStyle/>
          <a:p>
            <a:pPr indent="0" marL="0">
              <a:buNone/>
            </a:pPr>
            <a:r>
              <a:rPr lang="en-US" sz="1100" i="1" dirty="0">
                <a:solidFill>
                  <a:schemeClr val="tx2"/>
                </a:solidFill>
              </a:rPr>
              <a:t>Vue de face : moteurs avant en position verticale (SolidWorks)</a:t>
            </a:r>
            <a:endParaRPr lang="en-US" sz="11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Les capteurs de navigation</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Angelo LOGO ADANTO</a:t>
            </a:r>
            <a:endParaRPr lang="en-US" sz="1000" dirty="0"/>
          </a:p>
        </p:txBody>
      </p:sp>
      <p:sp>
        <p:nvSpPr>
          <p:cNvPr id="4" name="Text 2"/>
          <p:cNvSpPr txBox="1"/>
          <p:nvPr/>
        </p:nvSpPr>
        <p:spPr>
          <a:xfrm>
            <a:off x="594360" y="1417320"/>
            <a:ext cx="5120640" cy="4389120"/>
          </a:xfrm>
          <a:prstGeom prst="rect">
            <a:avLst/>
          </a:prstGeom>
          <a:noFill/>
          <a:ln/>
        </p:spPr>
        <p:txBody>
          <a:bodyPr wrap="square" lIns="0" tIns="0" rIns="0" bIns="0" rtlCol="0" anchor="t"/>
          <a:lstStyle/>
          <a:p>
            <a:pPr indent="0" marL="0">
              <a:spcAft>
                <a:spcPts val="800"/>
              </a:spcAft>
              <a:buNone/>
            </a:pPr>
            <a:r>
              <a:rPr lang="en-US" sz="1700" b="1" dirty="0">
                <a:solidFill>
                  <a:schemeClr val="tx1"/>
                </a:solidFill>
              </a:rPr>
              <a:t>GNSS (GPS)</a:t>
            </a:r>
            <a:pPr indent="0" marL="0">
              <a:spcAft>
                <a:spcPts val="800"/>
              </a:spcAft>
              <a:buNone/>
            </a:pPr>
            <a:r>
              <a:rPr lang="en-US" sz="1700" dirty="0">
                <a:solidFill>
                  <a:schemeClr val="tx1"/>
                </a:solidFill>
              </a:rPr>
              <a:t> : deux récepteurs sur le mât, pour la position</a:t>
            </a:r>
            <a:endParaRPr lang="en-US" sz="1700" dirty="0"/>
          </a:p>
          <a:p>
            <a:pPr indent="0" marL="0">
              <a:spcAft>
                <a:spcPts val="800"/>
              </a:spcAft>
              <a:buNone/>
            </a:pPr>
            <a:r>
              <a:rPr lang="en-US" sz="1700" b="1" dirty="0">
                <a:solidFill>
                  <a:schemeClr val="tx1"/>
                </a:solidFill>
              </a:rPr>
              <a:t>Tube de Pitot</a:t>
            </a:r>
            <a:pPr indent="0" marL="0">
              <a:spcAft>
                <a:spcPts val="800"/>
              </a:spcAft>
              <a:buNone/>
            </a:pPr>
            <a:r>
              <a:rPr lang="en-US" sz="1700" dirty="0">
                <a:solidFill>
                  <a:schemeClr val="tx1"/>
                </a:solidFill>
              </a:rPr>
              <a:t> : dans le nez, pour la vitesse air</a:t>
            </a:r>
            <a:endParaRPr lang="en-US" sz="1700" dirty="0"/>
          </a:p>
          <a:p>
            <a:pPr indent="0" marL="0">
              <a:spcAft>
                <a:spcPts val="800"/>
              </a:spcAft>
              <a:buNone/>
            </a:pPr>
            <a:r>
              <a:rPr lang="en-US" sz="1700" b="1" dirty="0">
                <a:solidFill>
                  <a:schemeClr val="tx1"/>
                </a:solidFill>
              </a:rPr>
              <a:t>Centrale inertielle</a:t>
            </a:r>
            <a:pPr indent="0" marL="0">
              <a:spcAft>
                <a:spcPts val="800"/>
              </a:spcAft>
              <a:buNone/>
            </a:pPr>
            <a:r>
              <a:rPr lang="en-US" sz="1700" dirty="0">
                <a:solidFill>
                  <a:schemeClr val="tx1"/>
                </a:solidFill>
              </a:rPr>
              <a:t> : accélérations et rotations du drone</a:t>
            </a:r>
            <a:endParaRPr lang="en-US" sz="1700" dirty="0"/>
          </a:p>
          <a:p>
            <a:pPr indent="0" marL="0">
              <a:spcAft>
                <a:spcPts val="800"/>
              </a:spcAft>
              <a:buNone/>
            </a:pPr>
            <a:r>
              <a:rPr lang="en-US" sz="1700" b="1" dirty="0">
                <a:solidFill>
                  <a:schemeClr val="tx1"/>
                </a:solidFill>
              </a:rPr>
              <a:t>Baromètre</a:t>
            </a:r>
            <a:pPr indent="0" marL="0">
              <a:spcAft>
                <a:spcPts val="800"/>
              </a:spcAft>
              <a:buNone/>
            </a:pPr>
            <a:r>
              <a:rPr lang="en-US" sz="1700" dirty="0">
                <a:solidFill>
                  <a:schemeClr val="tx1"/>
                </a:solidFill>
              </a:rPr>
              <a:t> : altitude</a:t>
            </a:r>
            <a:endParaRPr lang="en-US" sz="1700" dirty="0"/>
          </a:p>
          <a:p>
            <a:pPr indent="0" marL="0">
              <a:spcAft>
                <a:spcPts val="800"/>
              </a:spcAft>
              <a:buNone/>
            </a:pPr>
            <a:r>
              <a:rPr lang="en-US" sz="1700" b="1" dirty="0">
                <a:solidFill>
                  <a:schemeClr val="tx1"/>
                </a:solidFill>
              </a:rPr>
              <a:t>Compas</a:t>
            </a:r>
            <a:pPr indent="0" marL="0">
              <a:spcAft>
                <a:spcPts val="800"/>
              </a:spcAft>
              <a:buNone/>
            </a:pPr>
            <a:r>
              <a:rPr lang="en-US" sz="1700" dirty="0">
                <a:solidFill>
                  <a:schemeClr val="tx1"/>
                </a:solidFill>
              </a:rPr>
              <a:t> : direction du nez</a:t>
            </a:r>
            <a:endParaRPr lang="en-US" sz="1700" dirty="0"/>
          </a:p>
          <a:p>
            <a:pPr indent="0" marL="0">
              <a:spcAft>
                <a:spcPts val="800"/>
              </a:spcAft>
              <a:buNone/>
            </a:pPr>
            <a:r>
              <a:rPr lang="en-US" sz="1700" b="1" dirty="0">
                <a:solidFill>
                  <a:schemeClr val="tx1"/>
                </a:solidFill>
              </a:rPr>
              <a:t>Fusion des capteurs</a:t>
            </a:r>
            <a:pPr indent="0" marL="0">
              <a:spcAft>
                <a:spcPts val="800"/>
              </a:spcAft>
              <a:buNone/>
            </a:pPr>
            <a:r>
              <a:rPr lang="en-US" sz="1700" dirty="0">
                <a:solidFill>
                  <a:schemeClr val="tx1"/>
                </a:solidFill>
              </a:rPr>
              <a:t> : le contrôleur combine tout pour savoir où il est</a:t>
            </a:r>
            <a:endParaRPr lang="en-US" sz="1700" dirty="0"/>
          </a:p>
        </p:txBody>
      </p:sp>
      <p:pic>
        <p:nvPicPr>
          <p:cNvPr id="5" name="Image 0" descr="Mât GNSS sur le dos du fuselage">    </p:cNvPr>
          <p:cNvPicPr>
            <a:picLocks noChangeAspect="1"/>
          </p:cNvPicPr>
          <p:nvPr/>
        </p:nvPicPr>
        <p:blipFill>
          <a:blip r:embed="rId1"/>
          <a:stretch>
            <a:fillRect/>
          </a:stretch>
        </p:blipFill>
        <p:spPr>
          <a:xfrm>
            <a:off x="7460916" y="1417320"/>
            <a:ext cx="2801983" cy="1783080"/>
          </a:xfrm>
          <a:prstGeom prst="rect">
            <a:avLst/>
          </a:prstGeom>
        </p:spPr>
      </p:pic>
      <p:sp>
        <p:nvSpPr>
          <p:cNvPr id="6" name="Cadre z_mat_gnss"/>
          <p:cNvSpPr/>
          <p:nvPr/>
        </p:nvSpPr>
        <p:spPr>
          <a:xfrm>
            <a:off x="7460916" y="1417320"/>
            <a:ext cx="2801983" cy="1783080"/>
          </a:xfrm>
          <a:prstGeom prst="rect">
            <a:avLst/>
          </a:prstGeom>
          <a:ln w="9525">
            <a:solidFill>
              <a:schemeClr val="accent5"/>
            </a:solidFill>
            <a:prstDash val="solid"/>
          </a:ln>
        </p:spPr>
      </p:sp>
      <p:sp>
        <p:nvSpPr>
          <p:cNvPr id="7" name="Text 4"/>
          <p:cNvSpPr txBox="1"/>
          <p:nvPr/>
        </p:nvSpPr>
        <p:spPr>
          <a:xfrm>
            <a:off x="7460916" y="3255264"/>
            <a:ext cx="2801983" cy="256032"/>
          </a:xfrm>
          <a:prstGeom prst="rect">
            <a:avLst/>
          </a:prstGeom>
          <a:noFill/>
          <a:ln/>
        </p:spPr>
        <p:txBody>
          <a:bodyPr wrap="square" lIns="0" tIns="0" rIns="0" bIns="0" rtlCol="0" anchor="ctr"/>
          <a:lstStyle/>
          <a:p>
            <a:pPr indent="0" marL="0">
              <a:buNone/>
            </a:pPr>
            <a:r>
              <a:rPr lang="en-US" sz="1100" i="1" dirty="0">
                <a:solidFill>
                  <a:schemeClr val="tx2"/>
                </a:solidFill>
              </a:rPr>
              <a:t>Mât GNSS sur le dos du fuselage</a:t>
            </a:r>
            <a:endParaRPr lang="en-US" sz="1100" dirty="0"/>
          </a:p>
        </p:txBody>
      </p:sp>
      <p:pic>
        <p:nvPicPr>
          <p:cNvPr id="8" name="Image 1" descr="Tube de Pitot dans le nez">    </p:cNvPr>
          <p:cNvPicPr>
            <a:picLocks noChangeAspect="1"/>
          </p:cNvPicPr>
          <p:nvPr/>
        </p:nvPicPr>
        <p:blipFill>
          <a:blip r:embed="rId2"/>
          <a:stretch>
            <a:fillRect/>
          </a:stretch>
        </p:blipFill>
        <p:spPr>
          <a:xfrm>
            <a:off x="7550819" y="3886200"/>
            <a:ext cx="2622176" cy="1783080"/>
          </a:xfrm>
          <a:prstGeom prst="rect">
            <a:avLst/>
          </a:prstGeom>
        </p:spPr>
      </p:pic>
      <p:sp>
        <p:nvSpPr>
          <p:cNvPr id="9" name="Cadre z_nacelle"/>
          <p:cNvSpPr/>
          <p:nvPr/>
        </p:nvSpPr>
        <p:spPr>
          <a:xfrm>
            <a:off x="7550819" y="3886200"/>
            <a:ext cx="2622176" cy="1783080"/>
          </a:xfrm>
          <a:prstGeom prst="rect">
            <a:avLst/>
          </a:prstGeom>
          <a:ln w="9525">
            <a:solidFill>
              <a:schemeClr val="accent5"/>
            </a:solidFill>
            <a:prstDash val="solid"/>
          </a:ln>
        </p:spPr>
      </p:sp>
      <p:sp>
        <p:nvSpPr>
          <p:cNvPr id="10" name="Text 6"/>
          <p:cNvSpPr txBox="1"/>
          <p:nvPr/>
        </p:nvSpPr>
        <p:spPr>
          <a:xfrm>
            <a:off x="7550819" y="5724144"/>
            <a:ext cx="2622176" cy="256032"/>
          </a:xfrm>
          <a:prstGeom prst="rect">
            <a:avLst/>
          </a:prstGeom>
          <a:noFill/>
          <a:ln/>
        </p:spPr>
        <p:txBody>
          <a:bodyPr wrap="square" lIns="0" tIns="0" rIns="0" bIns="0" rtlCol="0" anchor="ctr"/>
          <a:lstStyle/>
          <a:p>
            <a:pPr indent="0" marL="0">
              <a:buNone/>
            </a:pPr>
            <a:r>
              <a:rPr lang="en-US" sz="1100" i="1" dirty="0">
                <a:solidFill>
                  <a:schemeClr val="tx2"/>
                </a:solidFill>
              </a:rPr>
              <a:t>Tube de Pitot dans le nez</a:t>
            </a:r>
            <a:endParaRPr lang="en-US" sz="11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Architecture électronique : la sécurité d'abord</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Makafui de MEDEIROS</a:t>
            </a:r>
            <a:endParaRPr lang="en-US" sz="1000" dirty="0"/>
          </a:p>
        </p:txBody>
      </p:sp>
      <p:sp>
        <p:nvSpPr>
          <p:cNvPr id="4" name="Contrôleur de vol"/>
          <p:cNvSpPr/>
          <p:nvPr/>
        </p:nvSpPr>
        <p:spPr>
          <a:xfrm>
            <a:off x="594360" y="1417320"/>
            <a:ext cx="4572000" cy="2651760"/>
          </a:xfrm>
          <a:prstGeom prst="rect">
            <a:avLst/>
          </a:prstGeom>
          <a:solidFill>
            <a:schemeClr val="bg2"/>
          </a:solidFill>
          <a:ln w="9525">
            <a:solidFill>
              <a:schemeClr val="accent5"/>
            </a:solidFill>
            <a:prstDash val="solid"/>
          </a:ln>
        </p:spPr>
      </p:sp>
      <p:sp>
        <p:nvSpPr>
          <p:cNvPr id="5" name="Text 3"/>
          <p:cNvSpPr txBox="1"/>
          <p:nvPr/>
        </p:nvSpPr>
        <p:spPr>
          <a:xfrm>
            <a:off x="822960" y="1554480"/>
            <a:ext cx="4114800" cy="731520"/>
          </a:xfrm>
          <a:prstGeom prst="rect">
            <a:avLst/>
          </a:prstGeom>
          <a:noFill/>
          <a:ln/>
        </p:spPr>
        <p:txBody>
          <a:bodyPr wrap="square" lIns="0" tIns="0" rIns="0" bIns="0" rtlCol="0" anchor="ctr"/>
          <a:lstStyle/>
          <a:p>
            <a:pPr indent="0" marL="0">
              <a:buNone/>
            </a:pPr>
            <a:r>
              <a:rPr lang="en-US" sz="1900" b="1" dirty="0">
                <a:solidFill>
                  <a:schemeClr val="accent1"/>
                </a:solidFill>
              </a:rPr>
              <a:t>Contrôleur de vol</a:t>
            </a:r>
            <a:endParaRPr lang="en-US" sz="1900" dirty="0"/>
          </a:p>
          <a:p>
            <a:pPr indent="0" marL="0">
              <a:buNone/>
            </a:pPr>
            <a:r>
              <a:rPr lang="en-US" sz="1400" dirty="0">
                <a:solidFill>
                  <a:schemeClr val="tx2"/>
                </a:solidFill>
              </a:rPr>
              <a:t>STM32H743, Cortex-M7 à 480 MHz</a:t>
            </a:r>
            <a:endParaRPr lang="en-US" sz="1900" dirty="0"/>
          </a:p>
        </p:txBody>
      </p:sp>
      <p:sp>
        <p:nvSpPr>
          <p:cNvPr id="6" name="Text 4"/>
          <p:cNvSpPr txBox="1"/>
          <p:nvPr/>
        </p:nvSpPr>
        <p:spPr>
          <a:xfrm>
            <a:off x="822960" y="2377440"/>
            <a:ext cx="4114800" cy="160020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chemeClr val="tx1"/>
                </a:solidFill>
              </a:rPr>
              <a:t>Stabilisation, moteurs et basculement</a:t>
            </a:r>
            <a:endParaRPr lang="en-US" sz="1500" dirty="0"/>
          </a:p>
          <a:p>
            <a:pPr marL="228600" indent="-228600">
              <a:spcAft>
                <a:spcPts val="400"/>
              </a:spcAft>
              <a:buSzPct val="100000"/>
              <a:buChar char="•"/>
            </a:pPr>
            <a:r>
              <a:rPr lang="en-US" sz="1500" dirty="0">
                <a:solidFill>
                  <a:schemeClr val="tx1"/>
                </a:solidFill>
              </a:rPr>
              <a:t>Fail-safe matériel</a:t>
            </a:r>
            <a:endParaRPr lang="en-US" sz="1500" dirty="0"/>
          </a:p>
          <a:p>
            <a:pPr marL="228600" indent="-228600">
              <a:spcAft>
                <a:spcPts val="400"/>
              </a:spcAft>
              <a:buSzPct val="100000"/>
              <a:buChar char="•"/>
            </a:pPr>
            <a:r>
              <a:rPr lang="en-US" sz="1500" dirty="0">
                <a:solidFill>
                  <a:schemeClr val="tx1"/>
                </a:solidFill>
              </a:rPr>
              <a:t>Retour automatique au point de départ (RTH)</a:t>
            </a:r>
            <a:endParaRPr lang="en-US" sz="1500" dirty="0"/>
          </a:p>
          <a:p>
            <a:pPr marL="228600" indent="-228600">
              <a:spcAft>
                <a:spcPts val="400"/>
              </a:spcAft>
              <a:buSzPct val="100000"/>
              <a:buChar char="•"/>
            </a:pPr>
            <a:r>
              <a:rPr lang="en-US" sz="1500" dirty="0">
                <a:solidFill>
                  <a:schemeClr val="tx1"/>
                </a:solidFill>
              </a:rPr>
              <a:t>Fonctionne sans le module IA</a:t>
            </a:r>
            <a:endParaRPr lang="en-US" sz="1500" dirty="0"/>
          </a:p>
        </p:txBody>
      </p:sp>
      <p:sp>
        <p:nvSpPr>
          <p:cNvPr id="7" name="Module IA"/>
          <p:cNvSpPr/>
          <p:nvPr/>
        </p:nvSpPr>
        <p:spPr>
          <a:xfrm>
            <a:off x="7025335" y="1417320"/>
            <a:ext cx="4572000" cy="2651760"/>
          </a:xfrm>
          <a:prstGeom prst="rect">
            <a:avLst/>
          </a:prstGeom>
          <a:solidFill>
            <a:schemeClr val="bg2"/>
          </a:solidFill>
          <a:ln w="9525">
            <a:solidFill>
              <a:schemeClr val="accent5"/>
            </a:solidFill>
            <a:prstDash val="solid"/>
          </a:ln>
        </p:spPr>
      </p:sp>
      <p:sp>
        <p:nvSpPr>
          <p:cNvPr id="8" name="Text 6"/>
          <p:cNvSpPr txBox="1"/>
          <p:nvPr/>
        </p:nvSpPr>
        <p:spPr>
          <a:xfrm>
            <a:off x="7253935" y="1554480"/>
            <a:ext cx="4114800" cy="731520"/>
          </a:xfrm>
          <a:prstGeom prst="rect">
            <a:avLst/>
          </a:prstGeom>
          <a:noFill/>
          <a:ln/>
        </p:spPr>
        <p:txBody>
          <a:bodyPr wrap="square" lIns="0" tIns="0" rIns="0" bIns="0" rtlCol="0" anchor="ctr"/>
          <a:lstStyle/>
          <a:p>
            <a:pPr indent="0" marL="0">
              <a:buNone/>
            </a:pPr>
            <a:r>
              <a:rPr lang="en-US" sz="1900" b="1" dirty="0">
                <a:solidFill>
                  <a:schemeClr val="accent1"/>
                </a:solidFill>
              </a:rPr>
              <a:t>Module IA</a:t>
            </a:r>
            <a:endParaRPr lang="en-US" sz="1900" dirty="0"/>
          </a:p>
          <a:p>
            <a:pPr indent="0" marL="0">
              <a:buNone/>
            </a:pPr>
            <a:r>
              <a:rPr lang="en-US" sz="1400" dirty="0">
                <a:solidFill>
                  <a:schemeClr val="tx2"/>
                </a:solidFill>
              </a:rPr>
              <a:t>Raspberry Pi 5 + AI HAT+ (Hailo-8, 26 TOPS)</a:t>
            </a:r>
            <a:endParaRPr lang="en-US" sz="1900" dirty="0"/>
          </a:p>
        </p:txBody>
      </p:sp>
      <p:sp>
        <p:nvSpPr>
          <p:cNvPr id="9" name="Text 7"/>
          <p:cNvSpPr txBox="1"/>
          <p:nvPr/>
        </p:nvSpPr>
        <p:spPr>
          <a:xfrm>
            <a:off x="7253935" y="2377440"/>
            <a:ext cx="4114800" cy="160020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chemeClr val="tx1"/>
                </a:solidFill>
              </a:rPr>
              <a:t>Analyse des images à bord</a:t>
            </a:r>
            <a:endParaRPr lang="en-US" sz="1500" dirty="0"/>
          </a:p>
          <a:p>
            <a:pPr marL="228600" indent="-228600">
              <a:spcAft>
                <a:spcPts val="400"/>
              </a:spcAft>
              <a:buSzPct val="100000"/>
              <a:buChar char="•"/>
            </a:pPr>
            <a:r>
              <a:rPr lang="en-US" sz="1500" dirty="0">
                <a:solidFill>
                  <a:schemeClr val="tx1"/>
                </a:solidFill>
              </a:rPr>
              <a:t>Alertes avec image de preuve</a:t>
            </a:r>
            <a:endParaRPr lang="en-US" sz="1500" dirty="0"/>
          </a:p>
          <a:p>
            <a:pPr marL="228600" indent="-228600">
              <a:spcAft>
                <a:spcPts val="400"/>
              </a:spcAft>
              <a:buSzPct val="100000"/>
              <a:buChar char="•"/>
            </a:pPr>
            <a:r>
              <a:rPr lang="en-US" sz="1500" dirty="0">
                <a:solidFill>
                  <a:schemeClr val="tx1"/>
                </a:solidFill>
              </a:rPr>
              <a:t>Journal local des détections</a:t>
            </a:r>
            <a:endParaRPr lang="en-US" sz="1500" dirty="0"/>
          </a:p>
          <a:p>
            <a:pPr marL="228600" indent="-228600">
              <a:spcAft>
                <a:spcPts val="400"/>
              </a:spcAft>
              <a:buSzPct val="100000"/>
              <a:buChar char="•"/>
            </a:pPr>
            <a:r>
              <a:rPr lang="en-US" sz="1500" dirty="0">
                <a:solidFill>
                  <a:schemeClr val="tx1"/>
                </a:solidFill>
              </a:rPr>
              <a:t>Ne commande jamais les moteurs</a:t>
            </a:r>
            <a:endParaRPr lang="en-US" sz="1500" dirty="0"/>
          </a:p>
        </p:txBody>
      </p:sp>
      <p:sp>
        <p:nvSpPr>
          <p:cNvPr id="10" name="Text 8"/>
          <p:cNvSpPr txBox="1"/>
          <p:nvPr/>
        </p:nvSpPr>
        <p:spPr>
          <a:xfrm>
            <a:off x="5394960" y="2103120"/>
            <a:ext cx="1401775" cy="320040"/>
          </a:xfrm>
          <a:prstGeom prst="rect">
            <a:avLst/>
          </a:prstGeom>
          <a:noFill/>
          <a:ln/>
        </p:spPr>
        <p:txBody>
          <a:bodyPr wrap="square" lIns="0" tIns="0" rIns="0" bIns="0" rtlCol="0" anchor="ctr"/>
          <a:lstStyle/>
          <a:p>
            <a:pPr algn="ctr" indent="0" marL="0">
              <a:buNone/>
            </a:pPr>
            <a:r>
              <a:rPr lang="en-US" sz="1500" b="1" dirty="0">
                <a:solidFill>
                  <a:schemeClr val="tx1"/>
                </a:solidFill>
              </a:rPr>
              <a:t>MAVLink</a:t>
            </a:r>
            <a:endParaRPr lang="en-US" sz="1500" dirty="0"/>
          </a:p>
        </p:txBody>
      </p:sp>
      <p:sp>
        <p:nvSpPr>
          <p:cNvPr id="11" name="Shape 9"/>
          <p:cNvSpPr/>
          <p:nvPr/>
        </p:nvSpPr>
        <p:spPr>
          <a:xfrm>
            <a:off x="5394960" y="2560320"/>
            <a:ext cx="1401775" cy="0"/>
          </a:xfrm>
          <a:prstGeom prst="line">
            <a:avLst/>
          </a:prstGeom>
          <a:noFill/>
          <a:ln w="19050">
            <a:solidFill>
              <a:schemeClr val="tx2"/>
            </a:solidFill>
            <a:prstDash val="solid"/>
            <a:headEnd type="triangle"/>
            <a:tailEnd type="triangle"/>
          </a:ln>
        </p:spPr>
      </p:sp>
      <p:sp>
        <p:nvSpPr>
          <p:cNvPr id="12" name="Text 10"/>
          <p:cNvSpPr txBox="1"/>
          <p:nvPr/>
        </p:nvSpPr>
        <p:spPr>
          <a:xfrm>
            <a:off x="5394960" y="2697480"/>
            <a:ext cx="1401775" cy="822960"/>
          </a:xfrm>
          <a:prstGeom prst="rect">
            <a:avLst/>
          </a:prstGeom>
          <a:noFill/>
          <a:ln/>
        </p:spPr>
        <p:txBody>
          <a:bodyPr wrap="square" lIns="0" tIns="0" rIns="0" bIns="0" rtlCol="0" anchor="t"/>
          <a:lstStyle/>
          <a:p>
            <a:pPr algn="ctr" indent="0" marL="0">
              <a:buNone/>
            </a:pPr>
            <a:r>
              <a:rPr lang="en-US" sz="1200" dirty="0">
                <a:solidFill>
                  <a:schemeClr val="tx2"/>
                </a:solidFill>
              </a:rPr>
              <a:t>position vers le module IA</a:t>
            </a:r>
            <a:endParaRPr lang="en-US" sz="1200" dirty="0"/>
          </a:p>
          <a:p>
            <a:pPr algn="ctr" indent="0" marL="0">
              <a:buNone/>
            </a:pPr>
            <a:r>
              <a:rPr lang="en-US" sz="1200" dirty="0">
                <a:solidFill>
                  <a:schemeClr val="tx2"/>
                </a:solidFill>
              </a:rPr>
              <a:t>alertes vers le sol</a:t>
            </a:r>
            <a:endParaRPr lang="en-US" sz="1200" dirty="0"/>
          </a:p>
        </p:txBody>
      </p:sp>
      <p:sp>
        <p:nvSpPr>
          <p:cNvPr id="13" name="Text 11"/>
          <p:cNvSpPr txBox="1"/>
          <p:nvPr/>
        </p:nvSpPr>
        <p:spPr>
          <a:xfrm>
            <a:off x="594360" y="4297680"/>
            <a:ext cx="11002975" cy="365760"/>
          </a:xfrm>
          <a:prstGeom prst="rect">
            <a:avLst/>
          </a:prstGeom>
          <a:noFill/>
          <a:ln/>
        </p:spPr>
        <p:txBody>
          <a:bodyPr wrap="square" lIns="0" tIns="0" rIns="0" bIns="0" rtlCol="0" anchor="ctr"/>
          <a:lstStyle/>
          <a:p>
            <a:pPr indent="0" marL="0">
              <a:buNone/>
            </a:pPr>
            <a:r>
              <a:rPr lang="en-US" sz="1800" b="1" dirty="0">
                <a:solidFill>
                  <a:schemeClr val="accent1"/>
                </a:solidFill>
              </a:rPr>
              <a:t>Pourquoi deux calculateurs séparés ?</a:t>
            </a:r>
            <a:endParaRPr lang="en-US" sz="1800" dirty="0"/>
          </a:p>
        </p:txBody>
      </p:sp>
      <p:sp>
        <p:nvSpPr>
          <p:cNvPr id="14" name="Text 12"/>
          <p:cNvSpPr txBox="1"/>
          <p:nvPr/>
        </p:nvSpPr>
        <p:spPr>
          <a:xfrm>
            <a:off x="594360" y="4754880"/>
            <a:ext cx="11002975" cy="10058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Si le module IA plante ou chauffe, le vol n'est pas touché</a:t>
            </a:r>
            <a:endParaRPr lang="en-US" sz="1600" dirty="0"/>
          </a:p>
          <a:p>
            <a:pPr marL="228600" indent="-228600">
              <a:spcAft>
                <a:spcPts val="800"/>
              </a:spcAft>
              <a:buSzPct val="100000"/>
              <a:buChar char="•"/>
            </a:pPr>
            <a:r>
              <a:rPr lang="en-US" sz="1600" dirty="0">
                <a:solidFill>
                  <a:schemeClr val="tx1"/>
                </a:solidFill>
              </a:rPr>
              <a:t>Le contrôleur de vol garde des temps de réponse garantis</a:t>
            </a:r>
            <a:endParaRPr lang="en-US" sz="1600" dirty="0"/>
          </a:p>
          <a:p>
            <a:pPr marL="228600" indent="-228600">
              <a:spcAft>
                <a:spcPts val="800"/>
              </a:spcAft>
              <a:buSzPct val="100000"/>
              <a:buChar char="•"/>
            </a:pPr>
            <a:r>
              <a:rPr lang="en-US" sz="1600" dirty="0">
                <a:solidFill>
                  <a:schemeClr val="tx1"/>
                </a:solidFill>
              </a:rPr>
              <a:t>Le retour automatique reste disponible même si l'IA est éteinte</a:t>
            </a:r>
            <a:endParaRPr lang="en-US" sz="1600" dirty="0"/>
          </a:p>
        </p:txBody>
      </p:sp>
      <p:sp>
        <p:nvSpPr>
          <p:cNvPr id="15" name="Text 13"/>
          <p:cNvSpPr txBox="1"/>
          <p:nvPr/>
        </p:nvSpPr>
        <p:spPr>
          <a:xfrm>
            <a:off x="594360" y="5897880"/>
            <a:ext cx="11002975" cy="274320"/>
          </a:xfrm>
          <a:prstGeom prst="rect">
            <a:avLst/>
          </a:prstGeom>
          <a:noFill/>
          <a:ln/>
        </p:spPr>
        <p:txBody>
          <a:bodyPr wrap="square" lIns="0" tIns="0" rIns="0" bIns="0" rtlCol="0" anchor="ctr"/>
          <a:lstStyle/>
          <a:p>
            <a:pPr indent="0" marL="0">
              <a:buNone/>
            </a:pPr>
            <a:r>
              <a:rPr lang="en-US" sz="1200" i="1" dirty="0">
                <a:solidFill>
                  <a:schemeClr val="tx2"/>
                </a:solidFill>
              </a:rPr>
              <a:t>En secours : contrôleur du commerce compatible ArduPilot (Matek H743 ou Pixhawk).</a:t>
            </a:r>
            <a:endParaRPr lang="en-US" sz="12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Énergie, pilotage et mission</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Israel AWADE</a:t>
            </a:r>
            <a:endParaRPr lang="en-US" sz="1000" dirty="0"/>
          </a:p>
        </p:txBody>
      </p:sp>
      <p:sp>
        <p:nvSpPr>
          <p:cNvPr id="4" name="Text 2"/>
          <p:cNvSpPr txBox="1"/>
          <p:nvPr/>
        </p:nvSpPr>
        <p:spPr>
          <a:xfrm>
            <a:off x="594360" y="1371600"/>
            <a:ext cx="5486400" cy="320040"/>
          </a:xfrm>
          <a:prstGeom prst="rect">
            <a:avLst/>
          </a:prstGeom>
          <a:noFill/>
          <a:ln/>
        </p:spPr>
        <p:txBody>
          <a:bodyPr wrap="square" lIns="0" tIns="0" rIns="0" bIns="0" rtlCol="0" anchor="ctr"/>
          <a:lstStyle/>
          <a:p>
            <a:pPr indent="0" marL="0">
              <a:buNone/>
            </a:pPr>
            <a:r>
              <a:rPr lang="en-US" sz="1600" b="1" dirty="0">
                <a:solidFill>
                  <a:schemeClr val="accent1"/>
                </a:solidFill>
              </a:rPr>
              <a:t>Énergie</a:t>
            </a:r>
            <a:endParaRPr lang="en-US" sz="1600" dirty="0"/>
          </a:p>
        </p:txBody>
      </p:sp>
      <p:sp>
        <p:nvSpPr>
          <p:cNvPr id="5" name="Étape 1"/>
          <p:cNvSpPr/>
          <p:nvPr/>
        </p:nvSpPr>
        <p:spPr>
          <a:xfrm>
            <a:off x="594360" y="1737360"/>
            <a:ext cx="2531288" cy="914400"/>
          </a:xfrm>
          <a:prstGeom prst="rect">
            <a:avLst/>
          </a:prstGeom>
          <a:solidFill>
            <a:schemeClr val="bg2"/>
          </a:solidFill>
          <a:ln w="9525">
            <a:solidFill>
              <a:schemeClr val="accent5"/>
            </a:solidFill>
            <a:prstDash val="solid"/>
          </a:ln>
        </p:spPr>
      </p:sp>
      <p:sp>
        <p:nvSpPr>
          <p:cNvPr id="6" name="Text 4"/>
          <p:cNvSpPr txBox="1"/>
          <p:nvPr/>
        </p:nvSpPr>
        <p:spPr>
          <a:xfrm>
            <a:off x="685800" y="1810512"/>
            <a:ext cx="2348408" cy="768096"/>
          </a:xfrm>
          <a:prstGeom prst="rect">
            <a:avLst/>
          </a:prstGeom>
          <a:noFill/>
          <a:ln/>
        </p:spPr>
        <p:txBody>
          <a:bodyPr wrap="square" lIns="0" tIns="0" rIns="0" bIns="0" rtlCol="0" anchor="ctr"/>
          <a:lstStyle/>
          <a:p>
            <a:pPr algn="ctr" indent="0" marL="0">
              <a:buNone/>
            </a:pPr>
            <a:r>
              <a:rPr lang="en-US" sz="1500" b="1" dirty="0">
                <a:solidFill>
                  <a:schemeClr val="tx1"/>
                </a:solidFill>
              </a:rPr>
              <a:t>Batterie LiPo</a:t>
            </a:r>
            <a:endParaRPr lang="en-US" sz="1500" dirty="0"/>
          </a:p>
          <a:p>
            <a:pPr algn="ctr" indent="0" marL="0">
              <a:buNone/>
            </a:pPr>
            <a:r>
              <a:rPr lang="en-US" sz="1200" dirty="0">
                <a:solidFill>
                  <a:schemeClr val="tx2"/>
                </a:solidFill>
              </a:rPr>
              <a:t>source d'énergie</a:t>
            </a:r>
            <a:endParaRPr lang="en-US" sz="1500" dirty="0"/>
          </a:p>
        </p:txBody>
      </p:sp>
      <p:sp>
        <p:nvSpPr>
          <p:cNvPr id="7" name="Shape 5"/>
          <p:cNvSpPr/>
          <p:nvPr/>
        </p:nvSpPr>
        <p:spPr>
          <a:xfrm>
            <a:off x="3162224" y="2194560"/>
            <a:ext cx="219456" cy="0"/>
          </a:xfrm>
          <a:prstGeom prst="line">
            <a:avLst/>
          </a:prstGeom>
          <a:noFill/>
          <a:ln w="19050">
            <a:solidFill>
              <a:schemeClr val="tx2"/>
            </a:solidFill>
            <a:prstDash val="solid"/>
            <a:tailEnd type="triangle"/>
          </a:ln>
        </p:spPr>
      </p:sp>
      <p:sp>
        <p:nvSpPr>
          <p:cNvPr id="8" name="Étape 2"/>
          <p:cNvSpPr/>
          <p:nvPr/>
        </p:nvSpPr>
        <p:spPr>
          <a:xfrm>
            <a:off x="3418256" y="1737360"/>
            <a:ext cx="2531288" cy="914400"/>
          </a:xfrm>
          <a:prstGeom prst="rect">
            <a:avLst/>
          </a:prstGeom>
          <a:solidFill>
            <a:schemeClr val="bg2"/>
          </a:solidFill>
          <a:ln w="9525">
            <a:solidFill>
              <a:schemeClr val="accent5"/>
            </a:solidFill>
            <a:prstDash val="solid"/>
          </a:ln>
        </p:spPr>
      </p:sp>
      <p:sp>
        <p:nvSpPr>
          <p:cNvPr id="9" name="Text 7"/>
          <p:cNvSpPr txBox="1"/>
          <p:nvPr/>
        </p:nvSpPr>
        <p:spPr>
          <a:xfrm>
            <a:off x="3509696" y="1810512"/>
            <a:ext cx="2348408" cy="768096"/>
          </a:xfrm>
          <a:prstGeom prst="rect">
            <a:avLst/>
          </a:prstGeom>
          <a:noFill/>
          <a:ln/>
        </p:spPr>
        <p:txBody>
          <a:bodyPr wrap="square" lIns="0" tIns="0" rIns="0" bIns="0" rtlCol="0" anchor="ctr"/>
          <a:lstStyle/>
          <a:p>
            <a:pPr algn="ctr" indent="0" marL="0">
              <a:buNone/>
            </a:pPr>
            <a:r>
              <a:rPr lang="en-US" sz="1500" b="1" dirty="0">
                <a:solidFill>
                  <a:schemeClr val="tx1"/>
                </a:solidFill>
              </a:rPr>
              <a:t>Module de puissance</a:t>
            </a:r>
            <a:endParaRPr lang="en-US" sz="1500" dirty="0"/>
          </a:p>
          <a:p>
            <a:pPr algn="ctr" indent="0" marL="0">
              <a:buNone/>
            </a:pPr>
            <a:r>
              <a:rPr lang="en-US" sz="1200" dirty="0">
                <a:solidFill>
                  <a:schemeClr val="tx2"/>
                </a:solidFill>
              </a:rPr>
              <a:t>mesure tension et courant</a:t>
            </a:r>
            <a:endParaRPr lang="en-US" sz="1500" dirty="0"/>
          </a:p>
        </p:txBody>
      </p:sp>
      <p:sp>
        <p:nvSpPr>
          <p:cNvPr id="10" name="Shape 8"/>
          <p:cNvSpPr/>
          <p:nvPr/>
        </p:nvSpPr>
        <p:spPr>
          <a:xfrm>
            <a:off x="5986120" y="2194560"/>
            <a:ext cx="219456" cy="0"/>
          </a:xfrm>
          <a:prstGeom prst="line">
            <a:avLst/>
          </a:prstGeom>
          <a:noFill/>
          <a:ln w="19050">
            <a:solidFill>
              <a:schemeClr val="tx2"/>
            </a:solidFill>
            <a:prstDash val="solid"/>
            <a:tailEnd type="triangle"/>
          </a:ln>
        </p:spPr>
      </p:sp>
      <p:sp>
        <p:nvSpPr>
          <p:cNvPr id="11" name="Étape 3"/>
          <p:cNvSpPr/>
          <p:nvPr/>
        </p:nvSpPr>
        <p:spPr>
          <a:xfrm>
            <a:off x="6242152" y="1737360"/>
            <a:ext cx="2531288" cy="914400"/>
          </a:xfrm>
          <a:prstGeom prst="rect">
            <a:avLst/>
          </a:prstGeom>
          <a:solidFill>
            <a:schemeClr val="bg2"/>
          </a:solidFill>
          <a:ln w="9525">
            <a:solidFill>
              <a:schemeClr val="accent5"/>
            </a:solidFill>
            <a:prstDash val="solid"/>
          </a:ln>
        </p:spPr>
      </p:sp>
      <p:sp>
        <p:nvSpPr>
          <p:cNvPr id="12" name="Text 10"/>
          <p:cNvSpPr txBox="1"/>
          <p:nvPr/>
        </p:nvSpPr>
        <p:spPr>
          <a:xfrm>
            <a:off x="6333592" y="1810512"/>
            <a:ext cx="2348408" cy="768096"/>
          </a:xfrm>
          <a:prstGeom prst="rect">
            <a:avLst/>
          </a:prstGeom>
          <a:noFill/>
          <a:ln/>
        </p:spPr>
        <p:txBody>
          <a:bodyPr wrap="square" lIns="0" tIns="0" rIns="0" bIns="0" rtlCol="0" anchor="ctr"/>
          <a:lstStyle/>
          <a:p>
            <a:pPr algn="ctr" indent="0" marL="0">
              <a:buNone/>
            </a:pPr>
            <a:r>
              <a:rPr lang="en-US" sz="1500" b="1" dirty="0">
                <a:solidFill>
                  <a:schemeClr val="tx1"/>
                </a:solidFill>
              </a:rPr>
              <a:t>Variateurs (ESC) ×3</a:t>
            </a:r>
            <a:endParaRPr lang="en-US" sz="1500" dirty="0"/>
          </a:p>
          <a:p>
            <a:pPr algn="ctr" indent="0" marL="0">
              <a:buNone/>
            </a:pPr>
            <a:r>
              <a:rPr lang="en-US" sz="1200" dirty="0">
                <a:solidFill>
                  <a:schemeClr val="tx2"/>
                </a:solidFill>
              </a:rPr>
              <a:t>règlent la vitesse</a:t>
            </a:r>
            <a:endParaRPr lang="en-US" sz="1500" dirty="0"/>
          </a:p>
        </p:txBody>
      </p:sp>
      <p:sp>
        <p:nvSpPr>
          <p:cNvPr id="13" name="Shape 11"/>
          <p:cNvSpPr/>
          <p:nvPr/>
        </p:nvSpPr>
        <p:spPr>
          <a:xfrm>
            <a:off x="8810015" y="2194560"/>
            <a:ext cx="219456" cy="0"/>
          </a:xfrm>
          <a:prstGeom prst="line">
            <a:avLst/>
          </a:prstGeom>
          <a:noFill/>
          <a:ln w="19050">
            <a:solidFill>
              <a:schemeClr val="tx2"/>
            </a:solidFill>
            <a:prstDash val="solid"/>
            <a:tailEnd type="triangle"/>
          </a:ln>
        </p:spPr>
      </p:sp>
      <p:sp>
        <p:nvSpPr>
          <p:cNvPr id="14" name="Étape 4"/>
          <p:cNvSpPr/>
          <p:nvPr/>
        </p:nvSpPr>
        <p:spPr>
          <a:xfrm>
            <a:off x="9066047" y="1737360"/>
            <a:ext cx="2531288" cy="914400"/>
          </a:xfrm>
          <a:prstGeom prst="rect">
            <a:avLst/>
          </a:prstGeom>
          <a:solidFill>
            <a:schemeClr val="bg2"/>
          </a:solidFill>
          <a:ln w="9525">
            <a:solidFill>
              <a:schemeClr val="accent5"/>
            </a:solidFill>
            <a:prstDash val="solid"/>
          </a:ln>
        </p:spPr>
      </p:sp>
      <p:sp>
        <p:nvSpPr>
          <p:cNvPr id="15" name="Text 13"/>
          <p:cNvSpPr txBox="1"/>
          <p:nvPr/>
        </p:nvSpPr>
        <p:spPr>
          <a:xfrm>
            <a:off x="9157487" y="1810512"/>
            <a:ext cx="2348408" cy="768096"/>
          </a:xfrm>
          <a:prstGeom prst="rect">
            <a:avLst/>
          </a:prstGeom>
          <a:noFill/>
          <a:ln/>
        </p:spPr>
        <p:txBody>
          <a:bodyPr wrap="square" lIns="0" tIns="0" rIns="0" bIns="0" rtlCol="0" anchor="ctr"/>
          <a:lstStyle/>
          <a:p>
            <a:pPr algn="ctr" indent="0" marL="0">
              <a:buNone/>
            </a:pPr>
            <a:r>
              <a:rPr lang="en-US" sz="1500" b="1" dirty="0">
                <a:solidFill>
                  <a:schemeClr val="tx1"/>
                </a:solidFill>
              </a:rPr>
              <a:t>Moteurs ×3</a:t>
            </a:r>
            <a:endParaRPr lang="en-US" sz="1500" dirty="0"/>
          </a:p>
          <a:p>
            <a:pPr algn="ctr" indent="0" marL="0">
              <a:buNone/>
            </a:pPr>
            <a:r>
              <a:rPr lang="en-US" sz="1200" dirty="0">
                <a:solidFill>
                  <a:schemeClr val="tx2"/>
                </a:solidFill>
              </a:rPr>
              <a:t>2 avant, 1 arrière</a:t>
            </a:r>
            <a:endParaRPr lang="en-US" sz="1500" dirty="0"/>
          </a:p>
        </p:txBody>
      </p:sp>
      <p:sp>
        <p:nvSpPr>
          <p:cNvPr id="16" name="Text 14"/>
          <p:cNvSpPr txBox="1"/>
          <p:nvPr/>
        </p:nvSpPr>
        <p:spPr>
          <a:xfrm>
            <a:off x="594360" y="2926080"/>
            <a:ext cx="5486400" cy="320040"/>
          </a:xfrm>
          <a:prstGeom prst="rect">
            <a:avLst/>
          </a:prstGeom>
          <a:noFill/>
          <a:ln/>
        </p:spPr>
        <p:txBody>
          <a:bodyPr wrap="square" lIns="0" tIns="0" rIns="0" bIns="0" rtlCol="0" anchor="ctr"/>
          <a:lstStyle/>
          <a:p>
            <a:pPr indent="0" marL="0">
              <a:buNone/>
            </a:pPr>
            <a:r>
              <a:rPr lang="en-US" sz="1600" b="1" dirty="0">
                <a:solidFill>
                  <a:schemeClr val="accent1"/>
                </a:solidFill>
              </a:rPr>
              <a:t>Pilotage</a:t>
            </a:r>
            <a:endParaRPr lang="en-US" sz="1600" dirty="0"/>
          </a:p>
        </p:txBody>
      </p:sp>
      <p:sp>
        <p:nvSpPr>
          <p:cNvPr id="17" name="Étape 1"/>
          <p:cNvSpPr/>
          <p:nvPr/>
        </p:nvSpPr>
        <p:spPr>
          <a:xfrm>
            <a:off x="594360" y="3291840"/>
            <a:ext cx="2531288" cy="914400"/>
          </a:xfrm>
          <a:prstGeom prst="rect">
            <a:avLst/>
          </a:prstGeom>
          <a:solidFill>
            <a:schemeClr val="bg2"/>
          </a:solidFill>
          <a:ln w="9525">
            <a:solidFill>
              <a:schemeClr val="accent5"/>
            </a:solidFill>
            <a:prstDash val="solid"/>
          </a:ln>
        </p:spPr>
      </p:sp>
      <p:sp>
        <p:nvSpPr>
          <p:cNvPr id="18" name="Text 16"/>
          <p:cNvSpPr txBox="1"/>
          <p:nvPr/>
        </p:nvSpPr>
        <p:spPr>
          <a:xfrm>
            <a:off x="685800" y="3364992"/>
            <a:ext cx="2348408" cy="768096"/>
          </a:xfrm>
          <a:prstGeom prst="rect">
            <a:avLst/>
          </a:prstGeom>
          <a:noFill/>
          <a:ln/>
        </p:spPr>
        <p:txBody>
          <a:bodyPr wrap="square" lIns="0" tIns="0" rIns="0" bIns="0" rtlCol="0" anchor="ctr"/>
          <a:lstStyle/>
          <a:p>
            <a:pPr algn="ctr" indent="0" marL="0">
              <a:buNone/>
            </a:pPr>
            <a:r>
              <a:rPr lang="en-US" sz="1500" b="1" dirty="0">
                <a:solidFill>
                  <a:schemeClr val="tx1"/>
                </a:solidFill>
              </a:rPr>
              <a:t>Capteurs</a:t>
            </a:r>
            <a:endParaRPr lang="en-US" sz="1500" dirty="0"/>
          </a:p>
          <a:p>
            <a:pPr algn="ctr" indent="0" marL="0">
              <a:buNone/>
            </a:pPr>
            <a:r>
              <a:rPr lang="en-US" sz="1200" dirty="0">
                <a:solidFill>
                  <a:schemeClr val="tx2"/>
                </a:solidFill>
              </a:rPr>
              <a:t>GNSS ×2, Pitot, IMU</a:t>
            </a:r>
            <a:endParaRPr lang="en-US" sz="1500" dirty="0"/>
          </a:p>
        </p:txBody>
      </p:sp>
      <p:sp>
        <p:nvSpPr>
          <p:cNvPr id="19" name="Shape 17"/>
          <p:cNvSpPr/>
          <p:nvPr/>
        </p:nvSpPr>
        <p:spPr>
          <a:xfrm>
            <a:off x="3162224" y="3749040"/>
            <a:ext cx="219456" cy="0"/>
          </a:xfrm>
          <a:prstGeom prst="line">
            <a:avLst/>
          </a:prstGeom>
          <a:noFill/>
          <a:ln w="19050">
            <a:solidFill>
              <a:schemeClr val="tx2"/>
            </a:solidFill>
            <a:prstDash val="solid"/>
            <a:tailEnd type="triangle"/>
          </a:ln>
        </p:spPr>
      </p:sp>
      <p:sp>
        <p:nvSpPr>
          <p:cNvPr id="20" name="Étape 2"/>
          <p:cNvSpPr/>
          <p:nvPr/>
        </p:nvSpPr>
        <p:spPr>
          <a:xfrm>
            <a:off x="3418256" y="3291840"/>
            <a:ext cx="2531288" cy="914400"/>
          </a:xfrm>
          <a:prstGeom prst="rect">
            <a:avLst/>
          </a:prstGeom>
          <a:solidFill>
            <a:schemeClr val="bg2"/>
          </a:solidFill>
          <a:ln w="9525">
            <a:solidFill>
              <a:schemeClr val="accent5"/>
            </a:solidFill>
            <a:prstDash val="solid"/>
          </a:ln>
        </p:spPr>
      </p:sp>
      <p:sp>
        <p:nvSpPr>
          <p:cNvPr id="21" name="Text 19"/>
          <p:cNvSpPr txBox="1"/>
          <p:nvPr/>
        </p:nvSpPr>
        <p:spPr>
          <a:xfrm>
            <a:off x="3509696" y="3364992"/>
            <a:ext cx="2348408" cy="768096"/>
          </a:xfrm>
          <a:prstGeom prst="rect">
            <a:avLst/>
          </a:prstGeom>
          <a:noFill/>
          <a:ln/>
        </p:spPr>
        <p:txBody>
          <a:bodyPr wrap="square" lIns="0" tIns="0" rIns="0" bIns="0" rtlCol="0" anchor="ctr"/>
          <a:lstStyle/>
          <a:p>
            <a:pPr algn="ctr" indent="0" marL="0">
              <a:buNone/>
            </a:pPr>
            <a:r>
              <a:rPr lang="en-US" sz="1500" b="1" dirty="0">
                <a:solidFill>
                  <a:schemeClr val="tx1"/>
                </a:solidFill>
              </a:rPr>
              <a:t>Contrôleur de vol</a:t>
            </a:r>
            <a:endParaRPr lang="en-US" sz="1500" dirty="0"/>
          </a:p>
          <a:p>
            <a:pPr algn="ctr" indent="0" marL="0">
              <a:buNone/>
            </a:pPr>
            <a:r>
              <a:rPr lang="en-US" sz="1200" dirty="0">
                <a:solidFill>
                  <a:schemeClr val="tx2"/>
                </a:solidFill>
              </a:rPr>
              <a:t>STM32H743, ArduPilot</a:t>
            </a:r>
            <a:endParaRPr lang="en-US" sz="1500" dirty="0"/>
          </a:p>
        </p:txBody>
      </p:sp>
      <p:sp>
        <p:nvSpPr>
          <p:cNvPr id="22" name="Shape 20"/>
          <p:cNvSpPr/>
          <p:nvPr/>
        </p:nvSpPr>
        <p:spPr>
          <a:xfrm>
            <a:off x="5986120" y="3749040"/>
            <a:ext cx="219456" cy="0"/>
          </a:xfrm>
          <a:prstGeom prst="line">
            <a:avLst/>
          </a:prstGeom>
          <a:noFill/>
          <a:ln w="19050">
            <a:solidFill>
              <a:schemeClr val="tx2"/>
            </a:solidFill>
            <a:prstDash val="solid"/>
            <a:tailEnd type="triangle"/>
          </a:ln>
        </p:spPr>
      </p:sp>
      <p:sp>
        <p:nvSpPr>
          <p:cNvPr id="23" name="Étape 3"/>
          <p:cNvSpPr/>
          <p:nvPr/>
        </p:nvSpPr>
        <p:spPr>
          <a:xfrm>
            <a:off x="6242152" y="3291840"/>
            <a:ext cx="2531288" cy="914400"/>
          </a:xfrm>
          <a:prstGeom prst="rect">
            <a:avLst/>
          </a:prstGeom>
          <a:solidFill>
            <a:schemeClr val="bg2"/>
          </a:solidFill>
          <a:ln w="9525">
            <a:solidFill>
              <a:schemeClr val="accent5"/>
            </a:solidFill>
            <a:prstDash val="solid"/>
          </a:ln>
        </p:spPr>
      </p:sp>
      <p:sp>
        <p:nvSpPr>
          <p:cNvPr id="24" name="Text 22"/>
          <p:cNvSpPr txBox="1"/>
          <p:nvPr/>
        </p:nvSpPr>
        <p:spPr>
          <a:xfrm>
            <a:off x="6333592" y="3364992"/>
            <a:ext cx="2348408" cy="768096"/>
          </a:xfrm>
          <a:prstGeom prst="rect">
            <a:avLst/>
          </a:prstGeom>
          <a:noFill/>
          <a:ln/>
        </p:spPr>
        <p:txBody>
          <a:bodyPr wrap="square" lIns="0" tIns="0" rIns="0" bIns="0" rtlCol="0" anchor="ctr"/>
          <a:lstStyle/>
          <a:p>
            <a:pPr algn="ctr" indent="0" marL="0">
              <a:buNone/>
            </a:pPr>
            <a:r>
              <a:rPr lang="en-US" sz="1500" b="1" dirty="0">
                <a:solidFill>
                  <a:schemeClr val="tx1"/>
                </a:solidFill>
              </a:rPr>
              <a:t>Servos</a:t>
            </a:r>
            <a:endParaRPr lang="en-US" sz="1500" dirty="0"/>
          </a:p>
          <a:p>
            <a:pPr algn="ctr" indent="0" marL="0">
              <a:buNone/>
            </a:pPr>
            <a:r>
              <a:rPr lang="en-US" sz="1200" dirty="0">
                <a:solidFill>
                  <a:schemeClr val="tx2"/>
                </a:solidFill>
              </a:rPr>
              <a:t>basculement ×2, empennage V ×2</a:t>
            </a:r>
            <a:endParaRPr lang="en-US" sz="1500" dirty="0"/>
          </a:p>
        </p:txBody>
      </p:sp>
      <p:sp>
        <p:nvSpPr>
          <p:cNvPr id="25" name="Shape 23"/>
          <p:cNvSpPr/>
          <p:nvPr/>
        </p:nvSpPr>
        <p:spPr>
          <a:xfrm>
            <a:off x="8810015" y="3749040"/>
            <a:ext cx="219456" cy="0"/>
          </a:xfrm>
          <a:prstGeom prst="line">
            <a:avLst/>
          </a:prstGeom>
          <a:noFill/>
          <a:ln w="19050">
            <a:solidFill>
              <a:schemeClr val="tx2"/>
            </a:solidFill>
            <a:prstDash val="solid"/>
            <a:tailEnd type="triangle"/>
          </a:ln>
        </p:spPr>
      </p:sp>
      <p:sp>
        <p:nvSpPr>
          <p:cNvPr id="26" name="Étape 4"/>
          <p:cNvSpPr/>
          <p:nvPr/>
        </p:nvSpPr>
        <p:spPr>
          <a:xfrm>
            <a:off x="9066047" y="3291840"/>
            <a:ext cx="2531288" cy="914400"/>
          </a:xfrm>
          <a:prstGeom prst="rect">
            <a:avLst/>
          </a:prstGeom>
          <a:solidFill>
            <a:schemeClr val="bg2"/>
          </a:solidFill>
          <a:ln w="9525">
            <a:solidFill>
              <a:schemeClr val="accent5"/>
            </a:solidFill>
            <a:prstDash val="solid"/>
          </a:ln>
        </p:spPr>
      </p:sp>
      <p:sp>
        <p:nvSpPr>
          <p:cNvPr id="27" name="Text 25"/>
          <p:cNvSpPr txBox="1"/>
          <p:nvPr/>
        </p:nvSpPr>
        <p:spPr>
          <a:xfrm>
            <a:off x="9157487" y="3364992"/>
            <a:ext cx="2348408" cy="768096"/>
          </a:xfrm>
          <a:prstGeom prst="rect">
            <a:avLst/>
          </a:prstGeom>
          <a:noFill/>
          <a:ln/>
        </p:spPr>
        <p:txBody>
          <a:bodyPr wrap="square" lIns="0" tIns="0" rIns="0" bIns="0" rtlCol="0" anchor="ctr"/>
          <a:lstStyle/>
          <a:p>
            <a:pPr algn="ctr" indent="0" marL="0">
              <a:buNone/>
            </a:pPr>
            <a:r>
              <a:rPr lang="en-US" sz="1500" b="1" dirty="0">
                <a:solidFill>
                  <a:schemeClr val="tx1"/>
                </a:solidFill>
              </a:rPr>
              <a:t>Liaisons radio</a:t>
            </a:r>
            <a:endParaRPr lang="en-US" sz="1500" dirty="0"/>
          </a:p>
          <a:p>
            <a:pPr algn="ctr" indent="0" marL="0">
              <a:buNone/>
            </a:pPr>
            <a:r>
              <a:rPr lang="en-US" sz="1200" dirty="0">
                <a:solidFill>
                  <a:schemeClr val="tx2"/>
                </a:solidFill>
              </a:rPr>
              <a:t>vidéo, télémétrie, urgence</a:t>
            </a:r>
            <a:endParaRPr lang="en-US" sz="1500" dirty="0"/>
          </a:p>
        </p:txBody>
      </p:sp>
      <p:sp>
        <p:nvSpPr>
          <p:cNvPr id="28" name="Text 26"/>
          <p:cNvSpPr txBox="1"/>
          <p:nvPr/>
        </p:nvSpPr>
        <p:spPr>
          <a:xfrm>
            <a:off x="594360" y="4480560"/>
            <a:ext cx="5486400" cy="320040"/>
          </a:xfrm>
          <a:prstGeom prst="rect">
            <a:avLst/>
          </a:prstGeom>
          <a:noFill/>
          <a:ln/>
        </p:spPr>
        <p:txBody>
          <a:bodyPr wrap="square" lIns="0" tIns="0" rIns="0" bIns="0" rtlCol="0" anchor="ctr"/>
          <a:lstStyle/>
          <a:p>
            <a:pPr indent="0" marL="0">
              <a:buNone/>
            </a:pPr>
            <a:r>
              <a:rPr lang="en-US" sz="1600" b="1" dirty="0">
                <a:solidFill>
                  <a:schemeClr val="accent1"/>
                </a:solidFill>
              </a:rPr>
              <a:t>Mission</a:t>
            </a:r>
            <a:endParaRPr lang="en-US" sz="1600" dirty="0"/>
          </a:p>
        </p:txBody>
      </p:sp>
      <p:sp>
        <p:nvSpPr>
          <p:cNvPr id="29" name="Étape 1"/>
          <p:cNvSpPr/>
          <p:nvPr/>
        </p:nvSpPr>
        <p:spPr>
          <a:xfrm>
            <a:off x="594360" y="4846320"/>
            <a:ext cx="2531288" cy="914400"/>
          </a:xfrm>
          <a:prstGeom prst="rect">
            <a:avLst/>
          </a:prstGeom>
          <a:solidFill>
            <a:schemeClr val="bg2"/>
          </a:solidFill>
          <a:ln w="9525">
            <a:solidFill>
              <a:schemeClr val="accent5"/>
            </a:solidFill>
            <a:prstDash val="solid"/>
          </a:ln>
        </p:spPr>
      </p:sp>
      <p:sp>
        <p:nvSpPr>
          <p:cNvPr id="30" name="Text 28"/>
          <p:cNvSpPr txBox="1"/>
          <p:nvPr/>
        </p:nvSpPr>
        <p:spPr>
          <a:xfrm>
            <a:off x="685800" y="4919472"/>
            <a:ext cx="2348408" cy="768096"/>
          </a:xfrm>
          <a:prstGeom prst="rect">
            <a:avLst/>
          </a:prstGeom>
          <a:noFill/>
          <a:ln/>
        </p:spPr>
        <p:txBody>
          <a:bodyPr wrap="square" lIns="0" tIns="0" rIns="0" bIns="0" rtlCol="0" anchor="ctr"/>
          <a:lstStyle/>
          <a:p>
            <a:pPr algn="ctr" indent="0" marL="0">
              <a:buNone/>
            </a:pPr>
            <a:r>
              <a:rPr lang="en-US" sz="1500" b="1" dirty="0">
                <a:solidFill>
                  <a:schemeClr val="tx1"/>
                </a:solidFill>
              </a:rPr>
              <a:t>Caméra</a:t>
            </a:r>
            <a:endParaRPr lang="en-US" sz="1500" dirty="0"/>
          </a:p>
          <a:p>
            <a:pPr algn="ctr" indent="0" marL="0">
              <a:buNone/>
            </a:pPr>
            <a:r>
              <a:rPr lang="en-US" sz="1200" dirty="0">
                <a:solidFill>
                  <a:schemeClr val="tx2"/>
                </a:solidFill>
              </a:rPr>
              <a:t>stabilisée jour/nuit</a:t>
            </a:r>
            <a:endParaRPr lang="en-US" sz="1500" dirty="0"/>
          </a:p>
        </p:txBody>
      </p:sp>
      <p:sp>
        <p:nvSpPr>
          <p:cNvPr id="31" name="Shape 29"/>
          <p:cNvSpPr/>
          <p:nvPr/>
        </p:nvSpPr>
        <p:spPr>
          <a:xfrm>
            <a:off x="3162224" y="5303520"/>
            <a:ext cx="219456" cy="0"/>
          </a:xfrm>
          <a:prstGeom prst="line">
            <a:avLst/>
          </a:prstGeom>
          <a:noFill/>
          <a:ln w="19050">
            <a:solidFill>
              <a:schemeClr val="tx2"/>
            </a:solidFill>
            <a:prstDash val="solid"/>
            <a:tailEnd type="triangle"/>
          </a:ln>
        </p:spPr>
      </p:sp>
      <p:sp>
        <p:nvSpPr>
          <p:cNvPr id="32" name="Étape 2"/>
          <p:cNvSpPr/>
          <p:nvPr/>
        </p:nvSpPr>
        <p:spPr>
          <a:xfrm>
            <a:off x="3418256" y="4846320"/>
            <a:ext cx="2531288" cy="914400"/>
          </a:xfrm>
          <a:prstGeom prst="rect">
            <a:avLst/>
          </a:prstGeom>
          <a:solidFill>
            <a:schemeClr val="bg2"/>
          </a:solidFill>
          <a:ln w="9525">
            <a:solidFill>
              <a:schemeClr val="accent5"/>
            </a:solidFill>
            <a:prstDash val="solid"/>
          </a:ln>
        </p:spPr>
      </p:sp>
      <p:sp>
        <p:nvSpPr>
          <p:cNvPr id="33" name="Text 31"/>
          <p:cNvSpPr txBox="1"/>
          <p:nvPr/>
        </p:nvSpPr>
        <p:spPr>
          <a:xfrm>
            <a:off x="3509696" y="4919472"/>
            <a:ext cx="2348408" cy="768096"/>
          </a:xfrm>
          <a:prstGeom prst="rect">
            <a:avLst/>
          </a:prstGeom>
          <a:noFill/>
          <a:ln/>
        </p:spPr>
        <p:txBody>
          <a:bodyPr wrap="square" lIns="0" tIns="0" rIns="0" bIns="0" rtlCol="0" anchor="ctr"/>
          <a:lstStyle/>
          <a:p>
            <a:pPr algn="ctr" indent="0" marL="0">
              <a:buNone/>
            </a:pPr>
            <a:r>
              <a:rPr lang="en-US" sz="1500" b="1" dirty="0">
                <a:solidFill>
                  <a:schemeClr val="tx1"/>
                </a:solidFill>
              </a:rPr>
              <a:t>Raspberry Pi 5</a:t>
            </a:r>
            <a:endParaRPr lang="en-US" sz="1500" dirty="0"/>
          </a:p>
          <a:p>
            <a:pPr algn="ctr" indent="0" marL="0">
              <a:buNone/>
            </a:pPr>
            <a:r>
              <a:rPr lang="en-US" sz="1200" dirty="0">
                <a:solidFill>
                  <a:schemeClr val="tx2"/>
                </a:solidFill>
              </a:rPr>
              <a:t>+ Hailo-8</a:t>
            </a:r>
            <a:endParaRPr lang="en-US" sz="1500" dirty="0"/>
          </a:p>
        </p:txBody>
      </p:sp>
      <p:sp>
        <p:nvSpPr>
          <p:cNvPr id="34" name="Shape 32"/>
          <p:cNvSpPr/>
          <p:nvPr/>
        </p:nvSpPr>
        <p:spPr>
          <a:xfrm>
            <a:off x="5986120" y="5303520"/>
            <a:ext cx="219456" cy="0"/>
          </a:xfrm>
          <a:prstGeom prst="line">
            <a:avLst/>
          </a:prstGeom>
          <a:noFill/>
          <a:ln w="19050">
            <a:solidFill>
              <a:schemeClr val="tx2"/>
            </a:solidFill>
            <a:prstDash val="solid"/>
            <a:tailEnd type="triangle"/>
          </a:ln>
        </p:spPr>
      </p:sp>
      <p:sp>
        <p:nvSpPr>
          <p:cNvPr id="35" name="Étape 3"/>
          <p:cNvSpPr/>
          <p:nvPr/>
        </p:nvSpPr>
        <p:spPr>
          <a:xfrm>
            <a:off x="6242152" y="4846320"/>
            <a:ext cx="2531288" cy="914400"/>
          </a:xfrm>
          <a:prstGeom prst="rect">
            <a:avLst/>
          </a:prstGeom>
          <a:solidFill>
            <a:schemeClr val="bg2"/>
          </a:solidFill>
          <a:ln w="9525">
            <a:solidFill>
              <a:schemeClr val="accent5"/>
            </a:solidFill>
            <a:prstDash val="solid"/>
          </a:ln>
        </p:spPr>
      </p:sp>
      <p:sp>
        <p:nvSpPr>
          <p:cNvPr id="36" name="Text 34"/>
          <p:cNvSpPr txBox="1"/>
          <p:nvPr/>
        </p:nvSpPr>
        <p:spPr>
          <a:xfrm>
            <a:off x="6333592" y="4919472"/>
            <a:ext cx="2348408" cy="768096"/>
          </a:xfrm>
          <a:prstGeom prst="rect">
            <a:avLst/>
          </a:prstGeom>
          <a:noFill/>
          <a:ln/>
        </p:spPr>
        <p:txBody>
          <a:bodyPr wrap="square" lIns="0" tIns="0" rIns="0" bIns="0" rtlCol="0" anchor="ctr"/>
          <a:lstStyle/>
          <a:p>
            <a:pPr algn="ctr" indent="0" marL="0">
              <a:buNone/>
            </a:pPr>
            <a:r>
              <a:rPr lang="en-US" sz="1500" b="1" dirty="0">
                <a:solidFill>
                  <a:schemeClr val="tx1"/>
                </a:solidFill>
              </a:rPr>
              <a:t>Alerte</a:t>
            </a:r>
            <a:endParaRPr lang="en-US" sz="1500" dirty="0"/>
          </a:p>
          <a:p>
            <a:pPr algn="ctr" indent="0" marL="0">
              <a:buNone/>
            </a:pPr>
            <a:r>
              <a:rPr lang="en-US" sz="1200" dirty="0">
                <a:solidFill>
                  <a:schemeClr val="tx2"/>
                </a:solidFill>
              </a:rPr>
              <a:t>image de preuve</a:t>
            </a:r>
            <a:endParaRPr lang="en-US" sz="1500" dirty="0"/>
          </a:p>
        </p:txBody>
      </p:sp>
      <p:sp>
        <p:nvSpPr>
          <p:cNvPr id="37" name="Shape 35"/>
          <p:cNvSpPr/>
          <p:nvPr/>
        </p:nvSpPr>
        <p:spPr>
          <a:xfrm>
            <a:off x="8810015" y="5303520"/>
            <a:ext cx="219456" cy="0"/>
          </a:xfrm>
          <a:prstGeom prst="line">
            <a:avLst/>
          </a:prstGeom>
          <a:noFill/>
          <a:ln w="19050">
            <a:solidFill>
              <a:schemeClr val="tx2"/>
            </a:solidFill>
            <a:prstDash val="solid"/>
            <a:tailEnd type="triangle"/>
          </a:ln>
        </p:spPr>
      </p:sp>
      <p:sp>
        <p:nvSpPr>
          <p:cNvPr id="38" name="Étape 4"/>
          <p:cNvSpPr/>
          <p:nvPr/>
        </p:nvSpPr>
        <p:spPr>
          <a:xfrm>
            <a:off x="9066047" y="4846320"/>
            <a:ext cx="2531288" cy="914400"/>
          </a:xfrm>
          <a:prstGeom prst="rect">
            <a:avLst/>
          </a:prstGeom>
          <a:solidFill>
            <a:schemeClr val="bg2"/>
          </a:solidFill>
          <a:ln w="9525">
            <a:solidFill>
              <a:schemeClr val="accent5"/>
            </a:solidFill>
            <a:prstDash val="solid"/>
          </a:ln>
        </p:spPr>
      </p:sp>
      <p:sp>
        <p:nvSpPr>
          <p:cNvPr id="39" name="Text 37"/>
          <p:cNvSpPr txBox="1"/>
          <p:nvPr/>
        </p:nvSpPr>
        <p:spPr>
          <a:xfrm>
            <a:off x="9157487" y="4919472"/>
            <a:ext cx="2348408" cy="768096"/>
          </a:xfrm>
          <a:prstGeom prst="rect">
            <a:avLst/>
          </a:prstGeom>
          <a:noFill/>
          <a:ln/>
        </p:spPr>
        <p:txBody>
          <a:bodyPr wrap="square" lIns="0" tIns="0" rIns="0" bIns="0" rtlCol="0" anchor="ctr"/>
          <a:lstStyle/>
          <a:p>
            <a:pPr algn="ctr" indent="0" marL="0">
              <a:buNone/>
            </a:pPr>
            <a:r>
              <a:rPr lang="en-US" sz="1500" b="1" dirty="0">
                <a:solidFill>
                  <a:schemeClr val="tx1"/>
                </a:solidFill>
              </a:rPr>
              <a:t>Station sol</a:t>
            </a:r>
            <a:endParaRPr lang="en-US" sz="1500" dirty="0"/>
          </a:p>
          <a:p>
            <a:pPr algn="ctr" indent="0" marL="0">
              <a:buNone/>
            </a:pPr>
            <a:r>
              <a:rPr lang="en-US" sz="1200" dirty="0">
                <a:solidFill>
                  <a:schemeClr val="tx2"/>
                </a:solidFill>
              </a:rPr>
              <a:t>opérateur</a:t>
            </a:r>
            <a:endParaRPr lang="en-US" sz="1500" dirty="0"/>
          </a:p>
        </p:txBody>
      </p:sp>
      <p:sp>
        <p:nvSpPr>
          <p:cNvPr id="40" name="Text 38"/>
          <p:cNvSpPr txBox="1"/>
          <p:nvPr/>
        </p:nvSpPr>
        <p:spPr>
          <a:xfrm>
            <a:off x="594360" y="5989320"/>
            <a:ext cx="11002975" cy="274320"/>
          </a:xfrm>
          <a:prstGeom prst="rect">
            <a:avLst/>
          </a:prstGeom>
          <a:noFill/>
          <a:ln/>
        </p:spPr>
        <p:txBody>
          <a:bodyPr wrap="square" lIns="0" tIns="0" rIns="0" bIns="0" rtlCol="0" anchor="ctr"/>
          <a:lstStyle/>
          <a:p>
            <a:pPr indent="0" marL="0">
              <a:buNone/>
            </a:pPr>
            <a:r>
              <a:rPr lang="en-US" sz="1200" i="1" dirty="0">
                <a:solidFill>
                  <a:schemeClr val="tx2"/>
                </a:solidFill>
              </a:rPr>
              <a:t>Alimentations séparées : 5 V propre pour les radios, 5 V / 5 A dédié au Raspberry Pi.</a:t>
            </a:r>
            <a:endParaRPr lang="en-US" sz="12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Le module d'intelligence artificielle</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Roger KAINWANG</a:t>
            </a:r>
            <a:endParaRPr lang="en-US" sz="1000" dirty="0"/>
          </a:p>
        </p:txBody>
      </p:sp>
      <p:sp>
        <p:nvSpPr>
          <p:cNvPr id="4" name="Étape 1"/>
          <p:cNvSpPr/>
          <p:nvPr/>
        </p:nvSpPr>
        <p:spPr>
          <a:xfrm>
            <a:off x="594360" y="1463040"/>
            <a:ext cx="1589989" cy="1051560"/>
          </a:xfrm>
          <a:prstGeom prst="rect">
            <a:avLst/>
          </a:prstGeom>
          <a:solidFill>
            <a:schemeClr val="bg2"/>
          </a:solidFill>
          <a:ln w="9525">
            <a:solidFill>
              <a:schemeClr val="accent5"/>
            </a:solidFill>
            <a:prstDash val="solid"/>
          </a:ln>
        </p:spPr>
      </p:sp>
      <p:sp>
        <p:nvSpPr>
          <p:cNvPr id="5" name="Text 3"/>
          <p:cNvSpPr txBox="1"/>
          <p:nvPr/>
        </p:nvSpPr>
        <p:spPr>
          <a:xfrm>
            <a:off x="685800" y="1536192"/>
            <a:ext cx="1407109" cy="905256"/>
          </a:xfrm>
          <a:prstGeom prst="rect">
            <a:avLst/>
          </a:prstGeom>
          <a:noFill/>
          <a:ln/>
        </p:spPr>
        <p:txBody>
          <a:bodyPr wrap="square" lIns="0" tIns="0" rIns="0" bIns="0" rtlCol="0" anchor="ctr"/>
          <a:lstStyle/>
          <a:p>
            <a:pPr algn="ctr" indent="0" marL="0">
              <a:buNone/>
            </a:pPr>
            <a:r>
              <a:rPr lang="en-US" sz="1500" b="1" dirty="0">
                <a:solidFill>
                  <a:schemeClr val="tx1"/>
                </a:solidFill>
              </a:rPr>
              <a:t>Caméra</a:t>
            </a:r>
            <a:endParaRPr lang="en-US" sz="1500" dirty="0"/>
          </a:p>
          <a:p>
            <a:pPr algn="ctr" indent="0" marL="0">
              <a:buNone/>
            </a:pPr>
            <a:r>
              <a:rPr lang="en-US" sz="1200" dirty="0">
                <a:solidFill>
                  <a:schemeClr val="tx2"/>
                </a:solidFill>
              </a:rPr>
              <a:t>images horodatées</a:t>
            </a:r>
            <a:endParaRPr lang="en-US" sz="1500" dirty="0"/>
          </a:p>
        </p:txBody>
      </p:sp>
      <p:sp>
        <p:nvSpPr>
          <p:cNvPr id="6" name="Shape 4"/>
          <p:cNvSpPr/>
          <p:nvPr/>
        </p:nvSpPr>
        <p:spPr>
          <a:xfrm>
            <a:off x="2220925" y="1988820"/>
            <a:ext cx="219456" cy="0"/>
          </a:xfrm>
          <a:prstGeom prst="line">
            <a:avLst/>
          </a:prstGeom>
          <a:noFill/>
          <a:ln w="19050">
            <a:solidFill>
              <a:schemeClr val="tx2"/>
            </a:solidFill>
            <a:prstDash val="solid"/>
            <a:tailEnd type="triangle"/>
          </a:ln>
        </p:spPr>
      </p:sp>
      <p:sp>
        <p:nvSpPr>
          <p:cNvPr id="7" name="Étape 2"/>
          <p:cNvSpPr/>
          <p:nvPr/>
        </p:nvSpPr>
        <p:spPr>
          <a:xfrm>
            <a:off x="2476957" y="1463040"/>
            <a:ext cx="1589989" cy="1051560"/>
          </a:xfrm>
          <a:prstGeom prst="rect">
            <a:avLst/>
          </a:prstGeom>
          <a:solidFill>
            <a:schemeClr val="bg2"/>
          </a:solidFill>
          <a:ln w="9525">
            <a:solidFill>
              <a:schemeClr val="accent5"/>
            </a:solidFill>
            <a:prstDash val="solid"/>
          </a:ln>
        </p:spPr>
      </p:sp>
      <p:sp>
        <p:nvSpPr>
          <p:cNvPr id="8" name="Text 6"/>
          <p:cNvSpPr txBox="1"/>
          <p:nvPr/>
        </p:nvSpPr>
        <p:spPr>
          <a:xfrm>
            <a:off x="2568397" y="1536192"/>
            <a:ext cx="1407109" cy="905256"/>
          </a:xfrm>
          <a:prstGeom prst="rect">
            <a:avLst/>
          </a:prstGeom>
          <a:noFill/>
          <a:ln/>
        </p:spPr>
        <p:txBody>
          <a:bodyPr wrap="square" lIns="0" tIns="0" rIns="0" bIns="0" rtlCol="0" anchor="ctr"/>
          <a:lstStyle/>
          <a:p>
            <a:pPr algn="ctr" indent="0" marL="0">
              <a:buNone/>
            </a:pPr>
            <a:r>
              <a:rPr lang="en-US" sz="1500" b="1" dirty="0">
                <a:solidFill>
                  <a:schemeClr val="tx1"/>
                </a:solidFill>
              </a:rPr>
              <a:t>Détection</a:t>
            </a:r>
            <a:endParaRPr lang="en-US" sz="1500" dirty="0"/>
          </a:p>
          <a:p>
            <a:pPr algn="ctr" indent="0" marL="0">
              <a:buNone/>
            </a:pPr>
            <a:r>
              <a:rPr lang="en-US" sz="1200" dirty="0">
                <a:solidFill>
                  <a:schemeClr val="tx2"/>
                </a:solidFill>
              </a:rPr>
              <a:t>YOLOv8s sur Hailo-8</a:t>
            </a:r>
            <a:endParaRPr lang="en-US" sz="1500" dirty="0"/>
          </a:p>
        </p:txBody>
      </p:sp>
      <p:sp>
        <p:nvSpPr>
          <p:cNvPr id="9" name="Shape 7"/>
          <p:cNvSpPr/>
          <p:nvPr/>
        </p:nvSpPr>
        <p:spPr>
          <a:xfrm>
            <a:off x="4103522" y="1988820"/>
            <a:ext cx="219456" cy="0"/>
          </a:xfrm>
          <a:prstGeom prst="line">
            <a:avLst/>
          </a:prstGeom>
          <a:noFill/>
          <a:ln w="19050">
            <a:solidFill>
              <a:schemeClr val="tx2"/>
            </a:solidFill>
            <a:prstDash val="solid"/>
            <a:tailEnd type="triangle"/>
          </a:ln>
        </p:spPr>
      </p:sp>
      <p:sp>
        <p:nvSpPr>
          <p:cNvPr id="10" name="Étape 3"/>
          <p:cNvSpPr/>
          <p:nvPr/>
        </p:nvSpPr>
        <p:spPr>
          <a:xfrm>
            <a:off x="4359554" y="1463040"/>
            <a:ext cx="1589989" cy="1051560"/>
          </a:xfrm>
          <a:prstGeom prst="rect">
            <a:avLst/>
          </a:prstGeom>
          <a:solidFill>
            <a:schemeClr val="bg2"/>
          </a:solidFill>
          <a:ln w="9525">
            <a:solidFill>
              <a:schemeClr val="accent5"/>
            </a:solidFill>
            <a:prstDash val="solid"/>
          </a:ln>
        </p:spPr>
      </p:sp>
      <p:sp>
        <p:nvSpPr>
          <p:cNvPr id="11" name="Text 9"/>
          <p:cNvSpPr txBox="1"/>
          <p:nvPr/>
        </p:nvSpPr>
        <p:spPr>
          <a:xfrm>
            <a:off x="4450994" y="1536192"/>
            <a:ext cx="1407109" cy="905256"/>
          </a:xfrm>
          <a:prstGeom prst="rect">
            <a:avLst/>
          </a:prstGeom>
          <a:noFill/>
          <a:ln/>
        </p:spPr>
        <p:txBody>
          <a:bodyPr wrap="square" lIns="0" tIns="0" rIns="0" bIns="0" rtlCol="0" anchor="ctr"/>
          <a:lstStyle/>
          <a:p>
            <a:pPr algn="ctr" indent="0" marL="0">
              <a:buNone/>
            </a:pPr>
            <a:r>
              <a:rPr lang="en-US" sz="1500" b="1" dirty="0">
                <a:solidFill>
                  <a:schemeClr val="tx1"/>
                </a:solidFill>
              </a:rPr>
              <a:t>Zone d'intérêt</a:t>
            </a:r>
            <a:endParaRPr lang="en-US" sz="1500" dirty="0"/>
          </a:p>
          <a:p>
            <a:pPr algn="ctr" indent="0" marL="0">
              <a:buNone/>
            </a:pPr>
            <a:r>
              <a:rPr lang="en-US" sz="1200" dirty="0">
                <a:solidFill>
                  <a:schemeClr val="tx2"/>
                </a:solidFill>
              </a:rPr>
              <a:t>piste et abords</a:t>
            </a:r>
            <a:endParaRPr lang="en-US" sz="1500" dirty="0"/>
          </a:p>
        </p:txBody>
      </p:sp>
      <p:sp>
        <p:nvSpPr>
          <p:cNvPr id="12" name="Shape 10"/>
          <p:cNvSpPr/>
          <p:nvPr/>
        </p:nvSpPr>
        <p:spPr>
          <a:xfrm>
            <a:off x="5986120" y="1988820"/>
            <a:ext cx="219456" cy="0"/>
          </a:xfrm>
          <a:prstGeom prst="line">
            <a:avLst/>
          </a:prstGeom>
          <a:noFill/>
          <a:ln w="19050">
            <a:solidFill>
              <a:schemeClr val="tx2"/>
            </a:solidFill>
            <a:prstDash val="solid"/>
            <a:tailEnd type="triangle"/>
          </a:ln>
        </p:spPr>
      </p:sp>
      <p:sp>
        <p:nvSpPr>
          <p:cNvPr id="13" name="Étape 4"/>
          <p:cNvSpPr/>
          <p:nvPr/>
        </p:nvSpPr>
        <p:spPr>
          <a:xfrm>
            <a:off x="6242152" y="1463040"/>
            <a:ext cx="1589989" cy="1051560"/>
          </a:xfrm>
          <a:prstGeom prst="rect">
            <a:avLst/>
          </a:prstGeom>
          <a:solidFill>
            <a:schemeClr val="bg2"/>
          </a:solidFill>
          <a:ln w="9525">
            <a:solidFill>
              <a:schemeClr val="accent5"/>
            </a:solidFill>
            <a:prstDash val="solid"/>
          </a:ln>
        </p:spPr>
      </p:sp>
      <p:sp>
        <p:nvSpPr>
          <p:cNvPr id="14" name="Text 12"/>
          <p:cNvSpPr txBox="1"/>
          <p:nvPr/>
        </p:nvSpPr>
        <p:spPr>
          <a:xfrm>
            <a:off x="6333592" y="1536192"/>
            <a:ext cx="1407109" cy="905256"/>
          </a:xfrm>
          <a:prstGeom prst="rect">
            <a:avLst/>
          </a:prstGeom>
          <a:noFill/>
          <a:ln/>
        </p:spPr>
        <p:txBody>
          <a:bodyPr wrap="square" lIns="0" tIns="0" rIns="0" bIns="0" rtlCol="0" anchor="ctr"/>
          <a:lstStyle/>
          <a:p>
            <a:pPr algn="ctr" indent="0" marL="0">
              <a:buNone/>
            </a:pPr>
            <a:r>
              <a:rPr lang="en-US" sz="1500" b="1" dirty="0">
                <a:solidFill>
                  <a:schemeClr val="tx1"/>
                </a:solidFill>
              </a:rPr>
              <a:t>Suivi</a:t>
            </a:r>
            <a:endParaRPr lang="en-US" sz="1500" dirty="0"/>
          </a:p>
          <a:p>
            <a:pPr algn="ctr" indent="0" marL="0">
              <a:buNone/>
            </a:pPr>
            <a:r>
              <a:rPr lang="en-US" sz="1200" dirty="0">
                <a:solidFill>
                  <a:schemeClr val="tx2"/>
                </a:solidFill>
              </a:rPr>
              <a:t>un objet, une alerte</a:t>
            </a:r>
            <a:endParaRPr lang="en-US" sz="1500" dirty="0"/>
          </a:p>
        </p:txBody>
      </p:sp>
      <p:sp>
        <p:nvSpPr>
          <p:cNvPr id="15" name="Shape 13"/>
          <p:cNvSpPr/>
          <p:nvPr/>
        </p:nvSpPr>
        <p:spPr>
          <a:xfrm>
            <a:off x="7868717" y="1988820"/>
            <a:ext cx="219456" cy="0"/>
          </a:xfrm>
          <a:prstGeom prst="line">
            <a:avLst/>
          </a:prstGeom>
          <a:noFill/>
          <a:ln w="19050">
            <a:solidFill>
              <a:schemeClr val="tx2"/>
            </a:solidFill>
            <a:prstDash val="solid"/>
            <a:tailEnd type="triangle"/>
          </a:ln>
        </p:spPr>
      </p:sp>
      <p:sp>
        <p:nvSpPr>
          <p:cNvPr id="16" name="Étape 5"/>
          <p:cNvSpPr/>
          <p:nvPr/>
        </p:nvSpPr>
        <p:spPr>
          <a:xfrm>
            <a:off x="8124749" y="1463040"/>
            <a:ext cx="1589989" cy="1051560"/>
          </a:xfrm>
          <a:prstGeom prst="rect">
            <a:avLst/>
          </a:prstGeom>
          <a:solidFill>
            <a:schemeClr val="bg2"/>
          </a:solidFill>
          <a:ln w="9525">
            <a:solidFill>
              <a:schemeClr val="accent5"/>
            </a:solidFill>
            <a:prstDash val="solid"/>
          </a:ln>
        </p:spPr>
      </p:sp>
      <p:sp>
        <p:nvSpPr>
          <p:cNvPr id="17" name="Text 15"/>
          <p:cNvSpPr txBox="1"/>
          <p:nvPr/>
        </p:nvSpPr>
        <p:spPr>
          <a:xfrm>
            <a:off x="8216189" y="1536192"/>
            <a:ext cx="1407109" cy="905256"/>
          </a:xfrm>
          <a:prstGeom prst="rect">
            <a:avLst/>
          </a:prstGeom>
          <a:noFill/>
          <a:ln/>
        </p:spPr>
        <p:txBody>
          <a:bodyPr wrap="square" lIns="0" tIns="0" rIns="0" bIns="0" rtlCol="0" anchor="ctr"/>
          <a:lstStyle/>
          <a:p>
            <a:pPr algn="ctr" indent="0" marL="0">
              <a:buNone/>
            </a:pPr>
            <a:r>
              <a:rPr lang="en-US" sz="1500" b="1" dirty="0">
                <a:solidFill>
                  <a:schemeClr val="tx1"/>
                </a:solidFill>
              </a:rPr>
              <a:t>Alerte</a:t>
            </a:r>
            <a:endParaRPr lang="en-US" sz="1500" dirty="0"/>
          </a:p>
          <a:p>
            <a:pPr algn="ctr" indent="0" marL="0">
              <a:buNone/>
            </a:pPr>
            <a:r>
              <a:rPr lang="en-US" sz="1200" dirty="0">
                <a:solidFill>
                  <a:schemeClr val="tx2"/>
                </a:solidFill>
              </a:rPr>
              <a:t>avec image de preuve</a:t>
            </a:r>
            <a:endParaRPr lang="en-US" sz="1500" dirty="0"/>
          </a:p>
        </p:txBody>
      </p:sp>
      <p:sp>
        <p:nvSpPr>
          <p:cNvPr id="18" name="Shape 16"/>
          <p:cNvSpPr/>
          <p:nvPr/>
        </p:nvSpPr>
        <p:spPr>
          <a:xfrm>
            <a:off x="9751314" y="1988820"/>
            <a:ext cx="219456" cy="0"/>
          </a:xfrm>
          <a:prstGeom prst="line">
            <a:avLst/>
          </a:prstGeom>
          <a:noFill/>
          <a:ln w="19050">
            <a:solidFill>
              <a:schemeClr val="tx2"/>
            </a:solidFill>
            <a:prstDash val="solid"/>
            <a:tailEnd type="triangle"/>
          </a:ln>
        </p:spPr>
      </p:sp>
      <p:sp>
        <p:nvSpPr>
          <p:cNvPr id="19" name="Étape 6"/>
          <p:cNvSpPr/>
          <p:nvPr/>
        </p:nvSpPr>
        <p:spPr>
          <a:xfrm>
            <a:off x="10007346" y="1463040"/>
            <a:ext cx="1589989" cy="1051560"/>
          </a:xfrm>
          <a:prstGeom prst="rect">
            <a:avLst/>
          </a:prstGeom>
          <a:solidFill>
            <a:schemeClr val="bg2"/>
          </a:solidFill>
          <a:ln w="9525">
            <a:solidFill>
              <a:schemeClr val="accent5"/>
            </a:solidFill>
            <a:prstDash val="solid"/>
          </a:ln>
        </p:spPr>
      </p:sp>
      <p:sp>
        <p:nvSpPr>
          <p:cNvPr id="20" name="Text 18"/>
          <p:cNvSpPr txBox="1"/>
          <p:nvPr/>
        </p:nvSpPr>
        <p:spPr>
          <a:xfrm>
            <a:off x="10098786" y="1536192"/>
            <a:ext cx="1407109" cy="905256"/>
          </a:xfrm>
          <a:prstGeom prst="rect">
            <a:avLst/>
          </a:prstGeom>
          <a:noFill/>
          <a:ln/>
        </p:spPr>
        <p:txBody>
          <a:bodyPr wrap="square" lIns="0" tIns="0" rIns="0" bIns="0" rtlCol="0" anchor="ctr"/>
          <a:lstStyle/>
          <a:p>
            <a:pPr algn="ctr" indent="0" marL="0">
              <a:buNone/>
            </a:pPr>
            <a:r>
              <a:rPr lang="en-US" sz="1500" b="1" dirty="0">
                <a:solidFill>
                  <a:schemeClr val="tx1"/>
                </a:solidFill>
              </a:rPr>
              <a:t>Station sol</a:t>
            </a:r>
            <a:endParaRPr lang="en-US" sz="1500" dirty="0"/>
          </a:p>
          <a:p>
            <a:pPr algn="ctr" indent="0" marL="0">
              <a:buNone/>
            </a:pPr>
            <a:r>
              <a:rPr lang="en-US" sz="1200" dirty="0">
                <a:solidFill>
                  <a:schemeClr val="tx2"/>
                </a:solidFill>
              </a:rPr>
              <a:t>par la liaison sécurisée</a:t>
            </a:r>
            <a:endParaRPr lang="en-US" sz="1500" dirty="0"/>
          </a:p>
        </p:txBody>
      </p:sp>
      <p:sp>
        <p:nvSpPr>
          <p:cNvPr id="21" name="Text 19"/>
          <p:cNvSpPr txBox="1"/>
          <p:nvPr/>
        </p:nvSpPr>
        <p:spPr>
          <a:xfrm>
            <a:off x="594360" y="288036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Matériel</a:t>
            </a:r>
            <a:endParaRPr lang="en-US" sz="1800" dirty="0"/>
          </a:p>
        </p:txBody>
      </p:sp>
      <p:sp>
        <p:nvSpPr>
          <p:cNvPr id="22" name="Text 20"/>
          <p:cNvSpPr txBox="1"/>
          <p:nvPr/>
        </p:nvSpPr>
        <p:spPr>
          <a:xfrm>
            <a:off x="594360" y="3337560"/>
            <a:ext cx="5227168" cy="256032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Raspberry Pi 5</a:t>
            </a:r>
            <a:endParaRPr lang="en-US" sz="1600" dirty="0"/>
          </a:p>
          <a:p>
            <a:pPr marL="228600" indent="-228600">
              <a:spcAft>
                <a:spcPts val="800"/>
              </a:spcAft>
              <a:buSzPct val="100000"/>
              <a:buChar char="•"/>
            </a:pPr>
            <a:r>
              <a:rPr lang="en-US" sz="1600" dirty="0">
                <a:solidFill>
                  <a:schemeClr val="tx1"/>
                </a:solidFill>
              </a:rPr>
              <a:t>AI HAT+ 26 TOPS (puce Hailo-8)</a:t>
            </a:r>
            <a:endParaRPr lang="en-US" sz="1600" dirty="0"/>
          </a:p>
          <a:p>
            <a:pPr marL="228600" indent="-228600">
              <a:spcAft>
                <a:spcPts val="800"/>
              </a:spcAft>
              <a:buSzPct val="100000"/>
              <a:buChar char="•"/>
            </a:pPr>
            <a:r>
              <a:rPr lang="en-US" sz="1600" dirty="0">
                <a:solidFill>
                  <a:schemeClr val="tx1"/>
                </a:solidFill>
              </a:rPr>
              <a:t>Séparé du contrôleur de vol</a:t>
            </a:r>
            <a:endParaRPr lang="en-US" sz="1600" dirty="0"/>
          </a:p>
        </p:txBody>
      </p:sp>
      <p:sp>
        <p:nvSpPr>
          <p:cNvPr id="23" name="Text 21"/>
          <p:cNvSpPr txBox="1"/>
          <p:nvPr/>
        </p:nvSpPr>
        <p:spPr>
          <a:xfrm>
            <a:off x="6370168" y="288036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Ce qu'il détecte</a:t>
            </a:r>
            <a:endParaRPr lang="en-US" sz="1800" dirty="0"/>
          </a:p>
        </p:txBody>
      </p:sp>
      <p:sp>
        <p:nvSpPr>
          <p:cNvPr id="24" name="Text 22"/>
          <p:cNvSpPr txBox="1"/>
          <p:nvPr/>
        </p:nvSpPr>
        <p:spPr>
          <a:xfrm>
            <a:off x="6370168" y="3337560"/>
            <a:ext cx="5227168" cy="256032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Personnes</a:t>
            </a:r>
            <a:endParaRPr lang="en-US" sz="1600" dirty="0"/>
          </a:p>
          <a:p>
            <a:pPr marL="228600" indent="-228600">
              <a:spcAft>
                <a:spcPts val="800"/>
              </a:spcAft>
              <a:buSzPct val="100000"/>
              <a:buChar char="•"/>
            </a:pPr>
            <a:r>
              <a:rPr lang="en-US" sz="1600" dirty="0">
                <a:solidFill>
                  <a:schemeClr val="tx1"/>
                </a:solidFill>
              </a:rPr>
              <a:t>Véhicules</a:t>
            </a:r>
            <a:endParaRPr lang="en-US" sz="1600" dirty="0"/>
          </a:p>
          <a:p>
            <a:pPr marL="228600" indent="-228600">
              <a:spcAft>
                <a:spcPts val="800"/>
              </a:spcAft>
              <a:buSzPct val="100000"/>
              <a:buChar char="•"/>
            </a:pPr>
            <a:r>
              <a:rPr lang="en-US" sz="1600" dirty="0">
                <a:solidFill>
                  <a:schemeClr val="tx1"/>
                </a:solidFill>
              </a:rPr>
              <a:t>Débris et objets au sol</a:t>
            </a:r>
            <a:endParaRPr lang="en-US" sz="16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Données et fiabilité de l'IA</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Roger KAINWANG</a:t>
            </a:r>
            <a:endParaRPr lang="en-US" sz="1000" dirty="0"/>
          </a:p>
        </p:txBody>
      </p:sp>
      <p:sp>
        <p:nvSpPr>
          <p:cNvPr id="4" name="Text 2"/>
          <p:cNvSpPr txBox="1"/>
          <p:nvPr/>
        </p:nvSpPr>
        <p:spPr>
          <a:xfrm>
            <a:off x="594360"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Le modèle et ses données</a:t>
            </a:r>
            <a:endParaRPr lang="en-US" sz="1800" dirty="0"/>
          </a:p>
        </p:txBody>
      </p:sp>
      <p:sp>
        <p:nvSpPr>
          <p:cNvPr id="5" name="Text 3"/>
          <p:cNvSpPr txBox="1"/>
          <p:nvPr/>
        </p:nvSpPr>
        <p:spPr>
          <a:xfrm>
            <a:off x="594360" y="1874520"/>
            <a:ext cx="5227168" cy="402336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YOLOv8s pré-entraîné, adapté par fine-tuning</a:t>
            </a:r>
            <a:endParaRPr lang="en-US" sz="1700" dirty="0"/>
          </a:p>
          <a:p>
            <a:pPr marL="228600" indent="-228600">
              <a:spcAft>
                <a:spcPts val="800"/>
              </a:spcAft>
              <a:buSzPct val="100000"/>
              <a:buChar char="•"/>
            </a:pPr>
            <a:r>
              <a:rPr lang="en-US" sz="1700" dirty="0">
                <a:solidFill>
                  <a:schemeClr val="tx1"/>
                </a:solidFill>
              </a:rPr>
              <a:t>FOD-A : plus de 30 000 débris de piste annotés</a:t>
            </a:r>
            <a:endParaRPr lang="en-US" sz="1700" dirty="0"/>
          </a:p>
          <a:p>
            <a:pPr marL="228600" indent="-228600">
              <a:spcAft>
                <a:spcPts val="800"/>
              </a:spcAft>
              <a:buSzPct val="100000"/>
              <a:buChar char="•"/>
            </a:pPr>
            <a:r>
              <a:rPr lang="en-US" sz="1700" dirty="0">
                <a:solidFill>
                  <a:schemeClr val="tx1"/>
                </a:solidFill>
              </a:rPr>
              <a:t>Images prises avec notre caméra, à l'angle de vue du drone</a:t>
            </a:r>
            <a:endParaRPr lang="en-US" sz="1700" dirty="0"/>
          </a:p>
          <a:p>
            <a:pPr marL="228600" indent="-228600">
              <a:spcAft>
                <a:spcPts val="800"/>
              </a:spcAft>
              <a:buSzPct val="100000"/>
              <a:buChar char="•"/>
            </a:pPr>
            <a:r>
              <a:rPr lang="en-US" sz="1700" dirty="0">
                <a:solidFill>
                  <a:schemeClr val="tx1"/>
                </a:solidFill>
              </a:rPr>
              <a:t>Scènes vides et pièges (ombres, marquages) contre les fausses alertes</a:t>
            </a:r>
            <a:endParaRPr lang="en-US" sz="1700" dirty="0"/>
          </a:p>
        </p:txBody>
      </p:sp>
      <p:sp>
        <p:nvSpPr>
          <p:cNvPr id="6" name="Text 4"/>
          <p:cNvSpPr txBox="1"/>
          <p:nvPr/>
        </p:nvSpPr>
        <p:spPr>
          <a:xfrm>
            <a:off x="6370168"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Ce que l'IA fait, et ne fait pas</a:t>
            </a:r>
            <a:endParaRPr lang="en-US" sz="1800" dirty="0"/>
          </a:p>
        </p:txBody>
      </p:sp>
      <p:sp>
        <p:nvSpPr>
          <p:cNvPr id="7" name="Text 5"/>
          <p:cNvSpPr txBox="1"/>
          <p:nvPr/>
        </p:nvSpPr>
        <p:spPr>
          <a:xfrm>
            <a:off x="6370168" y="1874520"/>
            <a:ext cx="5227168" cy="402336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Un objet inconnu est signalé « à vérifier », avec son image</a:t>
            </a:r>
            <a:endParaRPr lang="en-US" sz="1700" dirty="0"/>
          </a:p>
          <a:p>
            <a:pPr marL="228600" indent="-228600">
              <a:spcAft>
                <a:spcPts val="800"/>
              </a:spcAft>
              <a:buSzPct val="100000"/>
              <a:buChar char="•"/>
            </a:pPr>
            <a:r>
              <a:rPr lang="en-US" sz="1700" dirty="0">
                <a:solidFill>
                  <a:schemeClr val="tx1"/>
                </a:solidFill>
              </a:rPr>
              <a:t>Sans liaison, les alertes sont gardées à bord puis envoyées</a:t>
            </a:r>
            <a:endParaRPr lang="en-US" sz="1700" dirty="0"/>
          </a:p>
          <a:p>
            <a:pPr marL="228600" indent="-228600">
              <a:spcAft>
                <a:spcPts val="800"/>
              </a:spcAft>
              <a:buSzPct val="100000"/>
              <a:buChar char="•"/>
            </a:pPr>
            <a:r>
              <a:rPr lang="en-US" sz="1700" dirty="0">
                <a:solidFill>
                  <a:schemeClr val="tx1"/>
                </a:solidFill>
              </a:rPr>
              <a:t>Elle aide l'opérateur, la décision reste humaine</a:t>
            </a:r>
            <a:endParaRPr lang="en-US" sz="1700" dirty="0"/>
          </a:p>
          <a:p>
            <a:pPr marL="228600" indent="-228600">
              <a:spcAft>
                <a:spcPts val="800"/>
              </a:spcAft>
              <a:buSzPct val="100000"/>
              <a:buChar char="•"/>
            </a:pPr>
            <a:r>
              <a:rPr lang="en-US" sz="1700" dirty="0">
                <a:solidFill>
                  <a:schemeClr val="tx1"/>
                </a:solidFill>
              </a:rPr>
              <a:t>Elle ne commande jamais le drone</a:t>
            </a:r>
            <a:endParaRPr lang="en-US" sz="17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Station sol et back-end</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Angelo LOGO ADANTO</a:t>
            </a:r>
            <a:endParaRPr lang="en-US" sz="1000" dirty="0"/>
          </a:p>
        </p:txBody>
      </p:sp>
      <p:sp>
        <p:nvSpPr>
          <p:cNvPr id="4" name="Text 2"/>
          <p:cNvSpPr txBox="1"/>
          <p:nvPr/>
        </p:nvSpPr>
        <p:spPr>
          <a:xfrm>
            <a:off x="594360"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La station sol (Angelo)</a:t>
            </a:r>
            <a:endParaRPr lang="en-US" sz="1800" dirty="0"/>
          </a:p>
        </p:txBody>
      </p:sp>
      <p:sp>
        <p:nvSpPr>
          <p:cNvPr id="5" name="Text 3"/>
          <p:cNvSpPr txBox="1"/>
          <p:nvPr/>
        </p:nvSpPr>
        <p:spPr>
          <a:xfrm>
            <a:off x="594360" y="1874520"/>
            <a:ext cx="5227168" cy="256032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Flutter : version mobile et web</a:t>
            </a:r>
            <a:endParaRPr lang="en-US" sz="1700" dirty="0"/>
          </a:p>
          <a:p>
            <a:pPr marL="228600" indent="-228600">
              <a:spcAft>
                <a:spcPts val="800"/>
              </a:spcAft>
              <a:buSzPct val="100000"/>
              <a:buChar char="•"/>
            </a:pPr>
            <a:r>
              <a:rPr lang="en-US" sz="1700" dirty="0">
                <a:solidFill>
                  <a:schemeClr val="tx1"/>
                </a:solidFill>
              </a:rPr>
              <a:t>Préparation de la mission et zone autorisée</a:t>
            </a:r>
            <a:endParaRPr lang="en-US" sz="1700" dirty="0"/>
          </a:p>
          <a:p>
            <a:pPr marL="228600" indent="-228600">
              <a:spcAft>
                <a:spcPts val="800"/>
              </a:spcAft>
              <a:buSzPct val="100000"/>
              <a:buChar char="•"/>
            </a:pPr>
            <a:r>
              <a:rPr lang="en-US" sz="1700" dirty="0">
                <a:solidFill>
                  <a:schemeClr val="tx1"/>
                </a:solidFill>
              </a:rPr>
              <a:t>Télémétrie MAVLink en direct</a:t>
            </a:r>
            <a:endParaRPr lang="en-US" sz="1700" dirty="0"/>
          </a:p>
          <a:p>
            <a:pPr marL="228600" indent="-228600">
              <a:spcAft>
                <a:spcPts val="800"/>
              </a:spcAft>
              <a:buSzPct val="100000"/>
              <a:buChar char="•"/>
            </a:pPr>
            <a:r>
              <a:rPr lang="en-US" sz="1700" dirty="0">
                <a:solidFill>
                  <a:schemeClr val="tx1"/>
                </a:solidFill>
              </a:rPr>
              <a:t>Alertes de l'IA avec image, vidéo enregistrée</a:t>
            </a:r>
            <a:endParaRPr lang="en-US" sz="1700" dirty="0"/>
          </a:p>
        </p:txBody>
      </p:sp>
      <p:sp>
        <p:nvSpPr>
          <p:cNvPr id="6" name="Text 4"/>
          <p:cNvSpPr txBox="1"/>
          <p:nvPr/>
        </p:nvSpPr>
        <p:spPr>
          <a:xfrm>
            <a:off x="6370168"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Le back-end (Cédric)</a:t>
            </a:r>
            <a:endParaRPr lang="en-US" sz="1800" dirty="0"/>
          </a:p>
        </p:txBody>
      </p:sp>
      <p:sp>
        <p:nvSpPr>
          <p:cNvPr id="7" name="Text 5"/>
          <p:cNvSpPr txBox="1"/>
          <p:nvPr/>
        </p:nvSpPr>
        <p:spPr>
          <a:xfrm>
            <a:off x="6370168" y="1874520"/>
            <a:ext cx="5227168" cy="256032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API REST et base MySQL</a:t>
            </a:r>
            <a:endParaRPr lang="en-US" sz="1700" dirty="0"/>
          </a:p>
          <a:p>
            <a:pPr marL="228600" indent="-228600">
              <a:spcAft>
                <a:spcPts val="800"/>
              </a:spcAft>
              <a:buSzPct val="100000"/>
              <a:buChar char="•"/>
            </a:pPr>
            <a:r>
              <a:rPr lang="en-US" sz="1700" dirty="0">
                <a:solidFill>
                  <a:schemeClr val="tx1"/>
                </a:solidFill>
              </a:rPr>
              <a:t>Historique des vols, télémétrie et alertes</a:t>
            </a:r>
            <a:endParaRPr lang="en-US" sz="1700" dirty="0"/>
          </a:p>
          <a:p>
            <a:pPr marL="228600" indent="-228600">
              <a:spcAft>
                <a:spcPts val="800"/>
              </a:spcAft>
              <a:buSzPct val="100000"/>
              <a:buChar char="•"/>
            </a:pPr>
            <a:r>
              <a:rPr lang="en-US" sz="1700" dirty="0">
                <a:solidFill>
                  <a:schemeClr val="tx1"/>
                </a:solidFill>
              </a:rPr>
              <a:t>Format d'alerte commun à toute l'équipe</a:t>
            </a:r>
            <a:endParaRPr lang="en-US" sz="1700" dirty="0"/>
          </a:p>
          <a:p>
            <a:pPr marL="228600" indent="-228600">
              <a:spcAft>
                <a:spcPts val="800"/>
              </a:spcAft>
              <a:buSzPct val="100000"/>
              <a:buChar char="•"/>
            </a:pPr>
            <a:r>
              <a:rPr lang="en-US" sz="1700" dirty="0">
                <a:solidFill>
                  <a:schemeClr val="tx1"/>
                </a:solidFill>
              </a:rPr>
              <a:t>Journaux de vol signés</a:t>
            </a:r>
            <a:endParaRPr lang="en-US" sz="1700" dirty="0"/>
          </a:p>
        </p:txBody>
      </p:sp>
      <p:sp>
        <p:nvSpPr>
          <p:cNvPr id="8" name="Encadré"/>
          <p:cNvSpPr/>
          <p:nvPr/>
        </p:nvSpPr>
        <p:spPr>
          <a:xfrm>
            <a:off x="594360" y="4617720"/>
            <a:ext cx="11002975" cy="685800"/>
          </a:xfrm>
          <a:prstGeom prst="rect">
            <a:avLst/>
          </a:prstGeom>
          <a:solidFill>
            <a:schemeClr val="bg2"/>
          </a:solidFill>
          <a:ln w="9525">
            <a:solidFill>
              <a:schemeClr val="accent5"/>
            </a:solidFill>
            <a:prstDash val="solid"/>
          </a:ln>
        </p:spPr>
      </p:sp>
      <p:sp>
        <p:nvSpPr>
          <p:cNvPr id="9" name="Text 7"/>
          <p:cNvSpPr txBox="1"/>
          <p:nvPr/>
        </p:nvSpPr>
        <p:spPr>
          <a:xfrm>
            <a:off x="822960" y="4617720"/>
            <a:ext cx="10545775" cy="685800"/>
          </a:xfrm>
          <a:prstGeom prst="rect">
            <a:avLst/>
          </a:prstGeom>
          <a:noFill/>
          <a:ln/>
        </p:spPr>
        <p:txBody>
          <a:bodyPr wrap="square" lIns="0" tIns="0" rIns="0" bIns="0" rtlCol="0" anchor="ctr"/>
          <a:lstStyle/>
          <a:p>
            <a:pPr indent="0" marL="0">
              <a:buNone/>
            </a:pPr>
            <a:r>
              <a:rPr lang="en-US" sz="1700" dirty="0">
                <a:solidFill>
                  <a:schemeClr val="tx1"/>
                </a:solidFill>
              </a:rPr>
              <a:t>L'opérateur n'a pas à fixer la vidéo : le drone lui signale ce qu'il faut regarder.</a:t>
            </a:r>
            <a:endParaRPr lang="en-US" sz="17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Trois liaisons indépendantes</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Makafui de MEDEIROS</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11002975" cy="914400"/>
        </p:xfrm>
        <a:graphic>
          <a:graphicData uri="http://schemas.openxmlformats.org/drawingml/2006/table">
            <a:tbl>
              <a:tblPr/>
              <a:tblGrid>
                <a:gridCol w="3657600"/>
                <a:gridCol w="4572000"/>
                <a:gridCol w="2773375"/>
              </a:tblGrid>
              <a:tr h="566928">
                <a:tc>
                  <a:txBody>
                    <a:bodyPr/>
                    <a:lstStyle/>
                    <a:p>
                      <a:pPr indent="0" marL="0">
                        <a:buNone/>
                      </a:pPr>
                      <a:r>
                        <a:rPr lang="en-US" sz="1600" b="1" dirty="0">
                          <a:solidFill>
                            <a:schemeClr val="accent1"/>
                          </a:solidFill>
                        </a:rPr>
                        <a:t>Liaison</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600" b="1" dirty="0">
                          <a:solidFill>
                            <a:schemeClr val="accent1"/>
                          </a:solidFill>
                        </a:rPr>
                        <a:t>Ce qu'elle transporte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600" b="1" dirty="0">
                          <a:solidFill>
                            <a:schemeClr val="accent1"/>
                          </a:solidFill>
                        </a:rPr>
                        <a:t>Portée visée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Vidéo HD</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Image de la caméra et informations de vol</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10 à 15 km</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Radio longue portée chiffrée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Télémétrie, ordres et alertes de l'IA</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30 à 50 km (théorique)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Canal d'urgence ExpressLRS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Retour au point de départ, coupure des moteurs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Indépendant des autres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bl>
          </a:graphicData>
        </a:graphic>
      </p:graphicFrame>
      <p:sp>
        <p:nvSpPr>
          <p:cNvPr id="5" name="Text 2"/>
          <p:cNvSpPr txBox="1"/>
          <p:nvPr/>
        </p:nvSpPr>
        <p:spPr>
          <a:xfrm>
            <a:off x="594360" y="4050792"/>
            <a:ext cx="11002975" cy="411480"/>
          </a:xfrm>
          <a:prstGeom prst="rect">
            <a:avLst/>
          </a:prstGeom>
          <a:noFill/>
          <a:ln/>
        </p:spPr>
        <p:txBody>
          <a:bodyPr wrap="square" lIns="0" tIns="0" rIns="0" bIns="0" rtlCol="0" anchor="ctr"/>
          <a:lstStyle/>
          <a:p>
            <a:pPr indent="0" marL="0">
              <a:buNone/>
            </a:pPr>
            <a:r>
              <a:rPr lang="en-US" sz="1600" dirty="0">
                <a:solidFill>
                  <a:schemeClr val="tx2"/>
                </a:solidFill>
              </a:rPr>
              <a:t>Écartée : la 4G (couverture incertaine). La liaison satellite est à l'essai comme secours.</a:t>
            </a:r>
            <a:endParaRPr lang="en-US" sz="1600" dirty="0"/>
          </a:p>
        </p:txBody>
      </p:sp>
      <p:pic>
        <p:nvPicPr>
          <p:cNvPr id="6" name="Image 0" descr="Antennes placées hors des zones en carbone">    </p:cNvPr>
          <p:cNvPicPr>
            <a:picLocks noChangeAspect="1"/>
          </p:cNvPicPr>
          <p:nvPr/>
        </p:nvPicPr>
        <p:blipFill>
          <a:blip r:embed="rId1"/>
          <a:stretch>
            <a:fillRect/>
          </a:stretch>
        </p:blipFill>
        <p:spPr>
          <a:xfrm>
            <a:off x="4224884" y="4645152"/>
            <a:ext cx="3741928" cy="1161288"/>
          </a:xfrm>
          <a:prstGeom prst="rect">
            <a:avLst/>
          </a:prstGeom>
        </p:spPr>
      </p:pic>
      <p:sp>
        <p:nvSpPr>
          <p:cNvPr id="7" name="Cadre z_face_centre"/>
          <p:cNvSpPr/>
          <p:nvPr/>
        </p:nvSpPr>
        <p:spPr>
          <a:xfrm>
            <a:off x="4224884" y="4645152"/>
            <a:ext cx="3741928" cy="1161288"/>
          </a:xfrm>
          <a:prstGeom prst="rect">
            <a:avLst/>
          </a:prstGeom>
          <a:ln w="9525">
            <a:solidFill>
              <a:schemeClr val="accent5"/>
            </a:solidFill>
            <a:prstDash val="solid"/>
          </a:ln>
        </p:spPr>
      </p:sp>
      <p:sp>
        <p:nvSpPr>
          <p:cNvPr id="8" name="Text 4"/>
          <p:cNvSpPr txBox="1"/>
          <p:nvPr/>
        </p:nvSpPr>
        <p:spPr>
          <a:xfrm>
            <a:off x="4224884" y="5861304"/>
            <a:ext cx="3741928" cy="256032"/>
          </a:xfrm>
          <a:prstGeom prst="rect">
            <a:avLst/>
          </a:prstGeom>
          <a:noFill/>
          <a:ln/>
        </p:spPr>
        <p:txBody>
          <a:bodyPr wrap="square" lIns="0" tIns="0" rIns="0" bIns="0" rtlCol="0" anchor="ctr"/>
          <a:lstStyle/>
          <a:p>
            <a:pPr indent="0" marL="0">
              <a:buNone/>
            </a:pPr>
            <a:r>
              <a:rPr lang="en-US" sz="1100" i="1" dirty="0">
                <a:solidFill>
                  <a:schemeClr val="tx2"/>
                </a:solidFill>
              </a:rPr>
              <a:t>Antennes placées hors des zones en carbone</a:t>
            </a:r>
            <a:endParaRPr lang="en-US" sz="11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Les avantages</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Israel AWADE</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11002975" cy="914400"/>
        </p:xfrm>
        <a:graphic>
          <a:graphicData uri="http://schemas.openxmlformats.org/drawingml/2006/table">
            <a:tbl>
              <a:tblPr/>
              <a:tblGrid>
                <a:gridCol w="3840480"/>
                <a:gridCol w="7162495"/>
              </a:tblGrid>
              <a:tr h="566928">
                <a:tc>
                  <a:txBody>
                    <a:bodyPr/>
                    <a:lstStyle/>
                    <a:p>
                      <a:pPr indent="0" marL="0">
                        <a:buNone/>
                      </a:pPr>
                      <a:r>
                        <a:rPr lang="en-US" sz="1600" b="1" dirty="0">
                          <a:solidFill>
                            <a:schemeClr val="accent1"/>
                          </a:solidFill>
                        </a:rPr>
                        <a:t>Avantage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600" b="1" dirty="0">
                          <a:solidFill>
                            <a:schemeClr val="accent1"/>
                          </a:solidFill>
                        </a:rPr>
                        <a:t>Ce que ça change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Décollage vertical</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Pas besoin de piste : il part de n'importe quelle zone dégagée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Vol sur l'aile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Grande autonomie (30 à 45 min visées) et grandes surfaces couvertes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Moteurs basculants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Les mêmes moteurs pour décoller et voler : moins de masse inutile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IA à bord</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Alerte immédiate pendant le vol, sans internet ni cloud</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Liaison sécurisée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Données chiffrées, ordres signés, résistance au brouillage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Moins de risques humains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Les agents ne parcourent plus la piste eux-mêmes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Plateforme modulaire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Aéroports, infrastructures, agriculture, cartographie, humanitaire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Les risques et nos réponses</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Israel AWADE et Makafui de MEDEIROS</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11002975" cy="914400"/>
        </p:xfrm>
        <a:graphic>
          <a:graphicData uri="http://schemas.openxmlformats.org/drawingml/2006/table">
            <a:tbl>
              <a:tblPr/>
              <a:tblGrid>
                <a:gridCol w="3566160"/>
                <a:gridCol w="7436815"/>
              </a:tblGrid>
              <a:tr h="457200">
                <a:tc>
                  <a:txBody>
                    <a:bodyPr/>
                    <a:lstStyle/>
                    <a:p>
                      <a:pPr indent="0" marL="0">
                        <a:buNone/>
                      </a:pPr>
                      <a:r>
                        <a:rPr lang="en-US" sz="1400" b="1" dirty="0">
                          <a:solidFill>
                            <a:schemeClr val="accent1"/>
                          </a:solidFill>
                        </a:rPr>
                        <a:t>Risque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Notre réponse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Perte de la liaison radio</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Retour automatique au point de départ, puis atterrissage vertical</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400" b="1" dirty="0">
                          <a:solidFill>
                            <a:schemeClr val="tx1"/>
                          </a:solidFill>
                        </a:rPr>
                        <a:t>Batterie faible ou défaillante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Surveillance de la tension ; retour, puis atterrissage immédiat si critique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400" b="1" dirty="0">
                          <a:solidFill>
                            <a:schemeClr val="tx1"/>
                          </a:solidFill>
                        </a:rPr>
                        <a:t>Panne en vol stationnaire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Phase verticale courte, à faible hauteur, au-dessus d'une zone dégagée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400" b="1" dirty="0">
                          <a:solidFill>
                            <a:schemeClr val="tx1"/>
                          </a:solidFill>
                        </a:rPr>
                        <a:t>Servo de basculement bloqué</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Servos à engrenages métal, contrôle à chaque check-list, essais progressifs</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400" b="1" dirty="0">
                          <a:solidFill>
                            <a:schemeClr val="tx1"/>
                          </a:solidFill>
                        </a:rPr>
                        <a:t>Brouillage ou leurrage GPS</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Deux GPS comparés aux autres capteurs ; atterrissage sécurisé si doute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400" b="1" dirty="0">
                          <a:solidFill>
                            <a:schemeClr val="tx1"/>
                          </a:solidFill>
                        </a:rPr>
                        <a:t>Piratage, faux ordres</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Liaison chiffrée, messages signés, canal d'urgence indépendant</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400" b="1" dirty="0">
                          <a:solidFill>
                            <a:schemeClr val="tx1"/>
                          </a:solidFill>
                        </a:rPr>
                        <a:t>Sortie de zone autorisée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Géorepérage : demi-tour automatique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400" b="1" dirty="0">
                          <a:solidFill>
                            <a:schemeClr val="tx1"/>
                          </a:solidFill>
                        </a:rPr>
                        <a:t>Erreur de l'IA</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Objet incertain signalé « à vérifier » ; l'humain décide, l'IA ne pilote pas</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400" b="1" dirty="0">
                          <a:solidFill>
                            <a:schemeClr val="tx1"/>
                          </a:solidFill>
                        </a:rPr>
                        <a:t>Météo (vent, pluie)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Pas de vol hors des limites fixées après essais</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La réglementation</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Cédric KODJOVI</a:t>
            </a:r>
            <a:endParaRPr lang="en-US" sz="1000" dirty="0"/>
          </a:p>
        </p:txBody>
      </p:sp>
      <p:sp>
        <p:nvSpPr>
          <p:cNvPr id="4" name="Text 2"/>
          <p:cNvSpPr txBox="1"/>
          <p:nvPr/>
        </p:nvSpPr>
        <p:spPr>
          <a:xfrm>
            <a:off x="594360"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Le vol</a:t>
            </a:r>
            <a:endParaRPr lang="en-US" sz="1800" dirty="0"/>
          </a:p>
        </p:txBody>
      </p:sp>
      <p:sp>
        <p:nvSpPr>
          <p:cNvPr id="5" name="Text 3"/>
          <p:cNvSpPr txBox="1"/>
          <p:nvPr/>
        </p:nvSpPr>
        <p:spPr>
          <a:xfrm>
            <a:off x="594360" y="1874520"/>
            <a:ext cx="5227168" cy="28346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Autorisation de l'ANAC Togo avant tout vol</a:t>
            </a:r>
            <a:endParaRPr lang="en-US" sz="1600" dirty="0"/>
          </a:p>
          <a:p>
            <a:pPr marL="228600" indent="-228600">
              <a:spcAft>
                <a:spcPts val="800"/>
              </a:spcAft>
              <a:buSzPct val="100000"/>
              <a:buChar char="•"/>
            </a:pPr>
            <a:r>
              <a:rPr lang="en-US" sz="1600" dirty="0">
                <a:solidFill>
                  <a:schemeClr val="tx1"/>
                </a:solidFill>
              </a:rPr>
              <a:t>Vol en vue directe du télépilote, sauf autorisation</a:t>
            </a:r>
            <a:endParaRPr lang="en-US" sz="1600" dirty="0"/>
          </a:p>
          <a:p>
            <a:pPr marL="228600" indent="-228600">
              <a:spcAft>
                <a:spcPts val="800"/>
              </a:spcAft>
              <a:buSzPct val="100000"/>
              <a:buChar char="•"/>
            </a:pPr>
            <a:r>
              <a:rPr lang="en-US" sz="1600" dirty="0">
                <a:solidFill>
                  <a:schemeClr val="tx1"/>
                </a:solidFill>
              </a:rPr>
              <a:t>Hauteur et zone limitées, géorepérage activé</a:t>
            </a:r>
            <a:endParaRPr lang="en-US" sz="1600" dirty="0"/>
          </a:p>
          <a:p>
            <a:pPr marL="228600" indent="-228600">
              <a:spcAft>
                <a:spcPts val="800"/>
              </a:spcAft>
              <a:buSzPct val="100000"/>
              <a:buChar char="•"/>
            </a:pPr>
            <a:r>
              <a:rPr lang="en-US" sz="1600" dirty="0">
                <a:solidFill>
                  <a:schemeClr val="tx1"/>
                </a:solidFill>
              </a:rPr>
              <a:t>Pas de vol au-dessus de la foule ni près d'un aérodrome sans accord</a:t>
            </a:r>
            <a:endParaRPr lang="en-US" sz="1600" dirty="0"/>
          </a:p>
          <a:p>
            <a:pPr marL="228600" indent="-228600">
              <a:spcAft>
                <a:spcPts val="800"/>
              </a:spcAft>
              <a:buSzPct val="100000"/>
              <a:buChar char="•"/>
            </a:pPr>
            <a:r>
              <a:rPr lang="en-US" sz="1600" dirty="0">
                <a:solidFill>
                  <a:schemeClr val="tx1"/>
                </a:solidFill>
              </a:rPr>
              <a:t>Télépilote formé, check-lists avant et après vol</a:t>
            </a:r>
            <a:endParaRPr lang="en-US" sz="1600" dirty="0"/>
          </a:p>
        </p:txBody>
      </p:sp>
      <p:sp>
        <p:nvSpPr>
          <p:cNvPr id="6" name="Text 4"/>
          <p:cNvSpPr txBox="1"/>
          <p:nvPr/>
        </p:nvSpPr>
        <p:spPr>
          <a:xfrm>
            <a:off x="6370168"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Les ondes et les données</a:t>
            </a:r>
            <a:endParaRPr lang="en-US" sz="1800" dirty="0"/>
          </a:p>
        </p:txBody>
      </p:sp>
      <p:sp>
        <p:nvSpPr>
          <p:cNvPr id="7" name="Text 5"/>
          <p:cNvSpPr txBox="1"/>
          <p:nvPr/>
        </p:nvSpPr>
        <p:spPr>
          <a:xfrm>
            <a:off x="6370168" y="1874520"/>
            <a:ext cx="5227168" cy="28346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Fréquences radio autorisées par l'ARCEP</a:t>
            </a:r>
            <a:endParaRPr lang="en-US" sz="1600" dirty="0"/>
          </a:p>
          <a:p>
            <a:pPr marL="228600" indent="-228600">
              <a:spcAft>
                <a:spcPts val="800"/>
              </a:spcAft>
              <a:buSzPct val="100000"/>
              <a:buChar char="•"/>
            </a:pPr>
            <a:r>
              <a:rPr lang="en-US" sz="1600" dirty="0">
                <a:solidFill>
                  <a:schemeClr val="tx1"/>
                </a:solidFill>
              </a:rPr>
              <a:t>Protection des données personnelles (loi togolaise de 2019)</a:t>
            </a:r>
            <a:endParaRPr lang="en-US" sz="1600" dirty="0"/>
          </a:p>
          <a:p>
            <a:pPr marL="228600" indent="-228600">
              <a:spcAft>
                <a:spcPts val="800"/>
              </a:spcAft>
              <a:buSzPct val="100000"/>
              <a:buChar char="•"/>
            </a:pPr>
            <a:r>
              <a:rPr lang="en-US" sz="1600" dirty="0">
                <a:solidFill>
                  <a:schemeClr val="tx1"/>
                </a:solidFill>
              </a:rPr>
              <a:t>Pas de reconnaissance faciale, images d'alerte seulement</a:t>
            </a:r>
            <a:endParaRPr lang="en-US" sz="1600" dirty="0"/>
          </a:p>
          <a:p>
            <a:pPr marL="228600" indent="-228600">
              <a:spcAft>
                <a:spcPts val="800"/>
              </a:spcAft>
              <a:buSzPct val="100000"/>
              <a:buChar char="•"/>
            </a:pPr>
            <a:r>
              <a:rPr lang="en-US" sz="1600" dirty="0">
                <a:solidFill>
                  <a:schemeClr val="tx1"/>
                </a:solidFill>
              </a:rPr>
              <a:t>Accès aux données réservé aux personnes autorisées</a:t>
            </a:r>
            <a:endParaRPr lang="en-US" sz="1600" dirty="0"/>
          </a:p>
          <a:p>
            <a:pPr marL="228600" indent="-228600">
              <a:spcAft>
                <a:spcPts val="800"/>
              </a:spcAft>
              <a:buSzPct val="100000"/>
              <a:buChar char="•"/>
            </a:pPr>
            <a:r>
              <a:rPr lang="en-US" sz="1600" dirty="0">
                <a:solidFill>
                  <a:schemeClr val="tx1"/>
                </a:solidFill>
              </a:rPr>
              <a:t>Essais sur site uniquement avec l'accord de l'exploitant</a:t>
            </a:r>
            <a:endParaRPr lang="en-US" sz="1600" dirty="0"/>
          </a:p>
        </p:txBody>
      </p:sp>
      <p:sp>
        <p:nvSpPr>
          <p:cNvPr id="8" name="Encadré"/>
          <p:cNvSpPr/>
          <p:nvPr/>
        </p:nvSpPr>
        <p:spPr>
          <a:xfrm>
            <a:off x="594360" y="4892040"/>
            <a:ext cx="11002975" cy="685800"/>
          </a:xfrm>
          <a:prstGeom prst="rect">
            <a:avLst/>
          </a:prstGeom>
          <a:solidFill>
            <a:schemeClr val="bg2"/>
          </a:solidFill>
          <a:ln w="9525">
            <a:solidFill>
              <a:schemeClr val="accent5"/>
            </a:solidFill>
            <a:prstDash val="solid"/>
          </a:ln>
        </p:spPr>
      </p:sp>
      <p:sp>
        <p:nvSpPr>
          <p:cNvPr id="9" name="Text 7"/>
          <p:cNvSpPr txBox="1"/>
          <p:nvPr/>
        </p:nvSpPr>
        <p:spPr>
          <a:xfrm>
            <a:off x="822960" y="4892040"/>
            <a:ext cx="10545775" cy="685800"/>
          </a:xfrm>
          <a:prstGeom prst="rect">
            <a:avLst/>
          </a:prstGeom>
          <a:noFill/>
          <a:ln/>
        </p:spPr>
        <p:txBody>
          <a:bodyPr wrap="square" lIns="0" tIns="0" rIns="0" bIns="0" rtlCol="0" anchor="ctr"/>
          <a:lstStyle/>
          <a:p>
            <a:pPr indent="0" marL="0">
              <a:buNone/>
            </a:pPr>
            <a:r>
              <a:rPr lang="en-US" sz="1700" dirty="0">
                <a:solidFill>
                  <a:schemeClr val="tx1"/>
                </a:solidFill>
              </a:rPr>
              <a:t>Nous ne volons qu'avec les autorisations nécessaires, et nous respectons le règlement du concours.</a:t>
            </a:r>
            <a:endParaRPr lang="en-US" sz="17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La sécurité</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Makafui de MEDEIROS</a:t>
            </a:r>
            <a:endParaRPr lang="en-US" sz="1000" dirty="0"/>
          </a:p>
        </p:txBody>
      </p:sp>
      <p:sp>
        <p:nvSpPr>
          <p:cNvPr id="4" name="Text 2"/>
          <p:cNvSpPr txBox="1"/>
          <p:nvPr/>
        </p:nvSpPr>
        <p:spPr>
          <a:xfrm>
            <a:off x="594360"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Sécurité du vol</a:t>
            </a:r>
            <a:endParaRPr lang="en-US" sz="1800" dirty="0"/>
          </a:p>
        </p:txBody>
      </p:sp>
      <p:sp>
        <p:nvSpPr>
          <p:cNvPr id="5" name="Text 3"/>
          <p:cNvSpPr txBox="1"/>
          <p:nvPr/>
        </p:nvSpPr>
        <p:spPr>
          <a:xfrm>
            <a:off x="594360" y="1874520"/>
            <a:ext cx="5227168" cy="28346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Contrôleur de vol séparé du module IA</a:t>
            </a:r>
            <a:endParaRPr lang="en-US" sz="1600" dirty="0"/>
          </a:p>
          <a:p>
            <a:pPr marL="228600" indent="-228600">
              <a:spcAft>
                <a:spcPts val="800"/>
              </a:spcAft>
              <a:buSzPct val="100000"/>
              <a:buChar char="•"/>
            </a:pPr>
            <a:r>
              <a:rPr lang="en-US" sz="1600" dirty="0">
                <a:solidFill>
                  <a:schemeClr val="tx1"/>
                </a:solidFill>
              </a:rPr>
              <a:t>Retour automatique au point de départ (RTH)</a:t>
            </a:r>
            <a:endParaRPr lang="en-US" sz="1600" dirty="0"/>
          </a:p>
          <a:p>
            <a:pPr marL="228600" indent="-228600">
              <a:spcAft>
                <a:spcPts val="800"/>
              </a:spcAft>
              <a:buSzPct val="100000"/>
              <a:buChar char="•"/>
            </a:pPr>
            <a:r>
              <a:rPr lang="en-US" sz="1600" dirty="0">
                <a:solidFill>
                  <a:schemeClr val="tx1"/>
                </a:solidFill>
              </a:rPr>
              <a:t>Fail-safe radio, batterie et GPS</a:t>
            </a:r>
            <a:endParaRPr lang="en-US" sz="1600" dirty="0"/>
          </a:p>
          <a:p>
            <a:pPr marL="228600" indent="-228600">
              <a:spcAft>
                <a:spcPts val="800"/>
              </a:spcAft>
              <a:buSzPct val="100000"/>
              <a:buChar char="•"/>
            </a:pPr>
            <a:r>
              <a:rPr lang="en-US" sz="1600" dirty="0">
                <a:solidFill>
                  <a:schemeClr val="tx1"/>
                </a:solidFill>
              </a:rPr>
              <a:t>Coupure d'urgence des moteurs</a:t>
            </a:r>
            <a:endParaRPr lang="en-US" sz="1600" dirty="0"/>
          </a:p>
          <a:p>
            <a:pPr marL="228600" indent="-228600">
              <a:spcAft>
                <a:spcPts val="800"/>
              </a:spcAft>
              <a:buSzPct val="100000"/>
              <a:buChar char="•"/>
            </a:pPr>
            <a:r>
              <a:rPr lang="en-US" sz="1600" dirty="0">
                <a:solidFill>
                  <a:schemeClr val="tx1"/>
                </a:solidFill>
              </a:rPr>
              <a:t>Géorepérage : zone et hauteur maximales</a:t>
            </a:r>
            <a:endParaRPr lang="en-US" sz="1600" dirty="0"/>
          </a:p>
          <a:p>
            <a:pPr marL="228600" indent="-228600">
              <a:spcAft>
                <a:spcPts val="800"/>
              </a:spcAft>
              <a:buSzPct val="100000"/>
              <a:buChar char="•"/>
            </a:pPr>
            <a:r>
              <a:rPr lang="en-US" sz="1600" dirty="0">
                <a:solidFill>
                  <a:schemeClr val="tx1"/>
                </a:solidFill>
              </a:rPr>
              <a:t>Vérifications automatiques avant décollage</a:t>
            </a:r>
            <a:endParaRPr lang="en-US" sz="1600" dirty="0"/>
          </a:p>
        </p:txBody>
      </p:sp>
      <p:sp>
        <p:nvSpPr>
          <p:cNvPr id="6" name="Text 4"/>
          <p:cNvSpPr txBox="1"/>
          <p:nvPr/>
        </p:nvSpPr>
        <p:spPr>
          <a:xfrm>
            <a:off x="6370168"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Cybersécurité</a:t>
            </a:r>
            <a:endParaRPr lang="en-US" sz="1800" dirty="0"/>
          </a:p>
        </p:txBody>
      </p:sp>
      <p:sp>
        <p:nvSpPr>
          <p:cNvPr id="7" name="Text 5"/>
          <p:cNvSpPr txBox="1"/>
          <p:nvPr/>
        </p:nvSpPr>
        <p:spPr>
          <a:xfrm>
            <a:off x="6370168" y="1874520"/>
            <a:ext cx="5227168" cy="28346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Liaison chiffrée</a:t>
            </a:r>
            <a:endParaRPr lang="en-US" sz="1600" dirty="0"/>
          </a:p>
          <a:p>
            <a:pPr marL="228600" indent="-228600">
              <a:spcAft>
                <a:spcPts val="800"/>
              </a:spcAft>
              <a:buSzPct val="100000"/>
              <a:buChar char="•"/>
            </a:pPr>
            <a:r>
              <a:rPr lang="en-US" sz="1600" dirty="0">
                <a:solidFill>
                  <a:schemeClr val="tx1"/>
                </a:solidFill>
              </a:rPr>
              <a:t>Messages MAVLink signés : faux ordres rejetés</a:t>
            </a:r>
            <a:endParaRPr lang="en-US" sz="1600" dirty="0"/>
          </a:p>
          <a:p>
            <a:pPr marL="228600" indent="-228600">
              <a:spcAft>
                <a:spcPts val="800"/>
              </a:spcAft>
              <a:buSzPct val="100000"/>
              <a:buChar char="•"/>
            </a:pPr>
            <a:r>
              <a:rPr lang="en-US" sz="1600" dirty="0">
                <a:solidFill>
                  <a:schemeClr val="tx1"/>
                </a:solidFill>
              </a:rPr>
              <a:t>Clé secrète chargée au sol avant le vol</a:t>
            </a:r>
            <a:endParaRPr lang="en-US" sz="1600" dirty="0"/>
          </a:p>
          <a:p>
            <a:pPr marL="228600" indent="-228600">
              <a:spcAft>
                <a:spcPts val="800"/>
              </a:spcAft>
              <a:buSzPct val="100000"/>
              <a:buChar char="•"/>
            </a:pPr>
            <a:r>
              <a:rPr lang="en-US" sz="1600" dirty="0">
                <a:solidFill>
                  <a:schemeClr val="tx1"/>
                </a:solidFill>
              </a:rPr>
              <a:t>Détection du brouillage</a:t>
            </a:r>
            <a:endParaRPr lang="en-US" sz="1600" dirty="0"/>
          </a:p>
          <a:p>
            <a:pPr marL="228600" indent="-228600">
              <a:spcAft>
                <a:spcPts val="800"/>
              </a:spcAft>
              <a:buSzPct val="100000"/>
              <a:buChar char="•"/>
            </a:pPr>
            <a:r>
              <a:rPr lang="en-US" sz="1600" dirty="0">
                <a:solidFill>
                  <a:schemeClr val="tx1"/>
                </a:solidFill>
              </a:rPr>
              <a:t>Anti-leurrage GPS par comparaison des sources</a:t>
            </a:r>
            <a:endParaRPr lang="en-US" sz="1600" dirty="0"/>
          </a:p>
          <a:p>
            <a:pPr marL="228600" indent="-228600">
              <a:spcAft>
                <a:spcPts val="800"/>
              </a:spcAft>
              <a:buSzPct val="100000"/>
              <a:buChar char="•"/>
            </a:pPr>
            <a:r>
              <a:rPr lang="en-US" sz="1600" dirty="0">
                <a:solidFill>
                  <a:schemeClr val="tx1"/>
                </a:solidFill>
              </a:rPr>
              <a:t>Journaux de vol signés : toute modification se voit</a:t>
            </a:r>
            <a:endParaRPr lang="en-US" sz="1600" dirty="0"/>
          </a:p>
        </p:txBody>
      </p:sp>
      <p:sp>
        <p:nvSpPr>
          <p:cNvPr id="8" name="Encadré"/>
          <p:cNvSpPr/>
          <p:nvPr/>
        </p:nvSpPr>
        <p:spPr>
          <a:xfrm>
            <a:off x="594360" y="4892040"/>
            <a:ext cx="11002975" cy="685800"/>
          </a:xfrm>
          <a:prstGeom prst="rect">
            <a:avLst/>
          </a:prstGeom>
          <a:solidFill>
            <a:schemeClr val="bg2"/>
          </a:solidFill>
          <a:ln w="9525">
            <a:solidFill>
              <a:schemeClr val="accent5"/>
            </a:solidFill>
            <a:prstDash val="solid"/>
          </a:ln>
        </p:spPr>
      </p:sp>
      <p:sp>
        <p:nvSpPr>
          <p:cNvPr id="9" name="Text 7"/>
          <p:cNvSpPr txBox="1"/>
          <p:nvPr/>
        </p:nvSpPr>
        <p:spPr>
          <a:xfrm>
            <a:off x="822960" y="4892040"/>
            <a:ext cx="10545775" cy="685800"/>
          </a:xfrm>
          <a:prstGeom prst="rect">
            <a:avLst/>
          </a:prstGeom>
          <a:noFill/>
          <a:ln/>
        </p:spPr>
        <p:txBody>
          <a:bodyPr wrap="square" lIns="0" tIns="0" rIns="0" bIns="0" rtlCol="0" anchor="ctr"/>
          <a:lstStyle/>
          <a:p>
            <a:pPr indent="0" marL="0">
              <a:buNone/>
            </a:pPr>
            <a:r>
              <a:rPr lang="en-US" sz="1700" dirty="0">
                <a:solidFill>
                  <a:schemeClr val="tx1"/>
                </a:solidFill>
              </a:rPr>
              <a:t>En dernier recours, le canal d'urgence indépendant permet toujours de faire revenir le drone ou de couper les moteurs.</a:t>
            </a:r>
            <a:endParaRPr lang="en-US" sz="17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Domaines d'application</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Cédric KODJOVI</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11002975" cy="914400"/>
        </p:xfrm>
        <a:graphic>
          <a:graphicData uri="http://schemas.openxmlformats.org/drawingml/2006/table">
            <a:tbl>
              <a:tblPr/>
              <a:tblGrid>
                <a:gridCol w="3017520"/>
                <a:gridCol w="4937760"/>
                <a:gridCol w="3047695"/>
              </a:tblGrid>
              <a:tr h="566928">
                <a:tc>
                  <a:txBody>
                    <a:bodyPr/>
                    <a:lstStyle/>
                    <a:p>
                      <a:pPr indent="0" marL="0">
                        <a:buNone/>
                      </a:pPr>
                      <a:r>
                        <a:rPr lang="en-US" sz="1500" b="1" dirty="0">
                          <a:solidFill>
                            <a:schemeClr val="accent1"/>
                          </a:solidFill>
                        </a:rPr>
                        <a:t>Secteur</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Utilisations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Ce qu'on adapte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r>
              <a:tr h="566928">
                <a:tc>
                  <a:txBody>
                    <a:bodyPr/>
                    <a:lstStyle/>
                    <a:p>
                      <a:pPr indent="0" marL="0">
                        <a:buNone/>
                      </a:pPr>
                      <a:r>
                        <a:rPr lang="en-US" sz="1500" b="1" dirty="0">
                          <a:solidFill>
                            <a:schemeClr val="tx1"/>
                          </a:solidFill>
                        </a:rPr>
                        <a:t>Aviation civile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Inspection de piste, débris (FOD), clôtures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Caméra + IA de détection</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500" b="1" dirty="0">
                          <a:solidFill>
                            <a:schemeClr val="tx1"/>
                          </a:solidFill>
                        </a:rPr>
                        <a:t>Agriculture et environnement</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Suivi des cultures, environnement, feux de brousse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Caméra thermique ou multispectrale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500" b="1" dirty="0">
                          <a:solidFill>
                            <a:schemeClr val="tx1"/>
                          </a:solidFill>
                        </a:rPr>
                        <a:t>Infrastructures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Lignes électriques, pylônes, ponts, port de Lomé</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Caméra zoom, IA de défauts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500" b="1" dirty="0">
                          <a:solidFill>
                            <a:schemeClr val="tx1"/>
                          </a:solidFill>
                        </a:rPr>
                        <a:t>Aide humanitaire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Petits colis médicaux vers des zones enclavées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Soute de largage (version adaptée)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500" b="1" dirty="0">
                          <a:solidFill>
                            <a:schemeClr val="tx1"/>
                          </a:solidFill>
                        </a:rPr>
                        <a:t>Cartographie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Orthophotos, relevés topographiques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Appareil photo de cartographie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bl>
          </a:graphicData>
        </a:graphic>
      </p:graphicFrame>
      <p:sp>
        <p:nvSpPr>
          <p:cNvPr id="5" name="Text 2"/>
          <p:cNvSpPr txBox="1"/>
          <p:nvPr/>
        </p:nvSpPr>
        <p:spPr>
          <a:xfrm>
            <a:off x="594360" y="5184648"/>
            <a:ext cx="11002975" cy="411480"/>
          </a:xfrm>
          <a:prstGeom prst="rect">
            <a:avLst/>
          </a:prstGeom>
          <a:noFill/>
          <a:ln/>
        </p:spPr>
        <p:txBody>
          <a:bodyPr wrap="square" lIns="0" tIns="0" rIns="0" bIns="0" rtlCol="0" anchor="ctr"/>
          <a:lstStyle/>
          <a:p>
            <a:pPr indent="0" marL="0">
              <a:buNone/>
            </a:pPr>
            <a:r>
              <a:rPr lang="en-US" sz="1600" dirty="0">
                <a:solidFill>
                  <a:schemeClr val="tx2"/>
                </a:solidFill>
              </a:rPr>
              <a:t>Le drone, la station sol et le back-end restent les mêmes ; on change la charge utile et le modèle d'IA.</a:t>
            </a:r>
            <a:endParaRPr lang="en-US" sz="16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Calendrier</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Cédric KODJOVI</a:t>
            </a:r>
            <a:endParaRPr lang="en-US" sz="1000" dirty="0"/>
          </a:p>
        </p:txBody>
      </p:sp>
      <p:sp>
        <p:nvSpPr>
          <p:cNvPr id="4" name="Shape 2"/>
          <p:cNvSpPr/>
          <p:nvPr/>
        </p:nvSpPr>
        <p:spPr>
          <a:xfrm>
            <a:off x="1783080" y="2103120"/>
            <a:ext cx="8625535" cy="0"/>
          </a:xfrm>
          <a:prstGeom prst="line">
            <a:avLst/>
          </a:prstGeom>
          <a:noFill/>
          <a:ln w="25400">
            <a:solidFill>
              <a:schemeClr val="accent5"/>
            </a:solidFill>
            <a:prstDash val="solid"/>
          </a:ln>
        </p:spPr>
      </p:sp>
      <p:sp>
        <p:nvSpPr>
          <p:cNvPr id="5" name="Shape 3"/>
          <p:cNvSpPr/>
          <p:nvPr/>
        </p:nvSpPr>
        <p:spPr>
          <a:xfrm>
            <a:off x="1655064" y="1975104"/>
            <a:ext cx="256032" cy="256032"/>
          </a:xfrm>
          <a:prstGeom prst="ellipse">
            <a:avLst/>
          </a:prstGeom>
          <a:solidFill>
            <a:schemeClr val="accent1"/>
          </a:solidFill>
          <a:ln w="19050">
            <a:solidFill>
              <a:schemeClr val="accent1"/>
            </a:solidFill>
            <a:prstDash val="solid"/>
          </a:ln>
        </p:spPr>
      </p:sp>
      <p:sp>
        <p:nvSpPr>
          <p:cNvPr id="6" name="Text 4"/>
          <p:cNvSpPr txBox="1"/>
          <p:nvPr/>
        </p:nvSpPr>
        <p:spPr>
          <a:xfrm>
            <a:off x="640080" y="2377440"/>
            <a:ext cx="2286000" cy="365760"/>
          </a:xfrm>
          <a:prstGeom prst="rect">
            <a:avLst/>
          </a:prstGeom>
          <a:noFill/>
          <a:ln/>
        </p:spPr>
        <p:txBody>
          <a:bodyPr wrap="square" lIns="0" tIns="0" rIns="0" bIns="0" rtlCol="0" anchor="ctr"/>
          <a:lstStyle/>
          <a:p>
            <a:pPr algn="ctr" indent="0" marL="0">
              <a:buNone/>
            </a:pPr>
            <a:r>
              <a:rPr lang="en-US" sz="1600" b="1" dirty="0">
                <a:solidFill>
                  <a:schemeClr val="tx1"/>
                </a:solidFill>
              </a:rPr>
              <a:t>Août</a:t>
            </a:r>
            <a:endParaRPr lang="en-US" sz="1600" dirty="0"/>
          </a:p>
        </p:txBody>
      </p:sp>
      <p:sp>
        <p:nvSpPr>
          <p:cNvPr id="7" name="Text 5"/>
          <p:cNvSpPr txBox="1"/>
          <p:nvPr/>
        </p:nvSpPr>
        <p:spPr>
          <a:xfrm>
            <a:off x="640080" y="2761488"/>
            <a:ext cx="2286000" cy="822960"/>
          </a:xfrm>
          <a:prstGeom prst="rect">
            <a:avLst/>
          </a:prstGeom>
          <a:noFill/>
          <a:ln/>
        </p:spPr>
        <p:txBody>
          <a:bodyPr wrap="square" lIns="0" tIns="0" rIns="0" bIns="0" rtlCol="0" anchor="t"/>
          <a:lstStyle/>
          <a:p>
            <a:pPr algn="ctr" indent="0" marL="0">
              <a:buNone/>
            </a:pPr>
            <a:r>
              <a:rPr lang="en-US" sz="1400" dirty="0">
                <a:solidFill>
                  <a:schemeClr val="tx2"/>
                </a:solidFill>
              </a:rPr>
              <a:t>Candidature et cahier des charges</a:t>
            </a:r>
            <a:endParaRPr lang="en-US" sz="1400" dirty="0"/>
          </a:p>
        </p:txBody>
      </p:sp>
      <p:sp>
        <p:nvSpPr>
          <p:cNvPr id="8" name="Shape 6"/>
          <p:cNvSpPr/>
          <p:nvPr/>
        </p:nvSpPr>
        <p:spPr>
          <a:xfrm>
            <a:off x="3811448" y="1975104"/>
            <a:ext cx="256032" cy="256032"/>
          </a:xfrm>
          <a:prstGeom prst="ellipse">
            <a:avLst/>
          </a:prstGeom>
          <a:solidFill>
            <a:schemeClr val="accent1"/>
          </a:solidFill>
          <a:ln w="19050">
            <a:solidFill>
              <a:schemeClr val="accent1"/>
            </a:solidFill>
            <a:prstDash val="solid"/>
          </a:ln>
        </p:spPr>
      </p:sp>
      <p:sp>
        <p:nvSpPr>
          <p:cNvPr id="9" name="Text 7"/>
          <p:cNvSpPr txBox="1"/>
          <p:nvPr/>
        </p:nvSpPr>
        <p:spPr>
          <a:xfrm>
            <a:off x="2796464" y="2377440"/>
            <a:ext cx="2286000" cy="365760"/>
          </a:xfrm>
          <a:prstGeom prst="rect">
            <a:avLst/>
          </a:prstGeom>
          <a:noFill/>
          <a:ln/>
        </p:spPr>
        <p:txBody>
          <a:bodyPr wrap="square" lIns="0" tIns="0" rIns="0" bIns="0" rtlCol="0" anchor="ctr"/>
          <a:lstStyle/>
          <a:p>
            <a:pPr algn="ctr" indent="0" marL="0">
              <a:buNone/>
            </a:pPr>
            <a:r>
              <a:rPr lang="en-US" sz="1600" b="1" dirty="0">
                <a:solidFill>
                  <a:schemeClr val="tx1"/>
                </a:solidFill>
              </a:rPr>
              <a:t>Septembre</a:t>
            </a:r>
            <a:endParaRPr lang="en-US" sz="1600" dirty="0"/>
          </a:p>
        </p:txBody>
      </p:sp>
      <p:sp>
        <p:nvSpPr>
          <p:cNvPr id="10" name="Text 8"/>
          <p:cNvSpPr txBox="1"/>
          <p:nvPr/>
        </p:nvSpPr>
        <p:spPr>
          <a:xfrm>
            <a:off x="2796464" y="2761488"/>
            <a:ext cx="2286000" cy="822960"/>
          </a:xfrm>
          <a:prstGeom prst="rect">
            <a:avLst/>
          </a:prstGeom>
          <a:noFill/>
          <a:ln/>
        </p:spPr>
        <p:txBody>
          <a:bodyPr wrap="square" lIns="0" tIns="0" rIns="0" bIns="0" rtlCol="0" anchor="t"/>
          <a:lstStyle/>
          <a:p>
            <a:pPr algn="ctr" indent="0" marL="0">
              <a:buNone/>
            </a:pPr>
            <a:r>
              <a:rPr lang="en-US" sz="1400" dirty="0">
                <a:solidFill>
                  <a:schemeClr val="tx2"/>
                </a:solidFill>
              </a:rPr>
              <a:t>Conception détaillée et dossier</a:t>
            </a:r>
            <a:endParaRPr lang="en-US" sz="1400" dirty="0"/>
          </a:p>
        </p:txBody>
      </p:sp>
      <p:sp>
        <p:nvSpPr>
          <p:cNvPr id="11" name="Shape 9"/>
          <p:cNvSpPr/>
          <p:nvPr/>
        </p:nvSpPr>
        <p:spPr>
          <a:xfrm>
            <a:off x="5967832" y="1975104"/>
            <a:ext cx="256032" cy="256032"/>
          </a:xfrm>
          <a:prstGeom prst="ellipse">
            <a:avLst/>
          </a:prstGeom>
          <a:solidFill>
            <a:schemeClr val="accent2"/>
          </a:solidFill>
          <a:ln w="19050">
            <a:solidFill>
              <a:schemeClr val="accent2"/>
            </a:solidFill>
            <a:prstDash val="solid"/>
          </a:ln>
        </p:spPr>
      </p:sp>
      <p:sp>
        <p:nvSpPr>
          <p:cNvPr id="12" name="Text 10"/>
          <p:cNvSpPr txBox="1"/>
          <p:nvPr/>
        </p:nvSpPr>
        <p:spPr>
          <a:xfrm>
            <a:off x="4952848" y="2377440"/>
            <a:ext cx="2286000" cy="365760"/>
          </a:xfrm>
          <a:prstGeom prst="rect">
            <a:avLst/>
          </a:prstGeom>
          <a:noFill/>
          <a:ln/>
        </p:spPr>
        <p:txBody>
          <a:bodyPr wrap="square" lIns="0" tIns="0" rIns="0" bIns="0" rtlCol="0" anchor="ctr"/>
          <a:lstStyle/>
          <a:p>
            <a:pPr algn="ctr" indent="0" marL="0">
              <a:buNone/>
            </a:pPr>
            <a:r>
              <a:rPr lang="en-US" sz="1600" b="1" dirty="0">
                <a:solidFill>
                  <a:schemeClr val="tx1"/>
                </a:solidFill>
              </a:rPr>
              <a:t>Octobre (en cours)</a:t>
            </a:r>
            <a:endParaRPr lang="en-US" sz="1600" dirty="0"/>
          </a:p>
        </p:txBody>
      </p:sp>
      <p:sp>
        <p:nvSpPr>
          <p:cNvPr id="13" name="Text 11"/>
          <p:cNvSpPr txBox="1"/>
          <p:nvPr/>
        </p:nvSpPr>
        <p:spPr>
          <a:xfrm>
            <a:off x="4952848" y="2761488"/>
            <a:ext cx="2286000" cy="822960"/>
          </a:xfrm>
          <a:prstGeom prst="rect">
            <a:avLst/>
          </a:prstGeom>
          <a:noFill/>
          <a:ln/>
        </p:spPr>
        <p:txBody>
          <a:bodyPr wrap="square" lIns="0" tIns="0" rIns="0" bIns="0" rtlCol="0" anchor="t"/>
          <a:lstStyle/>
          <a:p>
            <a:pPr algn="ctr" indent="0" marL="0">
              <a:buNone/>
            </a:pPr>
            <a:r>
              <a:rPr lang="en-US" sz="1400" dirty="0">
                <a:solidFill>
                  <a:schemeClr val="tx2"/>
                </a:solidFill>
              </a:rPr>
              <a:t>Prototypage et intégration</a:t>
            </a:r>
            <a:endParaRPr lang="en-US" sz="1400" dirty="0"/>
          </a:p>
        </p:txBody>
      </p:sp>
      <p:sp>
        <p:nvSpPr>
          <p:cNvPr id="14" name="Shape 12"/>
          <p:cNvSpPr/>
          <p:nvPr/>
        </p:nvSpPr>
        <p:spPr>
          <a:xfrm>
            <a:off x="8124215" y="1975104"/>
            <a:ext cx="256032" cy="256032"/>
          </a:xfrm>
          <a:prstGeom prst="ellipse">
            <a:avLst/>
          </a:prstGeom>
          <a:solidFill>
            <a:schemeClr val="bg1"/>
          </a:solidFill>
          <a:ln w="19050">
            <a:solidFill>
              <a:schemeClr val="accent6"/>
            </a:solidFill>
            <a:prstDash val="solid"/>
          </a:ln>
        </p:spPr>
      </p:sp>
      <p:sp>
        <p:nvSpPr>
          <p:cNvPr id="15" name="Text 13"/>
          <p:cNvSpPr txBox="1"/>
          <p:nvPr/>
        </p:nvSpPr>
        <p:spPr>
          <a:xfrm>
            <a:off x="7109231" y="2377440"/>
            <a:ext cx="2286000" cy="365760"/>
          </a:xfrm>
          <a:prstGeom prst="rect">
            <a:avLst/>
          </a:prstGeom>
          <a:noFill/>
          <a:ln/>
        </p:spPr>
        <p:txBody>
          <a:bodyPr wrap="square" lIns="0" tIns="0" rIns="0" bIns="0" rtlCol="0" anchor="ctr"/>
          <a:lstStyle/>
          <a:p>
            <a:pPr algn="ctr" indent="0" marL="0">
              <a:buNone/>
            </a:pPr>
            <a:r>
              <a:rPr lang="en-US" sz="1600" b="1" dirty="0">
                <a:solidFill>
                  <a:schemeClr val="tx1"/>
                </a:solidFill>
              </a:rPr>
              <a:t>Novembre</a:t>
            </a:r>
            <a:endParaRPr lang="en-US" sz="1600" dirty="0"/>
          </a:p>
        </p:txBody>
      </p:sp>
      <p:sp>
        <p:nvSpPr>
          <p:cNvPr id="16" name="Text 14"/>
          <p:cNvSpPr txBox="1"/>
          <p:nvPr/>
        </p:nvSpPr>
        <p:spPr>
          <a:xfrm>
            <a:off x="7109231" y="2761488"/>
            <a:ext cx="2286000" cy="822960"/>
          </a:xfrm>
          <a:prstGeom prst="rect">
            <a:avLst/>
          </a:prstGeom>
          <a:noFill/>
          <a:ln/>
        </p:spPr>
        <p:txBody>
          <a:bodyPr wrap="square" lIns="0" tIns="0" rIns="0" bIns="0" rtlCol="0" anchor="t"/>
          <a:lstStyle/>
          <a:p>
            <a:pPr algn="ctr" indent="0" marL="0">
              <a:buNone/>
            </a:pPr>
            <a:r>
              <a:rPr lang="en-US" sz="1400" dirty="0">
                <a:solidFill>
                  <a:schemeClr val="tx2"/>
                </a:solidFill>
              </a:rPr>
              <a:t>Essais au sol, en vol et de sécurité</a:t>
            </a:r>
            <a:endParaRPr lang="en-US" sz="1400" dirty="0"/>
          </a:p>
        </p:txBody>
      </p:sp>
      <p:sp>
        <p:nvSpPr>
          <p:cNvPr id="17" name="Shape 15"/>
          <p:cNvSpPr/>
          <p:nvPr/>
        </p:nvSpPr>
        <p:spPr>
          <a:xfrm>
            <a:off x="10280599" y="1975104"/>
            <a:ext cx="256032" cy="256032"/>
          </a:xfrm>
          <a:prstGeom prst="ellipse">
            <a:avLst/>
          </a:prstGeom>
          <a:solidFill>
            <a:schemeClr val="bg1"/>
          </a:solidFill>
          <a:ln w="19050">
            <a:solidFill>
              <a:schemeClr val="accent6"/>
            </a:solidFill>
            <a:prstDash val="solid"/>
          </a:ln>
        </p:spPr>
      </p:sp>
      <p:sp>
        <p:nvSpPr>
          <p:cNvPr id="18" name="Text 16"/>
          <p:cNvSpPr txBox="1"/>
          <p:nvPr/>
        </p:nvSpPr>
        <p:spPr>
          <a:xfrm>
            <a:off x="9265615" y="2377440"/>
            <a:ext cx="2286000" cy="365760"/>
          </a:xfrm>
          <a:prstGeom prst="rect">
            <a:avLst/>
          </a:prstGeom>
          <a:noFill/>
          <a:ln/>
        </p:spPr>
        <p:txBody>
          <a:bodyPr wrap="square" lIns="0" tIns="0" rIns="0" bIns="0" rtlCol="0" anchor="ctr"/>
          <a:lstStyle/>
          <a:p>
            <a:pPr algn="ctr" indent="0" marL="0">
              <a:buNone/>
            </a:pPr>
            <a:r>
              <a:rPr lang="en-US" sz="1600" b="1" dirty="0">
                <a:solidFill>
                  <a:schemeClr val="tx1"/>
                </a:solidFill>
              </a:rPr>
              <a:t>Décembre 2026</a:t>
            </a:r>
            <a:endParaRPr lang="en-US" sz="1600" dirty="0"/>
          </a:p>
        </p:txBody>
      </p:sp>
      <p:sp>
        <p:nvSpPr>
          <p:cNvPr id="19" name="Text 17"/>
          <p:cNvSpPr txBox="1"/>
          <p:nvPr/>
        </p:nvSpPr>
        <p:spPr>
          <a:xfrm>
            <a:off x="9265615" y="2761488"/>
            <a:ext cx="2286000" cy="822960"/>
          </a:xfrm>
          <a:prstGeom prst="rect">
            <a:avLst/>
          </a:prstGeom>
          <a:noFill/>
          <a:ln/>
        </p:spPr>
        <p:txBody>
          <a:bodyPr wrap="square" lIns="0" tIns="0" rIns="0" bIns="0" rtlCol="0" anchor="t"/>
          <a:lstStyle/>
          <a:p>
            <a:pPr algn="ctr" indent="0" marL="0">
              <a:buNone/>
            </a:pPr>
            <a:r>
              <a:rPr lang="en-US" sz="1400" dirty="0">
                <a:solidFill>
                  <a:schemeClr val="tx2"/>
                </a:solidFill>
              </a:rPr>
              <a:t>Finale et démonstration</a:t>
            </a:r>
            <a:endParaRPr lang="en-US" sz="1400" dirty="0"/>
          </a:p>
        </p:txBody>
      </p:sp>
      <p:pic>
        <p:nvPicPr>
          <p:cNvPr id="20" name="Image 0" descr="Conception SolidWorks terminée">    </p:cNvPr>
          <p:cNvPicPr>
            <a:picLocks noChangeAspect="1"/>
          </p:cNvPicPr>
          <p:nvPr/>
        </p:nvPicPr>
        <p:blipFill>
          <a:blip r:embed="rId1"/>
          <a:stretch>
            <a:fillRect/>
          </a:stretch>
        </p:blipFill>
        <p:spPr>
          <a:xfrm>
            <a:off x="3401905" y="3931920"/>
            <a:ext cx="5387884" cy="1737360"/>
          </a:xfrm>
          <a:prstGeom prst="rect">
            <a:avLst/>
          </a:prstGeom>
        </p:spPr>
      </p:pic>
      <p:sp>
        <p:nvSpPr>
          <p:cNvPr id="21" name="Cadre cao_profil"/>
          <p:cNvSpPr/>
          <p:nvPr/>
        </p:nvSpPr>
        <p:spPr>
          <a:xfrm>
            <a:off x="3401905" y="3931920"/>
            <a:ext cx="5387884" cy="1737360"/>
          </a:xfrm>
          <a:prstGeom prst="rect">
            <a:avLst/>
          </a:prstGeom>
          <a:ln w="9525">
            <a:solidFill>
              <a:schemeClr val="accent5"/>
            </a:solidFill>
            <a:prstDash val="solid"/>
          </a:ln>
        </p:spPr>
      </p:sp>
      <p:sp>
        <p:nvSpPr>
          <p:cNvPr id="22" name="Text 19"/>
          <p:cNvSpPr txBox="1"/>
          <p:nvPr/>
        </p:nvSpPr>
        <p:spPr>
          <a:xfrm>
            <a:off x="3401905" y="5724144"/>
            <a:ext cx="5387884" cy="256032"/>
          </a:xfrm>
          <a:prstGeom prst="rect">
            <a:avLst/>
          </a:prstGeom>
          <a:noFill/>
          <a:ln/>
        </p:spPr>
        <p:txBody>
          <a:bodyPr wrap="square" lIns="0" tIns="0" rIns="0" bIns="0" rtlCol="0" anchor="ctr"/>
          <a:lstStyle/>
          <a:p>
            <a:pPr indent="0" marL="0">
              <a:buNone/>
            </a:pPr>
            <a:r>
              <a:rPr lang="en-US" sz="1100" i="1" dirty="0">
                <a:solidFill>
                  <a:schemeClr val="tx2"/>
                </a:solidFill>
              </a:rPr>
              <a:t>Conception SolidWorks terminée</a:t>
            </a:r>
            <a:endParaRPr lang="en-US" sz="11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Budget prévisionnel</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Israel AWADE</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11002975" cy="914400"/>
        </p:xfrm>
        <a:graphic>
          <a:graphicData uri="http://schemas.openxmlformats.org/drawingml/2006/table">
            <a:tbl>
              <a:tblPr/>
              <a:tblGrid>
                <a:gridCol w="7315200"/>
                <a:gridCol w="3687775"/>
              </a:tblGrid>
              <a:tr h="457200">
                <a:tc>
                  <a:txBody>
                    <a:bodyPr/>
                    <a:lstStyle/>
                    <a:p>
                      <a:pPr indent="0" marL="0">
                        <a:buNone/>
                      </a:pPr>
                      <a:r>
                        <a:rPr lang="en-US" sz="1500" b="1" dirty="0">
                          <a:solidFill>
                            <a:schemeClr val="accent1"/>
                          </a:solidFill>
                        </a:rPr>
                        <a:t>Poste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Estimation (FCFA)</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r>
              <a:tr h="457200">
                <a:tc>
                  <a:txBody>
                    <a:bodyPr/>
                    <a:lstStyle/>
                    <a:p>
                      <a:pPr indent="0" marL="0">
                        <a:buNone/>
                      </a:pPr>
                      <a:r>
                        <a:rPr lang="en-US" sz="1500" b="1" dirty="0">
                          <a:solidFill>
                            <a:schemeClr val="tx1"/>
                          </a:solidFill>
                        </a:rPr>
                        <a:t>Cellule, moteurs, ESC, hélices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200 000 à 350 000</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Contrôleur de vol, GPS, capteurs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200 000 à 350 000</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Caméra et nacelle stabilisée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120 000 à 300 000</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Batteries et alimentation</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80 000 à 150 000</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Liaison radio et télémétrie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80 000 à 150 000</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Consommables et divers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50 000 à 100 000</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500" b="1" dirty="0">
                          <a:solidFill>
                            <a:schemeClr val="tx1"/>
                          </a:solidFill>
                        </a:rPr>
                        <a:t>Total (fiche projet)</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730 000 à 1 400 000</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bl>
          </a:graphicData>
        </a:graphic>
      </p:graphicFrame>
      <p:sp>
        <p:nvSpPr>
          <p:cNvPr id="5" name="Text 2"/>
          <p:cNvSpPr txBox="1"/>
          <p:nvPr/>
        </p:nvSpPr>
        <p:spPr>
          <a:xfrm>
            <a:off x="594360" y="5440680"/>
            <a:ext cx="11002975" cy="411480"/>
          </a:xfrm>
          <a:prstGeom prst="rect">
            <a:avLst/>
          </a:prstGeom>
          <a:noFill/>
          <a:ln/>
        </p:spPr>
        <p:txBody>
          <a:bodyPr wrap="square" lIns="0" tIns="0" rIns="0" bIns="0" rtlCol="0" anchor="ctr"/>
          <a:lstStyle/>
          <a:p>
            <a:pPr indent="0" marL="0">
              <a:buNone/>
            </a:pPr>
            <a:r>
              <a:rPr lang="en-US" sz="1600" dirty="0">
                <a:solidFill>
                  <a:schemeClr val="tx2"/>
                </a:solidFill>
              </a:rPr>
              <a:t>À ajouter : le module IA (Raspberry Pi 5 + AI HAT+), 120 000 à 160 000 FCFA.</a:t>
            </a:r>
            <a:endParaRPr lang="en-US" sz="16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94360" y="914400"/>
            <a:ext cx="5669280" cy="731520"/>
          </a:xfrm>
          <a:prstGeom prst="rect">
            <a:avLst/>
          </a:prstGeom>
          <a:noFill/>
          <a:ln/>
        </p:spPr>
        <p:txBody>
          <a:bodyPr wrap="square" lIns="0" tIns="0" rIns="0" bIns="0" rtlCol="0" anchor="ctr"/>
          <a:lstStyle/>
          <a:p>
            <a:pPr indent="0" marL="0">
              <a:buNone/>
            </a:pPr>
            <a:r>
              <a:rPr lang="en-US" sz="3600" b="1" dirty="0">
                <a:solidFill>
                  <a:schemeClr val="tx1"/>
                </a:solidFill>
              </a:rPr>
              <a:t>En résumé</a:t>
            </a:r>
            <a:endParaRPr lang="en-US" sz="3600" dirty="0"/>
          </a:p>
        </p:txBody>
      </p:sp>
      <p:sp>
        <p:nvSpPr>
          <p:cNvPr id="3" name="Text 1"/>
          <p:cNvSpPr txBox="1"/>
          <p:nvPr/>
        </p:nvSpPr>
        <p:spPr>
          <a:xfrm>
            <a:off x="594360" y="1828800"/>
            <a:ext cx="5486400" cy="237744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chemeClr val="tx1"/>
                </a:solidFill>
              </a:rPr>
              <a:t>Il décolle partout, sans piste</a:t>
            </a:r>
            <a:endParaRPr lang="en-US" sz="2000" dirty="0"/>
          </a:p>
          <a:p>
            <a:pPr marL="228600" indent="-228600">
              <a:spcAft>
                <a:spcPts val="1000"/>
              </a:spcAft>
              <a:buSzPct val="100000"/>
              <a:buChar char="•"/>
            </a:pPr>
            <a:r>
              <a:rPr lang="en-US" sz="2000" dirty="0">
                <a:solidFill>
                  <a:schemeClr val="tx1"/>
                </a:solidFill>
              </a:rPr>
              <a:t>Il vole longtemps grâce à son aile</a:t>
            </a:r>
            <a:endParaRPr lang="en-US" sz="2000" dirty="0"/>
          </a:p>
          <a:p>
            <a:pPr marL="228600" indent="-228600">
              <a:spcAft>
                <a:spcPts val="1000"/>
              </a:spcAft>
              <a:buSzPct val="100000"/>
              <a:buChar char="•"/>
            </a:pPr>
            <a:r>
              <a:rPr lang="en-US" sz="2000" dirty="0">
                <a:solidFill>
                  <a:schemeClr val="tx1"/>
                </a:solidFill>
              </a:rPr>
              <a:t>Il analyse ses images à bord</a:t>
            </a:r>
            <a:endParaRPr lang="en-US" sz="2000" dirty="0"/>
          </a:p>
          <a:p>
            <a:pPr marL="228600" indent="-228600">
              <a:spcAft>
                <a:spcPts val="1000"/>
              </a:spcAft>
              <a:buSzPct val="100000"/>
              <a:buChar char="•"/>
            </a:pPr>
            <a:r>
              <a:rPr lang="en-US" sz="2000" dirty="0">
                <a:solidFill>
                  <a:schemeClr val="tx1"/>
                </a:solidFill>
              </a:rPr>
              <a:t>Il communique de façon sécurisée</a:t>
            </a:r>
            <a:endParaRPr lang="en-US" sz="2000" dirty="0"/>
          </a:p>
        </p:txBody>
      </p:sp>
      <p:pic>
        <p:nvPicPr>
          <p:cNvPr id="4" name="Image 0" descr="Vue CAO du drone">    </p:cNvPr>
          <p:cNvPicPr>
            <a:picLocks noChangeAspect="1"/>
          </p:cNvPicPr>
          <p:nvPr/>
        </p:nvPicPr>
        <p:blipFill>
          <a:blip r:embed="rId1"/>
          <a:stretch>
            <a:fillRect/>
          </a:stretch>
        </p:blipFill>
        <p:spPr>
          <a:xfrm>
            <a:off x="6400800" y="1230359"/>
            <a:ext cx="5196535" cy="2659921"/>
          </a:xfrm>
          <a:prstGeom prst="rect">
            <a:avLst/>
          </a:prstGeom>
        </p:spPr>
      </p:pic>
      <p:sp>
        <p:nvSpPr>
          <p:cNvPr id="5" name="Text 2"/>
          <p:cNvSpPr txBox="1"/>
          <p:nvPr/>
        </p:nvSpPr>
        <p:spPr>
          <a:xfrm>
            <a:off x="594360" y="4846320"/>
            <a:ext cx="11002975" cy="548640"/>
          </a:xfrm>
          <a:prstGeom prst="rect">
            <a:avLst/>
          </a:prstGeom>
          <a:noFill/>
          <a:ln/>
        </p:spPr>
        <p:txBody>
          <a:bodyPr wrap="square" lIns="0" tIns="0" rIns="0" bIns="0" rtlCol="0" anchor="ctr"/>
          <a:lstStyle/>
          <a:p>
            <a:pPr indent="0" marL="0">
              <a:buNone/>
            </a:pPr>
            <a:r>
              <a:rPr lang="en-US" sz="2600" b="1" dirty="0">
                <a:solidFill>
                  <a:schemeClr val="accent1"/>
                </a:solidFill>
              </a:rPr>
              <a:t>Merci pour votre attention</a:t>
            </a:r>
            <a:endParaRPr lang="en-US" sz="2600" dirty="0"/>
          </a:p>
        </p:txBody>
      </p:sp>
      <p:sp>
        <p:nvSpPr>
          <p:cNvPr id="6" name="Text 3"/>
          <p:cNvSpPr txBox="1"/>
          <p:nvPr/>
        </p:nvSpPr>
        <p:spPr>
          <a:xfrm>
            <a:off x="594360" y="5440680"/>
            <a:ext cx="11002975" cy="365760"/>
          </a:xfrm>
          <a:prstGeom prst="rect">
            <a:avLst/>
          </a:prstGeom>
          <a:noFill/>
          <a:ln/>
        </p:spPr>
        <p:txBody>
          <a:bodyPr wrap="square" lIns="0" tIns="0" rIns="0" bIns="0" rtlCol="0" anchor="ctr"/>
          <a:lstStyle/>
          <a:p>
            <a:pPr indent="0" marL="0">
              <a:buNone/>
            </a:pPr>
            <a:r>
              <a:rPr lang="en-US" sz="1600" dirty="0">
                <a:solidFill>
                  <a:schemeClr val="tx2"/>
                </a:solidFill>
              </a:rPr>
              <a:t>Merci à l'ANAC et aux organisateurs du CECFD 2026. Nous répondons à vos questions.</a:t>
            </a:r>
            <a:endParaRPr lang="en-US" sz="1600" dirty="0"/>
          </a:p>
        </p:txBody>
      </p:sp>
    </p:spTree>
  </p:cSld>
  <p:clrMapOvr>
    <a:masterClrMapping/>
  </p:clrMapOvr>
</p:sld>
</file>

<file path=ppt/theme/theme1.xml><?xml version="1.0" encoding="utf-8"?>
<a:theme xmlns:a="http://schemas.openxmlformats.org/drawingml/2006/main" name="Sentinelle Aerienne">
  <a:themeElements>
    <a:clrScheme name="Sentinelle Aerienne">
      <a:dk1>
        <a:srgbClr val="1F2933"/>
      </a:dk1>
      <a:lt1>
        <a:srgbClr val="FFFFFF"/>
      </a:lt1>
      <a:dk2>
        <a:srgbClr val="5B6770"/>
      </a:dk2>
      <a:lt2>
        <a:srgbClr val="F2F4F6"/>
      </a:lt2>
      <a:accent1>
        <a:srgbClr val="0B6E4F"/>
      </a:accent1>
      <a:accent2>
        <a:srgbClr val="D9A400"/>
      </a:accent2>
      <a:accent3>
        <a:srgbClr val="B5322E"/>
      </a:accent3>
      <a:accent4>
        <a:srgbClr val="2F5D8A"/>
      </a:accent4>
      <a:accent5>
        <a:srgbClr val="D3D9DE"/>
      </a:accent5>
      <a:accent6>
        <a:srgbClr val="8A98A4"/>
      </a:accent6>
      <a:hlink>
        <a:srgbClr val="0B6E4F"/>
      </a:hlink>
      <a:folHlink>
        <a:srgbClr val="2F5D8A"/>
      </a:folHlink>
    </a:clrScheme>
    <a:fontScheme name="Sentinelle Aerienn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SkyVision Togo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Sentinelle Aérienne, SkyVision Togo</dc:title>
  <dc:subject>PptxGenJS Presentation</dc:subject>
  <dc:creator>SkyVision Togo</dc:creator>
  <cp:lastModifiedBy>SkyVision Togo</cp:lastModifiedBy>
  <cp:revision>1</cp:revision>
  <dcterms:created xsi:type="dcterms:W3CDTF">2026-10-15T17:40:41Z</dcterms:created>
  <dcterms:modified xsi:type="dcterms:W3CDTF">2026-10-15T17:40:41Z</dcterms:modified>
</cp:coreProperties>
</file>